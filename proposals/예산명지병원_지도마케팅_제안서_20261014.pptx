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6da89ef1-ceca-878e-a79c-60a4717d69ce}">
          <p14:sldIdLst>
            <p14:sldId id="256"/>
          </p14:sldIdLst>
        </p14:section>
        <p14:section name="요약" id="{c3dc1208-2336-e92a-7df2-b09dabb3cb5c}">
          <p14:sldIdLst>
            <p14:sldId id="257"/>
          </p14:sldIdLst>
        </p14:section>
        <p14:section name="현황 분석" id="{1be8aa26-c88d-77f3-c894-f3a8265b4326}">
          <p14:sldIdLst>
            <p14:sldId id="258"/>
            <p14:sldId id="259"/>
          </p14:sldIdLst>
        </p14:section>
        <p14:section name="전략" id="{947585bc-3a89-8d87-7a12-ccabcab4b123}">
          <p14:sldIdLst>
            <p14:sldId id="260"/>
            <p14:sldId id="261"/>
          </p14:sldIdLst>
        </p14:section>
        <p14:section name="제안 내용" id="{d6d1122f-9e31-3193-d614-b48e4e59a46a}">
          <p14:sldIdLst>
            <p14:sldId id="262"/>
            <p14:sldId id="263"/>
            <p14:sldId id="264"/>
            <p14:sldId id="265"/>
          </p14:sldIdLst>
        </p14:section>
        <p14:section name="일정과 기대효과" id="{17865671-28c4-acf4-8ea1-32f773f00167}">
          <p14:sldIdLst>
            <p14:sldId id="266"/>
            <p14:sldId id="267"/>
          </p14:sldIdLst>
        </p14:section>
        <p14:section name="진행 요청" id="{cb57abe1-1d55-8ba1-79a5-4d4375b39aff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343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2343B"/>
                </a:solidFill>
                <a:latin typeface="+mn-lt"/>
              </a:rPr>
              <a:t>안드로이드 지도 앱 이용자 점유율 (2025년 6월, 중복 포함)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이용자 점유율</c:v>
                </c:pt>
              </c:strCache>
            </c:strRef>
          </c:tx>
          <c:spPr>
            <a:solidFill>
              <a:srgbClr val="03C75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F2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3C75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D6CE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2C20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네이버지도</c:v>
                  </c:pt>
                  <c:pt idx="1">
                    <c:v>티맵</c:v>
                  </c:pt>
                  <c:pt idx="2">
                    <c:v>카카오맵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69.4</c:v>
                </c:pt>
                <c:pt idx="1">
                  <c:v>42.2</c:v>
                </c:pt>
                <c:pt idx="2">
                  <c:v>30.8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F2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F2A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960120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840480"/>
            <a:ext cx="9601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예산명지병원 지도 기반 로컬 마케팅 제안 | 리드컴퍼니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예산명지병원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지도 기반 로컬 마케팅 제안서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8404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네이버 플레이스 · 카카오맵 · 티맵 세팅 및 운영 관리</a:t>
            </a:r>
            <a:endParaRPr lang="en-US" sz="2000" dirty="0"/>
          </a:p>
        </p:txBody>
      </p:sp>
      <p:sp>
        <p:nvSpPr>
          <p:cNvPr id="4" name="txt-1"/>
          <p:cNvSpPr txBox="1"/>
          <p:nvPr/>
        </p:nvSpPr>
        <p:spPr>
          <a:xfrm>
            <a:off x="548640" y="5852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리드컴퍼니  |  2026년 10월</a:t>
            </a:r>
            <a:endParaRPr lang="en-US" sz="1400" dirty="0"/>
          </a:p>
        </p:txBody>
      </p:sp>
      <p:sp>
        <p:nvSpPr>
          <p:cNvPr id="5" name="chip-2"/>
          <p:cNvSpPr/>
          <p:nvPr/>
        </p:nvSpPr>
        <p:spPr>
          <a:xfrm>
            <a:off x="8778240" y="5394960"/>
            <a:ext cx="731520" cy="731520"/>
          </a:xfrm>
          <a:prstGeom prst="ellipse">
            <a:avLst/>
          </a:prstGeom>
          <a:solidFill>
            <a:srgbClr val="03C75A"/>
          </a:solidFill>
          <a:ln w="12700">
            <a:solidFill>
              <a:srgbClr val="03C75A"/>
            </a:solidFill>
            <a:prstDash val="solid"/>
          </a:ln>
        </p:spPr>
      </p:sp>
      <p:sp>
        <p:nvSpPr>
          <p:cNvPr id="6" name="txt-3"/>
          <p:cNvSpPr txBox="1"/>
          <p:nvPr/>
        </p:nvSpPr>
        <p:spPr>
          <a:xfrm>
            <a:off x="8778240" y="5394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N</a:t>
            </a:r>
            <a:endParaRPr lang="en-US" sz="2200" dirty="0"/>
          </a:p>
        </p:txBody>
      </p:sp>
      <p:sp>
        <p:nvSpPr>
          <p:cNvPr id="7" name="txt-4"/>
          <p:cNvSpPr txBox="1"/>
          <p:nvPr/>
        </p:nvSpPr>
        <p:spPr>
          <a:xfrm>
            <a:off x="8595360" y="6172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네이버</a:t>
            </a:r>
            <a:endParaRPr lang="en-US" sz="1000" dirty="0"/>
          </a:p>
        </p:txBody>
      </p:sp>
      <p:sp>
        <p:nvSpPr>
          <p:cNvPr id="8" name="chip-5"/>
          <p:cNvSpPr/>
          <p:nvPr/>
        </p:nvSpPr>
        <p:spPr>
          <a:xfrm>
            <a:off x="9829800" y="5394960"/>
            <a:ext cx="731520" cy="731520"/>
          </a:xfrm>
          <a:prstGeom prst="ellipse">
            <a:avLst/>
          </a:prstGeom>
          <a:solidFill>
            <a:srgbClr val="F2C200"/>
          </a:solidFill>
          <a:ln w="12700">
            <a:solidFill>
              <a:srgbClr val="F2C200"/>
            </a:solidFill>
            <a:prstDash val="solid"/>
          </a:ln>
        </p:spPr>
      </p:sp>
      <p:sp>
        <p:nvSpPr>
          <p:cNvPr id="9" name="txt-6"/>
          <p:cNvSpPr txBox="1"/>
          <p:nvPr/>
        </p:nvSpPr>
        <p:spPr>
          <a:xfrm>
            <a:off x="9829800" y="5394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K</a:t>
            </a:r>
            <a:endParaRPr lang="en-US" sz="2200" dirty="0"/>
          </a:p>
        </p:txBody>
      </p:sp>
      <p:sp>
        <p:nvSpPr>
          <p:cNvPr id="10" name="txt-7"/>
          <p:cNvSpPr txBox="1"/>
          <p:nvPr/>
        </p:nvSpPr>
        <p:spPr>
          <a:xfrm>
            <a:off x="9646920" y="6172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카카오맵</a:t>
            </a:r>
            <a:endParaRPr lang="en-US" sz="1000" dirty="0"/>
          </a:p>
        </p:txBody>
      </p:sp>
      <p:sp>
        <p:nvSpPr>
          <p:cNvPr id="11" name="chip-8"/>
          <p:cNvSpPr/>
          <p:nvPr/>
        </p:nvSpPr>
        <p:spPr>
          <a:xfrm>
            <a:off x="10881360" y="5394960"/>
            <a:ext cx="731520" cy="731520"/>
          </a:xfrm>
          <a:prstGeom prst="ellipse">
            <a:avLst/>
          </a:prstGeom>
          <a:solidFill>
            <a:srgbClr val="3D6CE0"/>
          </a:solidFill>
          <a:ln w="12700">
            <a:solidFill>
              <a:srgbClr val="3D6CE0"/>
            </a:solidFill>
            <a:prstDash val="solid"/>
          </a:ln>
        </p:spPr>
      </p:sp>
      <p:sp>
        <p:nvSpPr>
          <p:cNvPr id="12" name="txt-9"/>
          <p:cNvSpPr txBox="1"/>
          <p:nvPr/>
        </p:nvSpPr>
        <p:spPr>
          <a:xfrm>
            <a:off x="10881360" y="5394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T</a:t>
            </a:r>
            <a:endParaRPr lang="en-US" sz="2200" dirty="0"/>
          </a:p>
        </p:txBody>
      </p:sp>
      <p:sp>
        <p:nvSpPr>
          <p:cNvPr id="13" name="txt-10"/>
          <p:cNvSpPr txBox="1"/>
          <p:nvPr/>
        </p:nvSpPr>
        <p:spPr>
          <a:xfrm>
            <a:off x="10698480" y="6172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티맵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환자가 병원을 찾는 지도 앱에서 예산명지를 가장 먼저 보이게 합니다</a:t>
            </a:r>
            <a:endParaRPr lang="en-US" sz="2800" dirty="0"/>
          </a:p>
        </p:txBody>
      </p:sp>
      <p:sp>
        <p:nvSpPr>
          <p:cNvPr id="3" name="card-11"/>
          <p:cNvSpPr/>
          <p:nvPr/>
        </p:nvSpPr>
        <p:spPr>
          <a:xfrm>
            <a:off x="548640" y="1554480"/>
            <a:ext cx="3454298" cy="3566160"/>
          </a:xfrm>
          <a:prstGeom prst="roundRect">
            <a:avLst>
              <a:gd name="adj" fmla="val 31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-12"/>
          <p:cNvSpPr/>
          <p:nvPr/>
        </p:nvSpPr>
        <p:spPr>
          <a:xfrm>
            <a:off x="868680" y="1828800"/>
            <a:ext cx="457200" cy="457200"/>
          </a:xfrm>
          <a:prstGeom prst="ellipse">
            <a:avLst/>
          </a:prstGeom>
          <a:solidFill>
            <a:srgbClr val="D9483B"/>
          </a:solidFill>
          <a:ln w="12700">
            <a:solidFill>
              <a:srgbClr val="D9483B"/>
            </a:solidFill>
            <a:prstDash val="solid"/>
          </a:ln>
        </p:spPr>
      </p:sp>
      <p:sp>
        <p:nvSpPr>
          <p:cNvPr id="5" name="txt-13"/>
          <p:cNvSpPr txBox="1"/>
          <p:nvPr/>
        </p:nvSpPr>
        <p:spPr>
          <a:xfrm>
            <a:off x="8686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xt-14"/>
          <p:cNvSpPr txBox="1"/>
          <p:nvPr/>
        </p:nvSpPr>
        <p:spPr>
          <a:xfrm>
            <a:off x="868680" y="2514600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목표</a:t>
            </a:r>
            <a:endParaRPr lang="en-US" sz="2200" dirty="0"/>
          </a:p>
        </p:txBody>
      </p:sp>
      <p:sp>
        <p:nvSpPr>
          <p:cNvPr id="7" name="txt-15"/>
          <p:cNvSpPr txBox="1"/>
          <p:nvPr/>
        </p:nvSpPr>
        <p:spPr>
          <a:xfrm>
            <a:off x="868680" y="3108960"/>
            <a:ext cx="281421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‘예산 병원’, ‘근처 응급실’, ‘검진’을 찾는 사람에게 예산명지가 정확한 정보로 상위에 보이도록 합니다.</a:t>
            </a:r>
            <a:endParaRPr lang="en-US" sz="1600" dirty="0"/>
          </a:p>
        </p:txBody>
      </p:sp>
      <p:sp>
        <p:nvSpPr>
          <p:cNvPr id="8" name="card-16"/>
          <p:cNvSpPr/>
          <p:nvPr/>
        </p:nvSpPr>
        <p:spPr>
          <a:xfrm>
            <a:off x="4368698" y="1554480"/>
            <a:ext cx="3454298" cy="3566160"/>
          </a:xfrm>
          <a:prstGeom prst="roundRect">
            <a:avLst>
              <a:gd name="adj" fmla="val 31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-17"/>
          <p:cNvSpPr/>
          <p:nvPr/>
        </p:nvSpPr>
        <p:spPr>
          <a:xfrm>
            <a:off x="4688738" y="1828800"/>
            <a:ext cx="457200" cy="457200"/>
          </a:xfrm>
          <a:prstGeom prst="ellipse">
            <a:avLst/>
          </a:prstGeom>
          <a:solidFill>
            <a:srgbClr val="D9483B"/>
          </a:solidFill>
          <a:ln w="12700">
            <a:solidFill>
              <a:srgbClr val="D9483B"/>
            </a:solidFill>
            <a:prstDash val="solid"/>
          </a:ln>
        </p:spPr>
      </p:sp>
      <p:sp>
        <p:nvSpPr>
          <p:cNvPr id="10" name="txt-18"/>
          <p:cNvSpPr txBox="1"/>
          <p:nvPr/>
        </p:nvSpPr>
        <p:spPr>
          <a:xfrm>
            <a:off x="4688738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xt-19"/>
          <p:cNvSpPr txBox="1"/>
          <p:nvPr/>
        </p:nvSpPr>
        <p:spPr>
          <a:xfrm>
            <a:off x="4688738" y="2514600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핵심 제안</a:t>
            </a:r>
            <a:endParaRPr lang="en-US" sz="2200" dirty="0"/>
          </a:p>
        </p:txBody>
      </p:sp>
      <p:sp>
        <p:nvSpPr>
          <p:cNvPr id="12" name="txt-20"/>
          <p:cNvSpPr txBox="1"/>
          <p:nvPr/>
        </p:nvSpPr>
        <p:spPr>
          <a:xfrm>
            <a:off x="4688738" y="3108960"/>
            <a:ext cx="281421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네이버 플레이스 · 카카오맵 · 티맵 3개 지도의 병원 정보를 한 번에 세팅하고, 매월 관리합니다.</a:t>
            </a:r>
            <a:endParaRPr lang="en-US" sz="1600" dirty="0"/>
          </a:p>
        </p:txBody>
      </p:sp>
      <p:sp>
        <p:nvSpPr>
          <p:cNvPr id="13" name="card-21"/>
          <p:cNvSpPr/>
          <p:nvPr/>
        </p:nvSpPr>
        <p:spPr>
          <a:xfrm>
            <a:off x="8188757" y="1554480"/>
            <a:ext cx="3454298" cy="3566160"/>
          </a:xfrm>
          <a:prstGeom prst="roundRect">
            <a:avLst>
              <a:gd name="adj" fmla="val 31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-22"/>
          <p:cNvSpPr/>
          <p:nvPr/>
        </p:nvSpPr>
        <p:spPr>
          <a:xfrm>
            <a:off x="8508797" y="1828800"/>
            <a:ext cx="457200" cy="457200"/>
          </a:xfrm>
          <a:prstGeom prst="ellipse">
            <a:avLst/>
          </a:prstGeom>
          <a:solidFill>
            <a:srgbClr val="2A7F7A"/>
          </a:solidFill>
          <a:ln w="12700">
            <a:solidFill>
              <a:srgbClr val="2A7F7A"/>
            </a:solidFill>
            <a:prstDash val="solid"/>
          </a:ln>
        </p:spPr>
      </p:sp>
      <p:sp>
        <p:nvSpPr>
          <p:cNvPr id="15" name="txt-23"/>
          <p:cNvSpPr txBox="1"/>
          <p:nvPr/>
        </p:nvSpPr>
        <p:spPr>
          <a:xfrm>
            <a:off x="8508797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xt-24"/>
          <p:cNvSpPr txBox="1"/>
          <p:nvPr/>
        </p:nvSpPr>
        <p:spPr>
          <a:xfrm>
            <a:off x="8508797" y="2514600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선택 옵션</a:t>
            </a:r>
            <a:endParaRPr lang="en-US" sz="2200" dirty="0"/>
          </a:p>
        </p:txBody>
      </p:sp>
      <p:sp>
        <p:nvSpPr>
          <p:cNvPr id="17" name="txt-25"/>
          <p:cNvSpPr txBox="1"/>
          <p:nvPr/>
        </p:nvSpPr>
        <p:spPr>
          <a:xfrm>
            <a:off x="8508797" y="3108960"/>
            <a:ext cx="281421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타깃을 더 좁히려면 네이버 플레이스 리뷰 활성화를 더합니다. 직업환경의학과 검진·응급 진료 경험이 리뷰로 쌓이게 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예산에서는 주민·근로자·관광객 세 집단이 병원을 찾습니다</a:t>
            </a:r>
            <a:endParaRPr lang="en-US" sz="2800" dirty="0"/>
          </a:p>
        </p:txBody>
      </p:sp>
      <p:sp>
        <p:nvSpPr>
          <p:cNvPr id="3" name="card-26"/>
          <p:cNvSpPr/>
          <p:nvPr/>
        </p:nvSpPr>
        <p:spPr>
          <a:xfrm>
            <a:off x="548640" y="1645920"/>
            <a:ext cx="2567864" cy="310896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xt-27"/>
          <p:cNvSpPr txBox="1"/>
          <p:nvPr/>
        </p:nvSpPr>
        <p:spPr>
          <a:xfrm>
            <a:off x="822960" y="192024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78,318명</a:t>
            </a:r>
            <a:endParaRPr lang="en-US" sz="2800" dirty="0"/>
          </a:p>
        </p:txBody>
      </p:sp>
      <p:sp>
        <p:nvSpPr>
          <p:cNvPr id="5" name="txt-28"/>
          <p:cNvSpPr txBox="1"/>
          <p:nvPr/>
        </p:nvSpPr>
        <p:spPr>
          <a:xfrm>
            <a:off x="822960" y="2834640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예산군 인구 (2026.6)</a:t>
            </a:r>
            <a:endParaRPr lang="en-US" sz="1500" dirty="0"/>
          </a:p>
        </p:txBody>
      </p:sp>
      <p:sp>
        <p:nvSpPr>
          <p:cNvPr id="6" name="txt-29"/>
          <p:cNvSpPr txBox="1"/>
          <p:nvPr/>
        </p:nvSpPr>
        <p:spPr>
          <a:xfrm>
            <a:off x="822960" y="3337560"/>
            <a:ext cx="2019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65세 이상 36.7% — 응급·외래 수요 꾸준</a:t>
            </a:r>
            <a:endParaRPr lang="en-US" sz="1400" dirty="0"/>
          </a:p>
        </p:txBody>
      </p:sp>
      <p:sp>
        <p:nvSpPr>
          <p:cNvPr id="7" name="card-30"/>
          <p:cNvSpPr/>
          <p:nvPr/>
        </p:nvSpPr>
        <p:spPr>
          <a:xfrm>
            <a:off x="3390824" y="1645920"/>
            <a:ext cx="2567864" cy="310896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xt-31"/>
          <p:cNvSpPr txBox="1"/>
          <p:nvPr/>
        </p:nvSpPr>
        <p:spPr>
          <a:xfrm>
            <a:off x="3665144" y="192024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81개 기업</a:t>
            </a:r>
            <a:endParaRPr lang="en-US" sz="2800" dirty="0"/>
          </a:p>
        </p:txBody>
      </p:sp>
      <p:sp>
        <p:nvSpPr>
          <p:cNvPr id="9" name="txt-32"/>
          <p:cNvSpPr txBox="1"/>
          <p:nvPr/>
        </p:nvSpPr>
        <p:spPr>
          <a:xfrm>
            <a:off x="3665144" y="2834640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민선8기 유치 기업</a:t>
            </a:r>
            <a:endParaRPr lang="en-US" sz="1500" dirty="0"/>
          </a:p>
        </p:txBody>
      </p:sp>
      <p:sp>
        <p:nvSpPr>
          <p:cNvPr id="10" name="txt-33"/>
          <p:cNvSpPr txBox="1"/>
          <p:nvPr/>
        </p:nvSpPr>
        <p:spPr>
          <a:xfrm>
            <a:off x="3665144" y="3337560"/>
            <a:ext cx="2019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일자리 1,489개, 산업단지 4곳 조성·확장 중</a:t>
            </a:r>
            <a:endParaRPr lang="en-US" sz="1400" dirty="0"/>
          </a:p>
        </p:txBody>
      </p:sp>
      <p:sp>
        <p:nvSpPr>
          <p:cNvPr id="11" name="card-34"/>
          <p:cNvSpPr/>
          <p:nvPr/>
        </p:nvSpPr>
        <p:spPr>
          <a:xfrm>
            <a:off x="6233008" y="1645920"/>
            <a:ext cx="2567864" cy="310896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xt-35"/>
          <p:cNvSpPr txBox="1"/>
          <p:nvPr/>
        </p:nvSpPr>
        <p:spPr>
          <a:xfrm>
            <a:off x="6507328" y="192024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1,000만 명</a:t>
            </a:r>
            <a:endParaRPr lang="en-US" sz="2800" dirty="0"/>
          </a:p>
        </p:txBody>
      </p:sp>
      <p:sp>
        <p:nvSpPr>
          <p:cNvPr id="13" name="txt-36"/>
          <p:cNvSpPr txBox="1"/>
          <p:nvPr/>
        </p:nvSpPr>
        <p:spPr>
          <a:xfrm>
            <a:off x="6507328" y="2834640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예당호 출렁다리 누적 방문객</a:t>
            </a:r>
            <a:endParaRPr lang="en-US" sz="1500" dirty="0"/>
          </a:p>
        </p:txBody>
      </p:sp>
      <p:sp>
        <p:nvSpPr>
          <p:cNvPr id="14" name="txt-37"/>
          <p:cNvSpPr txBox="1"/>
          <p:nvPr/>
        </p:nvSpPr>
        <p:spPr>
          <a:xfrm>
            <a:off x="6507328" y="3337560"/>
            <a:ext cx="2019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2026.6 돌파, 연 100만–200만 명</a:t>
            </a:r>
            <a:endParaRPr lang="en-US" sz="1400" dirty="0"/>
          </a:p>
        </p:txBody>
      </p:sp>
      <p:sp>
        <p:nvSpPr>
          <p:cNvPr id="15" name="card-38"/>
          <p:cNvSpPr/>
          <p:nvPr/>
        </p:nvSpPr>
        <p:spPr>
          <a:xfrm>
            <a:off x="9075191" y="1645920"/>
            <a:ext cx="2567864" cy="310896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xt-39"/>
          <p:cNvSpPr txBox="1"/>
          <p:nvPr/>
        </p:nvSpPr>
        <p:spPr>
          <a:xfrm>
            <a:off x="9349511" y="192024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600만 명</a:t>
            </a:r>
            <a:endParaRPr lang="en-US" sz="2800" dirty="0"/>
          </a:p>
        </p:txBody>
      </p:sp>
      <p:sp>
        <p:nvSpPr>
          <p:cNvPr id="17" name="txt-40"/>
          <p:cNvSpPr txBox="1"/>
          <p:nvPr/>
        </p:nvSpPr>
        <p:spPr>
          <a:xfrm>
            <a:off x="9349511" y="2834640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예산시장 방문객</a:t>
            </a:r>
            <a:endParaRPr lang="en-US" sz="1500" dirty="0"/>
          </a:p>
        </p:txBody>
      </p:sp>
      <p:sp>
        <p:nvSpPr>
          <p:cNvPr id="18" name="txt-41"/>
          <p:cNvSpPr txBox="1"/>
          <p:nvPr/>
        </p:nvSpPr>
        <p:spPr>
          <a:xfrm>
            <a:off x="9349511" y="3337560"/>
            <a:ext cx="2019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2023.1 재개장 후 2024.6까지</a:t>
            </a:r>
            <a:endParaRPr lang="en-US" sz="1400" dirty="0"/>
          </a:p>
        </p:txBody>
      </p:sp>
      <p:sp>
        <p:nvSpPr>
          <p:cNvPr id="19" name="txt-42"/>
          <p:cNvSpPr txBox="1"/>
          <p:nvPr/>
        </p:nvSpPr>
        <p:spPr>
          <a:xfrm>
            <a:off x="548640" y="5029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세 집단 모두 처음 찾는 병원은 스마트폰 지도 앱에서 고릅니다. 지역 밖에서 오는 근로자·관광객일수록 지도 정보가 곧 병원의 첫인상입니다.</a:t>
            </a:r>
            <a:endParaRPr lang="en-US" sz="1600" dirty="0"/>
          </a:p>
        </p:txBody>
      </p:sp>
      <p:sp>
        <p:nvSpPr>
          <p:cNvPr id="20" name="txt-43"/>
          <p:cNvSpPr txBox="1"/>
          <p:nvPr/>
        </p:nvSpPr>
        <p:spPr>
          <a:xfrm>
            <a:off x="548640" y="6035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출처: 행정안전부 주민등록 인구통계(k-calc 집계), 예산군 보도자료(뉴스프리존 2026.7), 예산군 발표(2026.6), 서울신문(2025.4)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지도 앱 이용은 네이버 · 티맵 · 카카오맵 세 곳에 모여 있습니다</a:t>
            </a:r>
            <a:endParaRPr lang="en-US" sz="2800" dirty="0"/>
          </a:p>
        </p:txBody>
      </p:sp>
      <p:graphicFrame>
        <p:nvGraphicFramePr>
          <p:cNvPr id="3" name="chart-44" descr=""/>
          <p:cNvGraphicFramePr/>
          <p:nvPr/>
        </p:nvGraphicFramePr>
        <p:xfrm>
          <a:off x="548640" y="1463040"/>
          <a:ext cx="621792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dot-45"/>
          <p:cNvSpPr/>
          <p:nvPr/>
        </p:nvSpPr>
        <p:spPr>
          <a:xfrm>
            <a:off x="7223760" y="1691640"/>
            <a:ext cx="320040" cy="320040"/>
          </a:xfrm>
          <a:prstGeom prst="ellipse">
            <a:avLst/>
          </a:prstGeom>
          <a:solidFill>
            <a:srgbClr val="03C75A"/>
          </a:solidFill>
          <a:ln w="12700">
            <a:solidFill>
              <a:srgbClr val="03C75A"/>
            </a:solidFill>
            <a:prstDash val="solid"/>
          </a:ln>
        </p:spPr>
      </p:sp>
      <p:sp>
        <p:nvSpPr>
          <p:cNvPr id="5" name="txt-46"/>
          <p:cNvSpPr txBox="1"/>
          <p:nvPr/>
        </p:nvSpPr>
        <p:spPr>
          <a:xfrm>
            <a:off x="7726680" y="16459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네이버 플레이스</a:t>
            </a:r>
            <a:endParaRPr lang="en-US" sz="1800" dirty="0"/>
          </a:p>
        </p:txBody>
      </p:sp>
      <p:sp>
        <p:nvSpPr>
          <p:cNvPr id="6" name="txt-47"/>
          <p:cNvSpPr txBox="1"/>
          <p:nvPr/>
        </p:nvSpPr>
        <p:spPr>
          <a:xfrm>
            <a:off x="7726680" y="21031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검색과 지도가 한 화면. 주민·근로자·검진 담당자 모두의 기본 채널</a:t>
            </a:r>
            <a:endParaRPr lang="en-US" sz="1400" dirty="0"/>
          </a:p>
        </p:txBody>
      </p:sp>
      <p:sp>
        <p:nvSpPr>
          <p:cNvPr id="7" name="dot-48"/>
          <p:cNvSpPr/>
          <p:nvPr/>
        </p:nvSpPr>
        <p:spPr>
          <a:xfrm>
            <a:off x="7223760" y="3108960"/>
            <a:ext cx="320040" cy="320040"/>
          </a:xfrm>
          <a:prstGeom prst="ellipse">
            <a:avLst/>
          </a:prstGeom>
          <a:solidFill>
            <a:srgbClr val="3D6CE0"/>
          </a:solidFill>
          <a:ln w="12700">
            <a:solidFill>
              <a:srgbClr val="3D6CE0"/>
            </a:solidFill>
            <a:prstDash val="solid"/>
          </a:ln>
        </p:spPr>
      </p:sp>
      <p:sp>
        <p:nvSpPr>
          <p:cNvPr id="8" name="txt-49"/>
          <p:cNvSpPr txBox="1"/>
          <p:nvPr/>
        </p:nvSpPr>
        <p:spPr>
          <a:xfrm>
            <a:off x="7726680" y="3063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티맵</a:t>
            </a:r>
            <a:endParaRPr lang="en-US" sz="1800" dirty="0"/>
          </a:p>
        </p:txBody>
      </p:sp>
      <p:sp>
        <p:nvSpPr>
          <p:cNvPr id="9" name="txt-50"/>
          <p:cNvSpPr txBox="1"/>
          <p:nvPr/>
        </p:nvSpPr>
        <p:spPr>
          <a:xfrm>
            <a:off x="7726680" y="35204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운전자 중심. 차로 오는 관광객·타지역 환자가 목적지를 찍는 곳</a:t>
            </a:r>
            <a:endParaRPr lang="en-US" sz="1400" dirty="0"/>
          </a:p>
        </p:txBody>
      </p:sp>
      <p:sp>
        <p:nvSpPr>
          <p:cNvPr id="10" name="dot-51"/>
          <p:cNvSpPr/>
          <p:nvPr/>
        </p:nvSpPr>
        <p:spPr>
          <a:xfrm>
            <a:off x="7223760" y="4526280"/>
            <a:ext cx="320040" cy="320040"/>
          </a:xfrm>
          <a:prstGeom prst="ellipse">
            <a:avLst/>
          </a:prstGeom>
          <a:solidFill>
            <a:srgbClr val="F2C200"/>
          </a:solidFill>
          <a:ln w="12700">
            <a:solidFill>
              <a:srgbClr val="F2C200"/>
            </a:solidFill>
            <a:prstDash val="solid"/>
          </a:ln>
        </p:spPr>
      </p:sp>
      <p:sp>
        <p:nvSpPr>
          <p:cNvPr id="11" name="txt-52"/>
          <p:cNvSpPr txBox="1"/>
          <p:nvPr/>
        </p:nvSpPr>
        <p:spPr>
          <a:xfrm>
            <a:off x="7726680" y="44805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카카오맵</a:t>
            </a:r>
            <a:endParaRPr lang="en-US" sz="1800" dirty="0"/>
          </a:p>
        </p:txBody>
      </p:sp>
      <p:sp>
        <p:nvSpPr>
          <p:cNvPr id="12" name="txt-53"/>
          <p:cNvSpPr txBox="1"/>
          <p:nvPr/>
        </p:nvSpPr>
        <p:spPr>
          <a:xfrm>
            <a:off x="7726680" y="49377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카카오톡과 연결. 내포신도시 젊은 가구, 카톡 채널 상담</a:t>
            </a:r>
            <a:endParaRPr lang="en-US" sz="1400" dirty="0"/>
          </a:p>
        </p:txBody>
      </p:sp>
      <p:sp>
        <p:nvSpPr>
          <p:cNvPr id="13" name="txt-54"/>
          <p:cNvSpPr txBox="1"/>
          <p:nvPr/>
        </p:nvSpPr>
        <p:spPr>
          <a:xfrm>
            <a:off x="548640" y="6035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출처: 모바일인덱스(포인트데일리 2025.7). 월간 사용자: 네이버지도 2,880만·카카오맵 1,256만 (모바일인덱스, 전자신문 2026.2)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지도에 보여줘야 할 예산명지의 강점은 세 가지입니다</a:t>
            </a:r>
            <a:endParaRPr lang="en-US" sz="2800" dirty="0"/>
          </a:p>
        </p:txBody>
      </p:sp>
      <p:sp>
        <p:nvSpPr>
          <p:cNvPr id="3" name="card-55"/>
          <p:cNvSpPr/>
          <p:nvPr/>
        </p:nvSpPr>
        <p:spPr>
          <a:xfrm>
            <a:off x="548640" y="1508760"/>
            <a:ext cx="11094415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-56"/>
          <p:cNvSpPr/>
          <p:nvPr/>
        </p:nvSpPr>
        <p:spPr>
          <a:xfrm>
            <a:off x="868680" y="189280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xt-57"/>
          <p:cNvSpPr txBox="1"/>
          <p:nvPr/>
        </p:nvSpPr>
        <p:spPr>
          <a:xfrm>
            <a:off x="86868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xt-58"/>
          <p:cNvSpPr txBox="1"/>
          <p:nvPr/>
        </p:nvSpPr>
        <p:spPr>
          <a:xfrm>
            <a:off x="1600200" y="17373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직업환경의학과</a:t>
            </a:r>
            <a:endParaRPr lang="en-US" sz="2000" dirty="0"/>
          </a:p>
        </p:txBody>
      </p:sp>
      <p:sp>
        <p:nvSpPr>
          <p:cNvPr id="7" name="txt-59"/>
          <p:cNvSpPr txBox="1"/>
          <p:nvPr/>
        </p:nvSpPr>
        <p:spPr>
          <a:xfrm>
            <a:off x="4846320" y="1691640"/>
            <a:ext cx="6522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전문의 진료 기반의 근로자 검진·진료·재활. 지역 산업단지 기업과 근로자에게 가장 분명한 차별점입니다.</a:t>
            </a:r>
            <a:endParaRPr lang="en-US" sz="1500" dirty="0"/>
          </a:p>
        </p:txBody>
      </p:sp>
      <p:sp>
        <p:nvSpPr>
          <p:cNvPr id="8" name="card-60"/>
          <p:cNvSpPr/>
          <p:nvPr/>
        </p:nvSpPr>
        <p:spPr>
          <a:xfrm>
            <a:off x="548640" y="2971800"/>
            <a:ext cx="11094415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-61"/>
          <p:cNvSpPr/>
          <p:nvPr/>
        </p:nvSpPr>
        <p:spPr>
          <a:xfrm>
            <a:off x="868680" y="335584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xt-62"/>
          <p:cNvSpPr txBox="1"/>
          <p:nvPr/>
        </p:nvSpPr>
        <p:spPr>
          <a:xfrm>
            <a:off x="868680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xt-63"/>
          <p:cNvSpPr txBox="1"/>
          <p:nvPr/>
        </p:nvSpPr>
        <p:spPr>
          <a:xfrm>
            <a:off x="1600200" y="32004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24시간 응급 진료</a:t>
            </a:r>
            <a:endParaRPr lang="en-US" sz="2000" dirty="0"/>
          </a:p>
        </p:txBody>
      </p:sp>
      <p:sp>
        <p:nvSpPr>
          <p:cNvPr id="12" name="txt-64"/>
          <p:cNvSpPr txBox="1"/>
          <p:nvPr/>
        </p:nvSpPr>
        <p:spPr>
          <a:xfrm>
            <a:off x="4846320" y="3154680"/>
            <a:ext cx="6522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야간·주말에 ‘근처 응급실’을 찾는 주민과 관광객에게 위치·입구·연락처가 정확히 보여야 합니다.</a:t>
            </a:r>
            <a:endParaRPr lang="en-US" sz="1500" dirty="0"/>
          </a:p>
        </p:txBody>
      </p:sp>
      <p:sp>
        <p:nvSpPr>
          <p:cNvPr id="13" name="card-65"/>
          <p:cNvSpPr/>
          <p:nvPr/>
        </p:nvSpPr>
        <p:spPr>
          <a:xfrm>
            <a:off x="548640" y="4434840"/>
            <a:ext cx="11094415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-66"/>
          <p:cNvSpPr/>
          <p:nvPr/>
        </p:nvSpPr>
        <p:spPr>
          <a:xfrm>
            <a:off x="868680" y="481888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xt-67"/>
          <p:cNvSpPr txBox="1"/>
          <p:nvPr/>
        </p:nvSpPr>
        <p:spPr>
          <a:xfrm>
            <a:off x="868680" y="4818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xt-68"/>
          <p:cNvSpPr txBox="1"/>
          <p:nvPr/>
        </p:nvSpPr>
        <p:spPr>
          <a:xfrm>
            <a:off x="1600200" y="4663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수술·재활까지 한 곳에서</a:t>
            </a:r>
            <a:endParaRPr lang="en-US" sz="2000" dirty="0"/>
          </a:p>
        </p:txBody>
      </p:sp>
      <p:sp>
        <p:nvSpPr>
          <p:cNvPr id="17" name="txt-69"/>
          <p:cNvSpPr txBox="1"/>
          <p:nvPr/>
        </p:nvSpPr>
        <p:spPr>
          <a:xfrm>
            <a:off x="4846320" y="4617720"/>
            <a:ext cx="6522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외과·정형외과·신경외과·재활의학과 등 9개 진료과. 다치거나 아플 때 한 병원에서 끝나는 진료를 알립니다.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타깃별로 주로 쓰는 지도와 전달할 메시지를 나눕니다</a:t>
            </a:r>
            <a:endParaRPr lang="en-US" sz="2800" dirty="0"/>
          </a:p>
        </p:txBody>
      </p:sp>
      <p:graphicFrame>
        <p:nvGraphicFramePr>
          <p:cNvPr id="7" name="table-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017520"/>
                <a:gridCol w="2377440"/>
                <a:gridCol w="286207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타깃</a:t>
                      </a:r>
                      <a:endParaRPr lang="en-US" sz="15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찾는 상황</a:t>
                      </a:r>
                      <a:endParaRPr lang="en-US" sz="15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주력 지도</a:t>
                      </a:r>
                      <a:endParaRPr lang="en-US" sz="15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전달 메시지</a:t>
                      </a:r>
                      <a:endParaRPr lang="en-US" sz="15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예산·삽교·덕산 주민, 내포신도시 가구</a:t>
                      </a:r>
                      <a:endParaRPr lang="en-US" sz="14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가까운 병원, 진료시간, 주말 진료</a:t>
                      </a:r>
                      <a:endParaRPr lang="en-US" sz="14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네이버 플레이스, 카카오맵</a:t>
                      </a:r>
                      <a:endParaRPr lang="en-US" sz="14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9개 진료과, 진료시간, 24시간 응급</a:t>
                      </a:r>
                      <a:endParaRPr lang="en-US" sz="14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산업단지 기업 담당자·근로자</a:t>
                      </a:r>
                      <a:endParaRPr lang="en-US" sz="14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채용·배치전 검진, 근로자 검진, 산재 진료</a:t>
                      </a:r>
                      <a:endParaRPr lang="en-US" sz="14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네이버 플레이스</a:t>
                      </a:r>
                      <a:endParaRPr lang="en-US" sz="14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직업환경의학과, 검진 안내·문의 경로</a:t>
                      </a:r>
                      <a:endParaRPr lang="en-US" sz="14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예당호·예산시장·수덕사 차량 관광객</a:t>
                      </a:r>
                      <a:endParaRPr lang="en-US" sz="14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여행 중 사고, 근처 응급실·외상 진료</a:t>
                      </a:r>
                      <a:endParaRPr lang="en-US" sz="14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티맵, 네이버 플레이스</a:t>
                      </a:r>
                      <a:endParaRPr lang="en-US" sz="14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24시간 응급, 정확한 위치·입구·주차</a:t>
                      </a:r>
                      <a:endParaRPr lang="en-US" sz="14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xt-71"/>
          <p:cNvSpPr txBox="1"/>
          <p:nvPr/>
        </p:nvSpPr>
        <p:spPr>
          <a:xfrm>
            <a:off x="548640" y="53949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같은 병원이라도 타깃마다 찾는 지도와 검색어가 다릅니다. 세 지도를 모두 정비해야 놓치는 환자가 없습니다.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제안 ① 3개 지도의 병원 정보를 한 번에 세팅합니다</a:t>
            </a:r>
            <a:endParaRPr lang="en-US" sz="2800" dirty="0"/>
          </a:p>
        </p:txBody>
      </p:sp>
      <p:sp>
        <p:nvSpPr>
          <p:cNvPr id="3" name="head-72"/>
          <p:cNvSpPr/>
          <p:nvPr/>
        </p:nvSpPr>
        <p:spPr>
          <a:xfrm>
            <a:off x="548640" y="1508760"/>
            <a:ext cx="3454298" cy="640080"/>
          </a:xfrm>
          <a:prstGeom prst="roundRect">
            <a:avLst>
              <a:gd name="adj" fmla="val 17143"/>
            </a:avLst>
          </a:prstGeom>
          <a:solidFill>
            <a:srgbClr val="03C75A"/>
          </a:solidFill>
          <a:ln w="12700">
            <a:solidFill>
              <a:srgbClr val="03C75A"/>
            </a:solidFill>
            <a:prstDash val="solid"/>
          </a:ln>
        </p:spPr>
      </p:sp>
      <p:sp>
        <p:nvSpPr>
          <p:cNvPr id="4" name="txt-73"/>
          <p:cNvSpPr txBox="1"/>
          <p:nvPr/>
        </p:nvSpPr>
        <p:spPr>
          <a:xfrm>
            <a:off x="822960" y="1508760"/>
            <a:ext cx="2905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네이버 플레이스</a:t>
            </a:r>
            <a:endParaRPr lang="en-US" sz="2000" dirty="0"/>
          </a:p>
        </p:txBody>
      </p:sp>
      <p:sp>
        <p:nvSpPr>
          <p:cNvPr id="5" name="card-74"/>
          <p:cNvSpPr/>
          <p:nvPr/>
        </p:nvSpPr>
        <p:spPr>
          <a:xfrm>
            <a:off x="548640" y="2286000"/>
            <a:ext cx="3454298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list-75"/>
          <p:cNvSpPr txBox="1"/>
          <p:nvPr/>
        </p:nvSpPr>
        <p:spPr>
          <a:xfrm>
            <a:off x="777240" y="2468880"/>
            <a:ext cx="299709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진료과·진료시간·24시간 응급 표기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외관·입구·주차·검진센터 사진 정비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예약·톡톡 연결, 검진 안내 소식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대표 키워드·소개글 정비</a:t>
            </a:r>
            <a:endParaRPr lang="en-US" sz="1500" dirty="0"/>
          </a:p>
        </p:txBody>
      </p:sp>
      <p:sp>
        <p:nvSpPr>
          <p:cNvPr id="7" name="head-76"/>
          <p:cNvSpPr/>
          <p:nvPr/>
        </p:nvSpPr>
        <p:spPr>
          <a:xfrm>
            <a:off x="4368698" y="1508760"/>
            <a:ext cx="3454298" cy="640080"/>
          </a:xfrm>
          <a:prstGeom prst="roundRect">
            <a:avLst>
              <a:gd name="adj" fmla="val 17143"/>
            </a:avLst>
          </a:prstGeom>
          <a:solidFill>
            <a:srgbClr val="F2C200"/>
          </a:solidFill>
          <a:ln w="12700">
            <a:solidFill>
              <a:srgbClr val="F2C200"/>
            </a:solidFill>
            <a:prstDash val="solid"/>
          </a:ln>
        </p:spPr>
      </p:sp>
      <p:sp>
        <p:nvSpPr>
          <p:cNvPr id="8" name="txt-77"/>
          <p:cNvSpPr txBox="1"/>
          <p:nvPr/>
        </p:nvSpPr>
        <p:spPr>
          <a:xfrm>
            <a:off x="4643018" y="1508760"/>
            <a:ext cx="2905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카카오맵</a:t>
            </a:r>
            <a:endParaRPr lang="en-US" sz="2000" dirty="0"/>
          </a:p>
        </p:txBody>
      </p:sp>
      <p:sp>
        <p:nvSpPr>
          <p:cNvPr id="9" name="card-78"/>
          <p:cNvSpPr/>
          <p:nvPr/>
        </p:nvSpPr>
        <p:spPr>
          <a:xfrm>
            <a:off x="4368698" y="2286000"/>
            <a:ext cx="3454298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list-79"/>
          <p:cNvSpPr txBox="1"/>
          <p:nvPr/>
        </p:nvSpPr>
        <p:spPr>
          <a:xfrm>
            <a:off x="4597298" y="2468880"/>
            <a:ext cx="299709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카카오비즈니스로 병원 소유권 등록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기존 등록 정보의 오류·중복 정리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카카오톡 채널 연결(문의 창구)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진료시간·전화·진료과 통일</a:t>
            </a:r>
            <a:endParaRPr lang="en-US" sz="1500" dirty="0"/>
          </a:p>
        </p:txBody>
      </p:sp>
      <p:sp>
        <p:nvSpPr>
          <p:cNvPr id="11" name="head-80"/>
          <p:cNvSpPr/>
          <p:nvPr/>
        </p:nvSpPr>
        <p:spPr>
          <a:xfrm>
            <a:off x="8188757" y="1508760"/>
            <a:ext cx="3454298" cy="640080"/>
          </a:xfrm>
          <a:prstGeom prst="roundRect">
            <a:avLst>
              <a:gd name="adj" fmla="val 17143"/>
            </a:avLst>
          </a:prstGeom>
          <a:solidFill>
            <a:srgbClr val="3D6CE0"/>
          </a:solidFill>
          <a:ln w="12700">
            <a:solidFill>
              <a:srgbClr val="3D6CE0"/>
            </a:solidFill>
            <a:prstDash val="solid"/>
          </a:ln>
        </p:spPr>
      </p:sp>
      <p:sp>
        <p:nvSpPr>
          <p:cNvPr id="12" name="txt-81"/>
          <p:cNvSpPr txBox="1"/>
          <p:nvPr/>
        </p:nvSpPr>
        <p:spPr>
          <a:xfrm>
            <a:off x="8463077" y="1508760"/>
            <a:ext cx="2905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티맵</a:t>
            </a:r>
            <a:endParaRPr lang="en-US" sz="2000" dirty="0"/>
          </a:p>
        </p:txBody>
      </p:sp>
      <p:sp>
        <p:nvSpPr>
          <p:cNvPr id="13" name="card-82"/>
          <p:cNvSpPr/>
          <p:nvPr/>
        </p:nvSpPr>
        <p:spPr>
          <a:xfrm>
            <a:off x="8188757" y="2286000"/>
            <a:ext cx="3454298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list-83"/>
          <p:cNvSpPr txBox="1"/>
          <p:nvPr/>
        </p:nvSpPr>
        <p:spPr>
          <a:xfrm>
            <a:off x="8417357" y="2468880"/>
            <a:ext cx="299709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장소 정보 등록·수정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응급실 입구 기준 목적지 좌표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대표 전화·진료시간 통일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관광지 인근 ‘병원’ 검색 노출 확인</a:t>
            </a:r>
            <a:endParaRPr lang="en-US" sz="1500" dirty="0"/>
          </a:p>
        </p:txBody>
      </p:sp>
      <p:sp>
        <p:nvSpPr>
          <p:cNvPr id="15" name="txt-84"/>
          <p:cNvSpPr txBox="1"/>
          <p:nvPr/>
        </p:nvSpPr>
        <p:spPr>
          <a:xfrm>
            <a:off x="548640" y="54406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세 지도의 병원명·주소·전화·진료시간·진료과를 하나의 기준표로 맞춥니다. 정보가 지도마다 다르면 환자가 헛걸음하거나 다른 병원으로 갑니다.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제안 ② 매월 정보·소식·리뷰를 관리하고 결과를 보고합니다</a:t>
            </a:r>
            <a:endParaRPr lang="en-US" sz="2800" dirty="0"/>
          </a:p>
        </p:txBody>
      </p:sp>
      <p:sp>
        <p:nvSpPr>
          <p:cNvPr id="3" name="card-85"/>
          <p:cNvSpPr/>
          <p:nvPr/>
        </p:nvSpPr>
        <p:spPr>
          <a:xfrm>
            <a:off x="548640" y="1737360"/>
            <a:ext cx="2567864" cy="283464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-86"/>
          <p:cNvSpPr/>
          <p:nvPr/>
        </p:nvSpPr>
        <p:spPr>
          <a:xfrm>
            <a:off x="822960" y="2011680"/>
            <a:ext cx="457200" cy="457200"/>
          </a:xfrm>
          <a:prstGeom prst="ellipse">
            <a:avLst/>
          </a:prstGeom>
          <a:solidFill>
            <a:srgbClr val="2A7F7A"/>
          </a:solidFill>
          <a:ln w="12700">
            <a:solidFill>
              <a:srgbClr val="2A7F7A"/>
            </a:solidFill>
            <a:prstDash val="solid"/>
          </a:ln>
        </p:spPr>
      </p:sp>
      <p:sp>
        <p:nvSpPr>
          <p:cNvPr id="5" name="txt-87"/>
          <p:cNvSpPr txBox="1"/>
          <p:nvPr/>
        </p:nvSpPr>
        <p:spPr>
          <a:xfrm>
            <a:off x="8229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xt-88"/>
          <p:cNvSpPr txBox="1"/>
          <p:nvPr/>
        </p:nvSpPr>
        <p:spPr>
          <a:xfrm>
            <a:off x="822960" y="2697480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정보 점검</a:t>
            </a:r>
            <a:endParaRPr lang="en-US" sz="2000" dirty="0"/>
          </a:p>
        </p:txBody>
      </p:sp>
      <p:sp>
        <p:nvSpPr>
          <p:cNvPr id="7" name="txt-89"/>
          <p:cNvSpPr txBox="1"/>
          <p:nvPr/>
        </p:nvSpPr>
        <p:spPr>
          <a:xfrm>
            <a:off x="822960" y="3246120"/>
            <a:ext cx="20192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휴진·진료시간 변경, 신규 의료진을 3개 지도에 동시 반영</a:t>
            </a:r>
            <a:endParaRPr lang="en-US" sz="1500" dirty="0"/>
          </a:p>
        </p:txBody>
      </p:sp>
      <p:sp>
        <p:nvSpPr>
          <p:cNvPr id="8" name="arrow-90"/>
          <p:cNvSpPr/>
          <p:nvPr/>
        </p:nvSpPr>
        <p:spPr>
          <a:xfrm>
            <a:off x="3153080" y="3246120"/>
            <a:ext cx="201168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card-91"/>
          <p:cNvSpPr/>
          <p:nvPr/>
        </p:nvSpPr>
        <p:spPr>
          <a:xfrm>
            <a:off x="3390824" y="1737360"/>
            <a:ext cx="2567864" cy="283464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-92"/>
          <p:cNvSpPr/>
          <p:nvPr/>
        </p:nvSpPr>
        <p:spPr>
          <a:xfrm>
            <a:off x="3665144" y="2011680"/>
            <a:ext cx="457200" cy="457200"/>
          </a:xfrm>
          <a:prstGeom prst="ellipse">
            <a:avLst/>
          </a:prstGeom>
          <a:solidFill>
            <a:srgbClr val="2A7F7A"/>
          </a:solidFill>
          <a:ln w="12700">
            <a:solidFill>
              <a:srgbClr val="2A7F7A"/>
            </a:solidFill>
            <a:prstDash val="solid"/>
          </a:ln>
        </p:spPr>
      </p:sp>
      <p:sp>
        <p:nvSpPr>
          <p:cNvPr id="11" name="txt-93"/>
          <p:cNvSpPr txBox="1"/>
          <p:nvPr/>
        </p:nvSpPr>
        <p:spPr>
          <a:xfrm>
            <a:off x="3665144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xt-94"/>
          <p:cNvSpPr txBox="1"/>
          <p:nvPr/>
        </p:nvSpPr>
        <p:spPr>
          <a:xfrm>
            <a:off x="3665144" y="2697480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소식 발행</a:t>
            </a:r>
            <a:endParaRPr lang="en-US" sz="2000" dirty="0"/>
          </a:p>
        </p:txBody>
      </p:sp>
      <p:sp>
        <p:nvSpPr>
          <p:cNvPr id="13" name="txt-95"/>
          <p:cNvSpPr txBox="1"/>
          <p:nvPr/>
        </p:nvSpPr>
        <p:spPr>
          <a:xfrm>
            <a:off x="3665144" y="3246120"/>
            <a:ext cx="20192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검진 일정, 명절·연휴 진료 안내를 네이버 플레이스 소식으로 게시</a:t>
            </a:r>
            <a:endParaRPr lang="en-US" sz="1500" dirty="0"/>
          </a:p>
        </p:txBody>
      </p:sp>
      <p:sp>
        <p:nvSpPr>
          <p:cNvPr id="14" name="arrow-96"/>
          <p:cNvSpPr/>
          <p:nvPr/>
        </p:nvSpPr>
        <p:spPr>
          <a:xfrm>
            <a:off x="5995264" y="3246120"/>
            <a:ext cx="201168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card-97"/>
          <p:cNvSpPr/>
          <p:nvPr/>
        </p:nvSpPr>
        <p:spPr>
          <a:xfrm>
            <a:off x="6233008" y="1737360"/>
            <a:ext cx="2567864" cy="283464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badge-98"/>
          <p:cNvSpPr/>
          <p:nvPr/>
        </p:nvSpPr>
        <p:spPr>
          <a:xfrm>
            <a:off x="6507328" y="2011680"/>
            <a:ext cx="457200" cy="457200"/>
          </a:xfrm>
          <a:prstGeom prst="ellipse">
            <a:avLst/>
          </a:prstGeom>
          <a:solidFill>
            <a:srgbClr val="2A7F7A"/>
          </a:solidFill>
          <a:ln w="12700">
            <a:solidFill>
              <a:srgbClr val="2A7F7A"/>
            </a:solidFill>
            <a:prstDash val="solid"/>
          </a:ln>
        </p:spPr>
      </p:sp>
      <p:sp>
        <p:nvSpPr>
          <p:cNvPr id="17" name="txt-99"/>
          <p:cNvSpPr txBox="1"/>
          <p:nvPr/>
        </p:nvSpPr>
        <p:spPr>
          <a:xfrm>
            <a:off x="6507328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xt-100"/>
          <p:cNvSpPr txBox="1"/>
          <p:nvPr/>
        </p:nvSpPr>
        <p:spPr>
          <a:xfrm>
            <a:off x="6507328" y="2697480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리뷰 답글</a:t>
            </a:r>
            <a:endParaRPr lang="en-US" sz="2000" dirty="0"/>
          </a:p>
        </p:txBody>
      </p:sp>
      <p:sp>
        <p:nvSpPr>
          <p:cNvPr id="19" name="txt-101"/>
          <p:cNvSpPr txBox="1"/>
          <p:nvPr/>
        </p:nvSpPr>
        <p:spPr>
          <a:xfrm>
            <a:off x="6507328" y="3246120"/>
            <a:ext cx="20192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네이버·카카오 리뷰에 병원 명의로 정중히 답글, 불만 리뷰는 병원과 협의 후 대응</a:t>
            </a:r>
            <a:endParaRPr lang="en-US" sz="1500" dirty="0"/>
          </a:p>
        </p:txBody>
      </p:sp>
      <p:sp>
        <p:nvSpPr>
          <p:cNvPr id="20" name="arrow-102"/>
          <p:cNvSpPr/>
          <p:nvPr/>
        </p:nvSpPr>
        <p:spPr>
          <a:xfrm>
            <a:off x="8837447" y="3246120"/>
            <a:ext cx="201168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card-103"/>
          <p:cNvSpPr/>
          <p:nvPr/>
        </p:nvSpPr>
        <p:spPr>
          <a:xfrm>
            <a:off x="9075191" y="1737360"/>
            <a:ext cx="2567864" cy="283464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badge-104"/>
          <p:cNvSpPr/>
          <p:nvPr/>
        </p:nvSpPr>
        <p:spPr>
          <a:xfrm>
            <a:off x="9349511" y="2011680"/>
            <a:ext cx="457200" cy="457200"/>
          </a:xfrm>
          <a:prstGeom prst="ellipse">
            <a:avLst/>
          </a:prstGeom>
          <a:solidFill>
            <a:srgbClr val="2A7F7A"/>
          </a:solidFill>
          <a:ln w="12700">
            <a:solidFill>
              <a:srgbClr val="2A7F7A"/>
            </a:solidFill>
            <a:prstDash val="solid"/>
          </a:ln>
        </p:spPr>
      </p:sp>
      <p:sp>
        <p:nvSpPr>
          <p:cNvPr id="23" name="txt-105"/>
          <p:cNvSpPr txBox="1"/>
          <p:nvPr/>
        </p:nvSpPr>
        <p:spPr>
          <a:xfrm>
            <a:off x="9349511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xt-106"/>
          <p:cNvSpPr txBox="1"/>
          <p:nvPr/>
        </p:nvSpPr>
        <p:spPr>
          <a:xfrm>
            <a:off x="9349511" y="2697480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월간 리포트</a:t>
            </a:r>
            <a:endParaRPr lang="en-US" sz="2000" dirty="0"/>
          </a:p>
        </p:txBody>
      </p:sp>
      <p:sp>
        <p:nvSpPr>
          <p:cNvPr id="25" name="txt-107"/>
          <p:cNvSpPr txBox="1"/>
          <p:nvPr/>
        </p:nvSpPr>
        <p:spPr>
          <a:xfrm>
            <a:off x="9349511" y="3246120"/>
            <a:ext cx="20192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노출 순위·전화·길찾기 수를 정리해 다음 달 개선점과 함께 보고</a:t>
            </a:r>
            <a:endParaRPr lang="en-US" sz="1500" dirty="0"/>
          </a:p>
        </p:txBody>
      </p:sp>
      <p:sp>
        <p:nvSpPr>
          <p:cNvPr id="26" name="txt-108"/>
          <p:cNvSpPr txBox="1"/>
          <p:nvPr/>
        </p:nvSpPr>
        <p:spPr>
          <a:xfrm>
            <a:off x="548640" y="4937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매월 반복되는 관리로 정보가 낡지 않게 유지합니다. 병원 담당자는 월 1회 리포트만 확인하시면 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옵션: 네이버 플레이스 리뷰로 타깃을 더 뾰족하게 잡습니다</a:t>
            </a:r>
            <a:endParaRPr lang="en-US" sz="2800" dirty="0"/>
          </a:p>
        </p:txBody>
      </p:sp>
      <p:sp>
        <p:nvSpPr>
          <p:cNvPr id="3" name="txt-109"/>
          <p:cNvSpPr txBox="1"/>
          <p:nvPr/>
        </p:nvSpPr>
        <p:spPr>
          <a:xfrm>
            <a:off x="548640" y="146304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리뷰는 지도에서 병원을 고르는 결정적 근거입니다. 실제 진료받은 분들의 리뷰에 ‘검진’, ‘응급’, ‘정형외과’ 같은 경험이 쌓이면 그 진료를 찾는 사람에게 예산명지가 더 잘 보입니다.</a:t>
            </a:r>
            <a:endParaRPr lang="en-US" sz="1600" dirty="0"/>
          </a:p>
        </p:txBody>
      </p:sp>
      <p:sp>
        <p:nvSpPr>
          <p:cNvPr id="4" name="txt-110"/>
          <p:cNvSpPr txBox="1"/>
          <p:nvPr/>
        </p:nvSpPr>
        <p:spPr>
          <a:xfrm>
            <a:off x="548640" y="30632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진행 방식</a:t>
            </a:r>
            <a:endParaRPr lang="en-US" sz="1800" dirty="0"/>
          </a:p>
        </p:txBody>
      </p:sp>
      <p:sp>
        <p:nvSpPr>
          <p:cNvPr id="5" name="list-111"/>
          <p:cNvSpPr txBox="1"/>
          <p:nvPr/>
        </p:nvSpPr>
        <p:spPr>
          <a:xfrm>
            <a:off x="548640" y="3520440"/>
            <a:ext cx="5486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검진센터·응급실·원무과에 리뷰 참여 안내(QR) 비치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진료 후 영수증·예약 기반으로 실제 이용자만 참여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직업환경의학과 검진 기업에 근로자 안내문 제공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모든 리뷰에 병원 명의 답글로 신뢰 형성</a:t>
            </a:r>
            <a:endParaRPr lang="en-US" sz="1500" dirty="0"/>
          </a:p>
        </p:txBody>
      </p:sp>
      <p:sp>
        <p:nvSpPr>
          <p:cNvPr id="6" name="card-112"/>
          <p:cNvSpPr/>
          <p:nvPr/>
        </p:nvSpPr>
        <p:spPr>
          <a:xfrm>
            <a:off x="6675120" y="1508760"/>
            <a:ext cx="4967935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dot-113"/>
          <p:cNvSpPr/>
          <p:nvPr/>
        </p:nvSpPr>
        <p:spPr>
          <a:xfrm>
            <a:off x="6949440" y="1874520"/>
            <a:ext cx="457200" cy="457200"/>
          </a:xfrm>
          <a:prstGeom prst="ellipse">
            <a:avLst/>
          </a:prstGeom>
          <a:solidFill>
            <a:srgbClr val="2A7F7A"/>
          </a:solidFill>
          <a:ln w="12700">
            <a:solidFill>
              <a:srgbClr val="2A7F7A"/>
            </a:solidFill>
            <a:prstDash val="solid"/>
          </a:ln>
        </p:spPr>
      </p:sp>
      <p:sp>
        <p:nvSpPr>
          <p:cNvPr id="8" name="txt-114"/>
          <p:cNvSpPr txBox="1"/>
          <p:nvPr/>
        </p:nvSpPr>
        <p:spPr>
          <a:xfrm>
            <a:off x="7635240" y="16916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산업단지 근로자</a:t>
            </a:r>
            <a:endParaRPr lang="en-US" sz="1800" dirty="0"/>
          </a:p>
        </p:txBody>
      </p:sp>
      <p:sp>
        <p:nvSpPr>
          <p:cNvPr id="9" name="txt-115"/>
          <p:cNvSpPr txBox="1"/>
          <p:nvPr/>
        </p:nvSpPr>
        <p:spPr>
          <a:xfrm>
            <a:off x="7635240" y="21305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검진·산재 진료 경험이 리뷰로 쌓이도록 안내</a:t>
            </a:r>
            <a:endParaRPr lang="en-US" sz="1400" dirty="0"/>
          </a:p>
        </p:txBody>
      </p:sp>
      <p:sp>
        <p:nvSpPr>
          <p:cNvPr id="10" name="card-116"/>
          <p:cNvSpPr/>
          <p:nvPr/>
        </p:nvSpPr>
        <p:spPr>
          <a:xfrm>
            <a:off x="6675120" y="2926080"/>
            <a:ext cx="4967935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dot-117"/>
          <p:cNvSpPr/>
          <p:nvPr/>
        </p:nvSpPr>
        <p:spPr>
          <a:xfrm>
            <a:off x="6949440" y="3291840"/>
            <a:ext cx="457200" cy="457200"/>
          </a:xfrm>
          <a:prstGeom prst="ellipse">
            <a:avLst/>
          </a:prstGeom>
          <a:solidFill>
            <a:srgbClr val="D9483B"/>
          </a:solidFill>
          <a:ln w="12700">
            <a:solidFill>
              <a:srgbClr val="D9483B"/>
            </a:solidFill>
            <a:prstDash val="solid"/>
          </a:ln>
        </p:spPr>
      </p:sp>
      <p:sp>
        <p:nvSpPr>
          <p:cNvPr id="12" name="txt-118"/>
          <p:cNvSpPr txBox="1"/>
          <p:nvPr/>
        </p:nvSpPr>
        <p:spPr>
          <a:xfrm>
            <a:off x="7635240" y="3108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관광객·보호자</a:t>
            </a:r>
            <a:endParaRPr lang="en-US" sz="1800" dirty="0"/>
          </a:p>
        </p:txBody>
      </p:sp>
      <p:sp>
        <p:nvSpPr>
          <p:cNvPr id="13" name="txt-119"/>
          <p:cNvSpPr txBox="1"/>
          <p:nvPr/>
        </p:nvSpPr>
        <p:spPr>
          <a:xfrm>
            <a:off x="7635240" y="35478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응급·외상 진료 경험이 리뷰로 쌓이도록 안내</a:t>
            </a:r>
            <a:endParaRPr lang="en-US" sz="1400" dirty="0"/>
          </a:p>
        </p:txBody>
      </p:sp>
      <p:sp>
        <p:nvSpPr>
          <p:cNvPr id="14" name="card-120"/>
          <p:cNvSpPr/>
          <p:nvPr/>
        </p:nvSpPr>
        <p:spPr>
          <a:xfrm>
            <a:off x="6675120" y="4343400"/>
            <a:ext cx="4967935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dot-121"/>
          <p:cNvSpPr/>
          <p:nvPr/>
        </p:nvSpPr>
        <p:spPr>
          <a:xfrm>
            <a:off x="6949440" y="4709160"/>
            <a:ext cx="457200" cy="457200"/>
          </a:xfrm>
          <a:prstGeom prst="ellipse">
            <a:avLst/>
          </a:prstGeom>
          <a:solidFill>
            <a:srgbClr val="12343B"/>
          </a:solidFill>
          <a:ln w="12700">
            <a:solidFill>
              <a:srgbClr val="12343B"/>
            </a:solidFill>
            <a:prstDash val="solid"/>
          </a:ln>
        </p:spPr>
      </p:sp>
      <p:sp>
        <p:nvSpPr>
          <p:cNvPr id="16" name="txt-122"/>
          <p:cNvSpPr txBox="1"/>
          <p:nvPr/>
        </p:nvSpPr>
        <p:spPr>
          <a:xfrm>
            <a:off x="7635240" y="4526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지역 주민·내포</a:t>
            </a:r>
            <a:endParaRPr lang="en-US" sz="1800" dirty="0"/>
          </a:p>
        </p:txBody>
      </p:sp>
      <p:sp>
        <p:nvSpPr>
          <p:cNvPr id="17" name="txt-123"/>
          <p:cNvSpPr txBox="1"/>
          <p:nvPr/>
        </p:nvSpPr>
        <p:spPr>
          <a:xfrm>
            <a:off x="7635240" y="49651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외래·수술·재활 경험이 리뷰로 쌓이도록 안내</a:t>
            </a:r>
            <a:endParaRPr lang="en-US" sz="1400" dirty="0"/>
          </a:p>
        </p:txBody>
      </p:sp>
      <p:sp>
        <p:nvSpPr>
          <p:cNvPr id="18" name="txt-124"/>
          <p:cNvSpPr txBox="1"/>
          <p:nvPr/>
        </p:nvSpPr>
        <p:spPr>
          <a:xfrm>
            <a:off x="548640" y="6035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리뷰 작성의 대가 제공, 작성 대행, 특정 문구 요청은 하지 않습니다(의료법상 환자 유인·치료경험담 광고 금지 준수).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의료광고 규정 안에서 바로 시작할 수 있습니다</a:t>
            </a:r>
            <a:endParaRPr lang="en-US" sz="2800" dirty="0"/>
          </a:p>
        </p:txBody>
      </p:sp>
      <p:sp>
        <p:nvSpPr>
          <p:cNvPr id="3" name="head-125"/>
          <p:cNvSpPr/>
          <p:nvPr/>
        </p:nvSpPr>
        <p:spPr>
          <a:xfrm>
            <a:off x="548640" y="1508760"/>
            <a:ext cx="5318608" cy="640080"/>
          </a:xfrm>
          <a:prstGeom prst="roundRect">
            <a:avLst>
              <a:gd name="adj" fmla="val 17143"/>
            </a:avLst>
          </a:prstGeom>
          <a:solidFill>
            <a:srgbClr val="2A7F7A"/>
          </a:solidFill>
          <a:ln w="12700">
            <a:solidFill>
              <a:srgbClr val="2A7F7A"/>
            </a:solidFill>
            <a:prstDash val="solid"/>
          </a:ln>
        </p:spPr>
      </p:sp>
      <p:sp>
        <p:nvSpPr>
          <p:cNvPr id="4" name="txt-126"/>
          <p:cNvSpPr txBox="1"/>
          <p:nvPr/>
        </p:nvSpPr>
        <p:spPr>
          <a:xfrm>
            <a:off x="822960" y="1508760"/>
            <a:ext cx="476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심의 없이 게시 가능한 정보</a:t>
            </a:r>
            <a:endParaRPr lang="en-US" sz="1900" dirty="0"/>
          </a:p>
        </p:txBody>
      </p:sp>
      <p:sp>
        <p:nvSpPr>
          <p:cNvPr id="5" name="card-127"/>
          <p:cNvSpPr/>
          <p:nvPr/>
        </p:nvSpPr>
        <p:spPr>
          <a:xfrm>
            <a:off x="548640" y="2286000"/>
            <a:ext cx="5318608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list-128"/>
          <p:cNvSpPr txBox="1"/>
          <p:nvPr/>
        </p:nvSpPr>
        <p:spPr>
          <a:xfrm>
            <a:off x="822960" y="2468880"/>
            <a:ext cx="476996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병원명·주소·전화번호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진료과목·진료시간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의료진 성명·면허 종류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→ 지도 정보 세팅은 대부분 이 범위</a:t>
            </a:r>
            <a:endParaRPr lang="en-US" sz="1600" dirty="0"/>
          </a:p>
        </p:txBody>
      </p:sp>
      <p:sp>
        <p:nvSpPr>
          <p:cNvPr id="7" name="head-129"/>
          <p:cNvSpPr/>
          <p:nvPr/>
        </p:nvSpPr>
        <p:spPr>
          <a:xfrm>
            <a:off x="6324448" y="1508760"/>
            <a:ext cx="5318608" cy="640080"/>
          </a:xfrm>
          <a:prstGeom prst="roundRect">
            <a:avLst>
              <a:gd name="adj" fmla="val 17143"/>
            </a:avLst>
          </a:prstGeom>
          <a:solidFill>
            <a:srgbClr val="D9483B"/>
          </a:solidFill>
          <a:ln w="12700">
            <a:solidFill>
              <a:srgbClr val="D9483B"/>
            </a:solidFill>
            <a:prstDash val="solid"/>
          </a:ln>
        </p:spPr>
      </p:sp>
      <p:sp>
        <p:nvSpPr>
          <p:cNvPr id="8" name="txt-130"/>
          <p:cNvSpPr txBox="1"/>
          <p:nvPr/>
        </p:nvSpPr>
        <p:spPr>
          <a:xfrm>
            <a:off x="6598768" y="1508760"/>
            <a:ext cx="476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의료광고 사전심의가 필요한 내용</a:t>
            </a:r>
            <a:endParaRPr lang="en-US" sz="1900" dirty="0"/>
          </a:p>
        </p:txBody>
      </p:sp>
      <p:sp>
        <p:nvSpPr>
          <p:cNvPr id="9" name="card-131"/>
          <p:cNvSpPr/>
          <p:nvPr/>
        </p:nvSpPr>
        <p:spPr>
          <a:xfrm>
            <a:off x="6324448" y="2286000"/>
            <a:ext cx="5318608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list-132"/>
          <p:cNvSpPr txBox="1"/>
          <p:nvPr/>
        </p:nvSpPr>
        <p:spPr>
          <a:xfrm>
            <a:off x="6598768" y="2468880"/>
            <a:ext cx="476996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홍보 문구가 들어간 소식·이벤트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검색 광고 문안과 연결 페이지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효과·순위를 내세우는 표현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→ 사전심의 후 게시 (병원 명의 신청)</a:t>
            </a:r>
            <a:endParaRPr lang="en-US" sz="1600" dirty="0"/>
          </a:p>
        </p:txBody>
      </p:sp>
      <p:sp>
        <p:nvSpPr>
          <p:cNvPr id="11" name="txt-133"/>
          <p:cNvSpPr txBox="1"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그래서 정보 세팅을 먼저 진행하고, 심의가 필요한 소식·광고는 병원 계정으로 심의를 받은 뒤 순차 게시합니다.</a:t>
            </a:r>
            <a:endParaRPr lang="en-US" sz="1500" dirty="0"/>
          </a:p>
        </p:txBody>
      </p:sp>
      <p:sp>
        <p:nvSpPr>
          <p:cNvPr id="12" name="txt-134"/>
          <p:cNvSpPr txBox="1"/>
          <p:nvPr/>
        </p:nvSpPr>
        <p:spPr>
          <a:xfrm>
            <a:off x="548640" y="6035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근거: 의료법 제56·57조, 대한의사협회 의료광고심의위원회 안내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4주 안에 세팅을 마치고 2개월차부터 월간 관리로 전환합니다</a:t>
            </a:r>
            <a:endParaRPr lang="en-US" sz="2800" dirty="0"/>
          </a:p>
        </p:txBody>
      </p:sp>
      <p:sp>
        <p:nvSpPr>
          <p:cNvPr id="3" name="line-135"/>
          <p:cNvSpPr/>
          <p:nvPr/>
        </p:nvSpPr>
        <p:spPr>
          <a:xfrm>
            <a:off x="822960" y="2926080"/>
            <a:ext cx="10545775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" name="node-136"/>
          <p:cNvSpPr/>
          <p:nvPr/>
        </p:nvSpPr>
        <p:spPr>
          <a:xfrm>
            <a:off x="1706842" y="2697480"/>
            <a:ext cx="457200" cy="457200"/>
          </a:xfrm>
          <a:prstGeom prst="ellipse">
            <a:avLst/>
          </a:prstGeom>
          <a:solidFill>
            <a:srgbClr val="2A7F7A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5" name="txt-137"/>
          <p:cNvSpPr txBox="1"/>
          <p:nvPr/>
        </p:nvSpPr>
        <p:spPr>
          <a:xfrm>
            <a:off x="655282" y="1737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1주차</a:t>
            </a:r>
            <a:endParaRPr lang="en-US" sz="1800" dirty="0"/>
          </a:p>
        </p:txBody>
      </p:sp>
      <p:sp>
        <p:nvSpPr>
          <p:cNvPr id="6" name="txt-138"/>
          <p:cNvSpPr txBox="1"/>
          <p:nvPr/>
        </p:nvSpPr>
        <p:spPr>
          <a:xfrm>
            <a:off x="655282" y="2148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현황 진단</a:t>
            </a:r>
            <a:endParaRPr lang="en-US" sz="1600" dirty="0"/>
          </a:p>
        </p:txBody>
      </p:sp>
      <p:sp>
        <p:nvSpPr>
          <p:cNvPr id="7" name="card-139"/>
          <p:cNvSpPr/>
          <p:nvPr/>
        </p:nvSpPr>
        <p:spPr>
          <a:xfrm>
            <a:off x="701002" y="3383280"/>
            <a:ext cx="246888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xt-140"/>
          <p:cNvSpPr txBox="1"/>
          <p:nvPr/>
        </p:nvSpPr>
        <p:spPr>
          <a:xfrm>
            <a:off x="883882" y="356616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3개 지도의 현재 정보·순위·리뷰 점검표 작성</a:t>
            </a:r>
            <a:endParaRPr lang="en-US" sz="1400" dirty="0"/>
          </a:p>
        </p:txBody>
      </p:sp>
      <p:sp>
        <p:nvSpPr>
          <p:cNvPr id="9" name="node-141"/>
          <p:cNvSpPr/>
          <p:nvPr/>
        </p:nvSpPr>
        <p:spPr>
          <a:xfrm>
            <a:off x="4480446" y="2697480"/>
            <a:ext cx="457200" cy="457200"/>
          </a:xfrm>
          <a:prstGeom prst="ellipse">
            <a:avLst/>
          </a:prstGeom>
          <a:solidFill>
            <a:srgbClr val="2A7F7A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0" name="txt-142"/>
          <p:cNvSpPr txBox="1"/>
          <p:nvPr/>
        </p:nvSpPr>
        <p:spPr>
          <a:xfrm>
            <a:off x="3428886" y="1737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2주차</a:t>
            </a:r>
            <a:endParaRPr lang="en-US" sz="1800" dirty="0"/>
          </a:p>
        </p:txBody>
      </p:sp>
      <p:sp>
        <p:nvSpPr>
          <p:cNvPr id="11" name="txt-143"/>
          <p:cNvSpPr txBox="1"/>
          <p:nvPr/>
        </p:nvSpPr>
        <p:spPr>
          <a:xfrm>
            <a:off x="3428886" y="2148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계정 확보</a:t>
            </a:r>
            <a:endParaRPr lang="en-US" sz="1600" dirty="0"/>
          </a:p>
        </p:txBody>
      </p:sp>
      <p:sp>
        <p:nvSpPr>
          <p:cNvPr id="12" name="card-144"/>
          <p:cNvSpPr/>
          <p:nvPr/>
        </p:nvSpPr>
        <p:spPr>
          <a:xfrm>
            <a:off x="3474606" y="3383280"/>
            <a:ext cx="246888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xt-145"/>
          <p:cNvSpPr txBox="1"/>
          <p:nvPr/>
        </p:nvSpPr>
        <p:spPr>
          <a:xfrm>
            <a:off x="3657486" y="356616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병원 명의 관리 권한 등록, 기준 정보표 확정</a:t>
            </a:r>
            <a:endParaRPr lang="en-US" sz="1400" dirty="0"/>
          </a:p>
        </p:txBody>
      </p:sp>
      <p:sp>
        <p:nvSpPr>
          <p:cNvPr id="14" name="node-146"/>
          <p:cNvSpPr/>
          <p:nvPr/>
        </p:nvSpPr>
        <p:spPr>
          <a:xfrm>
            <a:off x="7254050" y="2697480"/>
            <a:ext cx="457200" cy="457200"/>
          </a:xfrm>
          <a:prstGeom prst="ellipse">
            <a:avLst/>
          </a:prstGeom>
          <a:solidFill>
            <a:srgbClr val="2A7F7A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5" name="txt-147"/>
          <p:cNvSpPr txBox="1"/>
          <p:nvPr/>
        </p:nvSpPr>
        <p:spPr>
          <a:xfrm>
            <a:off x="6202490" y="1737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3–4주차</a:t>
            </a:r>
            <a:endParaRPr lang="en-US" sz="1800" dirty="0"/>
          </a:p>
        </p:txBody>
      </p:sp>
      <p:sp>
        <p:nvSpPr>
          <p:cNvPr id="16" name="txt-148"/>
          <p:cNvSpPr txBox="1"/>
          <p:nvPr/>
        </p:nvSpPr>
        <p:spPr>
          <a:xfrm>
            <a:off x="6202490" y="2148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세팅 완료</a:t>
            </a:r>
            <a:endParaRPr lang="en-US" sz="1600" dirty="0"/>
          </a:p>
        </p:txBody>
      </p:sp>
      <p:sp>
        <p:nvSpPr>
          <p:cNvPr id="17" name="card-149"/>
          <p:cNvSpPr/>
          <p:nvPr/>
        </p:nvSpPr>
        <p:spPr>
          <a:xfrm>
            <a:off x="6248210" y="3383280"/>
            <a:ext cx="246888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xt-150"/>
          <p:cNvSpPr txBox="1"/>
          <p:nvPr/>
        </p:nvSpPr>
        <p:spPr>
          <a:xfrm>
            <a:off x="6431090" y="356616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정보·사진·연결 정비, 오류 정보 수정 요청</a:t>
            </a:r>
            <a:endParaRPr lang="en-US" sz="1400" dirty="0"/>
          </a:p>
        </p:txBody>
      </p:sp>
      <p:sp>
        <p:nvSpPr>
          <p:cNvPr id="19" name="node-151"/>
          <p:cNvSpPr/>
          <p:nvPr/>
        </p:nvSpPr>
        <p:spPr>
          <a:xfrm>
            <a:off x="10027653" y="2697480"/>
            <a:ext cx="457200" cy="457200"/>
          </a:xfrm>
          <a:prstGeom prst="ellipse">
            <a:avLst/>
          </a:prstGeom>
          <a:solidFill>
            <a:srgbClr val="D9483B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0" name="txt-152"/>
          <p:cNvSpPr txBox="1"/>
          <p:nvPr/>
        </p:nvSpPr>
        <p:spPr>
          <a:xfrm>
            <a:off x="8976093" y="1737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2개월차~</a:t>
            </a:r>
            <a:endParaRPr lang="en-US" sz="1800" dirty="0"/>
          </a:p>
        </p:txBody>
      </p:sp>
      <p:sp>
        <p:nvSpPr>
          <p:cNvPr id="21" name="txt-153"/>
          <p:cNvSpPr txBox="1"/>
          <p:nvPr/>
        </p:nvSpPr>
        <p:spPr>
          <a:xfrm>
            <a:off x="8976093" y="2148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월간 관리</a:t>
            </a:r>
            <a:endParaRPr lang="en-US" sz="1600" dirty="0"/>
          </a:p>
        </p:txBody>
      </p:sp>
      <p:sp>
        <p:nvSpPr>
          <p:cNvPr id="22" name="card-154"/>
          <p:cNvSpPr/>
          <p:nvPr/>
        </p:nvSpPr>
        <p:spPr>
          <a:xfrm>
            <a:off x="9021813" y="3383280"/>
            <a:ext cx="246888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xt-155"/>
          <p:cNvSpPr txBox="1"/>
          <p:nvPr/>
        </p:nvSpPr>
        <p:spPr>
          <a:xfrm>
            <a:off x="9204693" y="356616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소식·리뷰 답글·정보 갱신, 월간 리포트</a:t>
            </a:r>
            <a:endParaRPr lang="en-US" sz="1400" dirty="0"/>
          </a:p>
        </p:txBody>
      </p:sp>
      <p:sp>
        <p:nvSpPr>
          <p:cNvPr id="24" name="txt-156"/>
          <p:cNvSpPr txBox="1"/>
          <p:nvPr/>
        </p:nvSpPr>
        <p:spPr>
          <a:xfrm>
            <a:off x="548640" y="52120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옵션(네이버 플레이스 리뷰)은 세팅이 끝난 3주차부터 함께 시작할 수 있습니다.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성과는 지도에서 일어나는 행동으로 매월 확인합니다</a:t>
            </a:r>
            <a:endParaRPr lang="en-US" sz="2800" dirty="0"/>
          </a:p>
        </p:txBody>
      </p:sp>
      <p:graphicFrame>
        <p:nvGraphicFramePr>
          <p:cNvPr id="13" name="table-1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486400"/>
                <a:gridCol w="341071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지표</a:t>
                      </a:r>
                      <a:endParaRPr lang="en-US" sz="15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무엇을 보나</a:t>
                      </a:r>
                      <a:endParaRPr lang="en-US" sz="15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측정 방법</a:t>
                      </a:r>
                      <a:endParaRPr lang="en-US" sz="15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노출 순위</a:t>
                      </a:r>
                      <a:endParaRPr lang="en-US" sz="14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‘예산 병원’, ‘예산 응급실’, ‘예산 검진’ 등 핵심 검색어의 지도 순위</a:t>
                      </a:r>
                      <a:endParaRPr lang="en-US" sz="14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세팅 전·후 화면 비교, 월 1회</a:t>
                      </a:r>
                      <a:endParaRPr lang="en-US" sz="14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전화·길찾기 수</a:t>
                      </a:r>
                      <a:endParaRPr lang="en-US" sz="14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지도에서 바로 전화를 걸거나 길찾기를 누른 횟수</a:t>
                      </a:r>
                      <a:endParaRPr lang="en-US" sz="14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스마트플레이스 통계 등 플랫폼 제공 통계</a:t>
                      </a:r>
                      <a:endParaRPr lang="en-US" sz="14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리뷰 수·내용</a:t>
                      </a:r>
                      <a:endParaRPr lang="en-US" sz="14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검진·응급·수술 등 진료 경험이 담긴 리뷰 증가</a:t>
                      </a:r>
                      <a:endParaRPr lang="en-US" sz="14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월별 리뷰 수와 주요 키워드</a:t>
                      </a:r>
                      <a:endParaRPr lang="en-US" sz="14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내원 경로</a:t>
                      </a:r>
                      <a:endParaRPr lang="en-US" sz="14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‘어떻게 알고 오셨나요’ 응답 중 지도·검색 비중</a:t>
                      </a:r>
                      <a:endParaRPr lang="en-US" sz="14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접수 시 간단 문항(병원 협조)</a:t>
                      </a:r>
                      <a:endParaRPr lang="en-US" sz="14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xt-158"/>
          <p:cNvSpPr txBox="1"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첫 리포트에서 세팅 전 기준값을 함께 드려, 이후 변화를 같은 기준으로 비교합니다.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시작을 위해 병원에서 준비해 주실 것</a:t>
            </a:r>
            <a:endParaRPr lang="en-US" sz="2800" dirty="0"/>
          </a:p>
        </p:txBody>
      </p:sp>
      <p:sp>
        <p:nvSpPr>
          <p:cNvPr id="3" name="card-159"/>
          <p:cNvSpPr/>
          <p:nvPr/>
        </p:nvSpPr>
        <p:spPr>
          <a:xfrm>
            <a:off x="548640" y="1508760"/>
            <a:ext cx="694944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-160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2A7F7A"/>
          </a:solidFill>
          <a:ln w="12700">
            <a:solidFill>
              <a:srgbClr val="2A7F7A"/>
            </a:solidFill>
            <a:prstDash val="solid"/>
          </a:ln>
        </p:spPr>
      </p:sp>
      <p:sp>
        <p:nvSpPr>
          <p:cNvPr id="5" name="txt-161"/>
          <p:cNvSpPr txBox="1"/>
          <p:nvPr/>
        </p:nvSpPr>
        <p:spPr>
          <a:xfrm>
            <a:off x="7772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xt-162"/>
          <p:cNvSpPr txBox="1"/>
          <p:nvPr/>
        </p:nvSpPr>
        <p:spPr>
          <a:xfrm>
            <a:off x="1417320" y="158191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사업자등록증·의료기관 개설허가증 사본</a:t>
            </a:r>
            <a:endParaRPr lang="en-US" sz="1600" dirty="0"/>
          </a:p>
        </p:txBody>
      </p:sp>
      <p:sp>
        <p:nvSpPr>
          <p:cNvPr id="7" name="txt-163"/>
          <p:cNvSpPr txBox="1"/>
          <p:nvPr/>
        </p:nvSpPr>
        <p:spPr>
          <a:xfrm>
            <a:off x="1417320" y="194767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카카오맵 등 지도 소유권 등록 심사용</a:t>
            </a:r>
            <a:endParaRPr lang="en-US" sz="1400" dirty="0"/>
          </a:p>
        </p:txBody>
      </p:sp>
      <p:sp>
        <p:nvSpPr>
          <p:cNvPr id="8" name="card-164"/>
          <p:cNvSpPr/>
          <p:nvPr/>
        </p:nvSpPr>
        <p:spPr>
          <a:xfrm>
            <a:off x="548640" y="2514600"/>
            <a:ext cx="694944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-165"/>
          <p:cNvSpPr/>
          <p:nvPr/>
        </p:nvSpPr>
        <p:spPr>
          <a:xfrm>
            <a:off x="777240" y="2697480"/>
            <a:ext cx="457200" cy="457200"/>
          </a:xfrm>
          <a:prstGeom prst="ellipse">
            <a:avLst/>
          </a:prstGeom>
          <a:solidFill>
            <a:srgbClr val="2A7F7A"/>
          </a:solidFill>
          <a:ln w="12700">
            <a:solidFill>
              <a:srgbClr val="2A7F7A"/>
            </a:solidFill>
            <a:prstDash val="solid"/>
          </a:ln>
        </p:spPr>
      </p:sp>
      <p:sp>
        <p:nvSpPr>
          <p:cNvPr id="10" name="txt-166"/>
          <p:cNvSpPr txBox="1"/>
          <p:nvPr/>
        </p:nvSpPr>
        <p:spPr>
          <a:xfrm>
            <a:off x="7772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xt-167"/>
          <p:cNvSpPr txBox="1"/>
          <p:nvPr/>
        </p:nvSpPr>
        <p:spPr>
          <a:xfrm>
            <a:off x="1417320" y="258775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지도 관리 권한 공유</a:t>
            </a:r>
            <a:endParaRPr lang="en-US" sz="1600" dirty="0"/>
          </a:p>
        </p:txBody>
      </p:sp>
      <p:sp>
        <p:nvSpPr>
          <p:cNvPr id="12" name="txt-168"/>
          <p:cNvSpPr txBox="1"/>
          <p:nvPr/>
        </p:nvSpPr>
        <p:spPr>
          <a:xfrm>
            <a:off x="1417320" y="295351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네이버 스마트플레이스·카카오비즈니스·티맵 장소 관리</a:t>
            </a:r>
            <a:endParaRPr lang="en-US" sz="1400" dirty="0"/>
          </a:p>
        </p:txBody>
      </p:sp>
      <p:sp>
        <p:nvSpPr>
          <p:cNvPr id="13" name="card-169"/>
          <p:cNvSpPr/>
          <p:nvPr/>
        </p:nvSpPr>
        <p:spPr>
          <a:xfrm>
            <a:off x="548640" y="3520440"/>
            <a:ext cx="694944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-170"/>
          <p:cNvSpPr/>
          <p:nvPr/>
        </p:nvSpPr>
        <p:spPr>
          <a:xfrm>
            <a:off x="777240" y="3703320"/>
            <a:ext cx="457200" cy="457200"/>
          </a:xfrm>
          <a:prstGeom prst="ellipse">
            <a:avLst/>
          </a:prstGeom>
          <a:solidFill>
            <a:srgbClr val="2A7F7A"/>
          </a:solidFill>
          <a:ln w="12700">
            <a:solidFill>
              <a:srgbClr val="2A7F7A"/>
            </a:solidFill>
            <a:prstDash val="solid"/>
          </a:ln>
        </p:spPr>
      </p:sp>
      <p:sp>
        <p:nvSpPr>
          <p:cNvPr id="15" name="txt-171"/>
          <p:cNvSpPr txBox="1"/>
          <p:nvPr/>
        </p:nvSpPr>
        <p:spPr>
          <a:xfrm>
            <a:off x="7772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xt-172"/>
          <p:cNvSpPr txBox="1"/>
          <p:nvPr/>
        </p:nvSpPr>
        <p:spPr>
          <a:xfrm>
            <a:off x="1417320" y="359359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의료광고 심의 신청 계정</a:t>
            </a:r>
            <a:endParaRPr lang="en-US" sz="1600" dirty="0"/>
          </a:p>
        </p:txBody>
      </p:sp>
      <p:sp>
        <p:nvSpPr>
          <p:cNvPr id="17" name="txt-173"/>
          <p:cNvSpPr txBox="1"/>
          <p:nvPr/>
        </p:nvSpPr>
        <p:spPr>
          <a:xfrm>
            <a:off x="1417320" y="395935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홍보 문구가 들어간 소식·광고의 사전심의용</a:t>
            </a:r>
            <a:endParaRPr lang="en-US" sz="1400" dirty="0"/>
          </a:p>
        </p:txBody>
      </p:sp>
      <p:sp>
        <p:nvSpPr>
          <p:cNvPr id="18" name="card-174"/>
          <p:cNvSpPr/>
          <p:nvPr/>
        </p:nvSpPr>
        <p:spPr>
          <a:xfrm>
            <a:off x="548640" y="4526280"/>
            <a:ext cx="694944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badge-175"/>
          <p:cNvSpPr/>
          <p:nvPr/>
        </p:nvSpPr>
        <p:spPr>
          <a:xfrm>
            <a:off x="777240" y="4709160"/>
            <a:ext cx="457200" cy="457200"/>
          </a:xfrm>
          <a:prstGeom prst="ellipse">
            <a:avLst/>
          </a:prstGeom>
          <a:solidFill>
            <a:srgbClr val="2A7F7A"/>
          </a:solidFill>
          <a:ln w="12700">
            <a:solidFill>
              <a:srgbClr val="2A7F7A"/>
            </a:solidFill>
            <a:prstDash val="solid"/>
          </a:ln>
        </p:spPr>
      </p:sp>
      <p:sp>
        <p:nvSpPr>
          <p:cNvPr id="20" name="txt-176"/>
          <p:cNvSpPr txBox="1"/>
          <p:nvPr/>
        </p:nvSpPr>
        <p:spPr>
          <a:xfrm>
            <a:off x="77724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xt-177"/>
          <p:cNvSpPr txBox="1"/>
          <p:nvPr/>
        </p:nvSpPr>
        <p:spPr>
          <a:xfrm>
            <a:off x="1417320" y="459943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기준 정보 확인</a:t>
            </a:r>
            <a:endParaRPr lang="en-US" sz="1600" dirty="0"/>
          </a:p>
        </p:txBody>
      </p:sp>
      <p:sp>
        <p:nvSpPr>
          <p:cNvPr id="22" name="txt-178"/>
          <p:cNvSpPr txBox="1"/>
          <p:nvPr/>
        </p:nvSpPr>
        <p:spPr>
          <a:xfrm>
            <a:off x="1417320" y="496519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진료시간, 응급실 운영, 검진 항목·문의처, 의료진 정보</a:t>
            </a:r>
            <a:endParaRPr lang="en-US" sz="1400" dirty="0"/>
          </a:p>
        </p:txBody>
      </p:sp>
      <p:sp>
        <p:nvSpPr>
          <p:cNvPr id="23" name="quote-179"/>
          <p:cNvSpPr/>
          <p:nvPr/>
        </p:nvSpPr>
        <p:spPr>
          <a:xfrm>
            <a:off x="7955280" y="1508760"/>
            <a:ext cx="3687775" cy="3840480"/>
          </a:xfrm>
          <a:prstGeom prst="roundRect">
            <a:avLst>
              <a:gd name="adj" fmla="val 297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txt-180"/>
          <p:cNvSpPr txBox="1"/>
          <p:nvPr/>
        </p:nvSpPr>
        <p:spPr>
          <a:xfrm>
            <a:off x="8275320" y="1783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비용 안내</a:t>
            </a:r>
            <a:endParaRPr lang="en-US" sz="2000" dirty="0"/>
          </a:p>
        </p:txBody>
      </p:sp>
      <p:sp>
        <p:nvSpPr>
          <p:cNvPr id="25" name="list-181"/>
          <p:cNvSpPr txBox="1"/>
          <p:nvPr/>
        </p:nvSpPr>
        <p:spPr>
          <a:xfrm>
            <a:off x="8275320" y="2377440"/>
            <a:ext cx="30476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기본: 3개 지도 세팅 + 월간 관리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옵션: 네이버 플레이스 리뷰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지도 정보 등록 자체는 무료이며, 비용은 세팅·관리 작업비입니다.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세부 금액은 별첨 견적서를 참고해 주십시오.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감사합니다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8404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다음 통화에서 범위와 일정을 확정하고 바로 현황 진단을 시작하겠습니다.</a:t>
            </a:r>
            <a:endParaRPr lang="en-US" sz="2000" dirty="0"/>
          </a:p>
        </p:txBody>
      </p:sp>
      <p:sp>
        <p:nvSpPr>
          <p:cNvPr id="4" name="txt-182"/>
          <p:cNvSpPr txBox="1"/>
          <p:nvPr/>
        </p:nvSpPr>
        <p:spPr>
          <a:xfrm>
            <a:off x="548640" y="5852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리드컴퍼니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Yesan Map Proposal">
  <a:themeElements>
    <a:clrScheme name="Yesan Map Proposal">
      <a:dk1>
        <a:srgbClr val="1F2A2E"/>
      </a:dk1>
      <a:lt1>
        <a:srgbClr val="FFFFFF"/>
      </a:lt1>
      <a:dk2>
        <a:srgbClr val="12343B"/>
      </a:dk2>
      <a:lt2>
        <a:srgbClr val="EEF4F3"/>
      </a:lt2>
      <a:accent1>
        <a:srgbClr val="2A7F7A"/>
      </a:accent1>
      <a:accent2>
        <a:srgbClr val="D9483B"/>
      </a:accent2>
      <a:accent3>
        <a:srgbClr val="03C75A"/>
      </a:accent3>
      <a:accent4>
        <a:srgbClr val="F2C200"/>
      </a:accent4>
      <a:accent5>
        <a:srgbClr val="3D6CE0"/>
      </a:accent5>
      <a:accent6>
        <a:srgbClr val="7A8B8F"/>
      </a:accent6>
      <a:hlink>
        <a:srgbClr val="2A7F7A"/>
      </a:hlink>
      <a:folHlink>
        <a:srgbClr val="12343B"/>
      </a:folHlink>
    </a:clrScheme>
    <a:fontScheme name="Yesan Map Proposal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리드컴퍼니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예산명지병원 지도 기반 로컬 마케팅 제안서</dc:title>
  <dc:subject>PptxGenJS Presentation</dc:subject>
  <dc:creator>리드컴퍼니</dc:creator>
  <cp:lastModifiedBy>리드컴퍼니</cp:lastModifiedBy>
  <cp:revision>1</cp:revision>
  <dcterms:created xsi:type="dcterms:W3CDTF">2026-10-14T04:10:48Z</dcterms:created>
  <dcterms:modified xsi:type="dcterms:W3CDTF">2026-10-14T04:10:48Z</dcterms:modified>
</cp:coreProperties>
</file>