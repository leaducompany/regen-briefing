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ce870d53-cc65-4777-d2d7-7913f0cf2f7d}">
          <p14:sldIdLst>
            <p14:sldId id="256"/>
          </p14:sldIdLst>
        </p14:section>
        <p14:section name="요약" id="{dd241576-b7e6-1fc2-e2bb-3c6c4405f5ce}">
          <p14:sldIdLst>
            <p14:sldId id="257"/>
          </p14:sldIdLst>
        </p14:section>
        <p14:section name="현황" id="{ba5bb383-e68c-5dc1-7d6c-ec8d05f526cb}">
          <p14:sldIdLst>
            <p14:sldId id="258"/>
            <p14:sldId id="259"/>
          </p14:sldIdLst>
        </p14:section>
        <p14:section name="전략" id="{3862ce0e-83fc-7e2c-d27f-fcaf0254cb1a}">
          <p14:sldIdLst>
            <p14:sldId id="260"/>
            <p14:sldId id="261"/>
          </p14:sldIdLst>
        </p14:section>
        <p14:section name="제안" id="{f18df642-06b4-a964-cecd-2ce6ca74789e}">
          <p14:sldIdLst>
            <p14:sldId id="262"/>
            <p14:sldId id="263"/>
            <p14:sldId id="264"/>
            <p14:sldId id="265"/>
          </p14:sldIdLst>
        </p14:section>
        <p14:section name="일정 · 비용" id="{17399688-6c7b-5d53-45b0-6ed52064f135}">
          <p14:sldIdLst>
            <p14:sldId id="266"/>
            <p14:sldId id="267"/>
            <p14:sldId id="268"/>
          </p14:sldIdLst>
        </p14:section>
        <p14:section name="진행 요청" id="{f6515063-e630-1a8f-5664-3097c65e15b6}">
          <p14:sldIdLst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3B40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F3B40"/>
                </a:solidFill>
                <a:latin typeface="+mn-lt"/>
              </a:rPr>
              <a:t>안드로이드 지도 앱 이용자 점유율 (2025.6, 중복 포함)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이용자 점유율</c:v>
                </c:pt>
              </c:strCache>
            </c:strRef>
          </c:tx>
          <c:spPr>
            <a:solidFill>
              <a:srgbClr val="03C75A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600" u="none">
                    <a:solidFill>
                      <a:srgbClr val="1C262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3C75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B6EF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C40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네이버지도</c:v>
                  </c:pt>
                  <c:pt idx="1">
                    <c:v>티맵</c:v>
                  </c:pt>
                  <c:pt idx="2">
                    <c:v>카카오맵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69.4</c:v>
                </c:pt>
                <c:pt idx="1">
                  <c:v>42.2</c:v>
                </c:pt>
                <c:pt idx="2">
                  <c:v>30.8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600" u="none">
                  <a:solidFill>
                    <a:srgbClr val="1C2629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1C262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694944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931920"/>
            <a:ext cx="69494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4190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예산명지병원 지도 기반 로컬 마케팅 제안  |  리드컴퍼니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6949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예산명지병원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지도 기반 로컬 마케팅 제안서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93192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네이버 플레이스 · 카카오맵 · 티맵 세팅 및 운영 관리</a:t>
            </a:r>
            <a:endParaRPr lang="en-US" sz="1800" dirty="0"/>
          </a:p>
        </p:txBody>
      </p:sp>
      <p:sp>
        <p:nvSpPr>
          <p:cNvPr id="4" name="txt-1"/>
          <p:cNvSpPr txBox="1"/>
          <p:nvPr/>
        </p:nvSpPr>
        <p:spPr>
          <a:xfrm>
            <a:off x="548640" y="5943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리드컴퍼니   |   2026. 10</a:t>
            </a:r>
            <a:endParaRPr lang="en-US" sz="1400" dirty="0"/>
          </a:p>
        </p:txBody>
      </p:sp>
      <p:sp>
        <p:nvSpPr>
          <p:cNvPr id="5" name="halo-2"/>
          <p:cNvSpPr/>
          <p:nvPr/>
        </p:nvSpPr>
        <p:spPr>
          <a:xfrm>
            <a:off x="8001000" y="1097280"/>
            <a:ext cx="3657600" cy="3657600"/>
          </a:xfrm>
          <a:prstGeom prst="ellipse">
            <a:avLst/>
          </a:prstGeom>
          <a:solidFill>
            <a:schemeClr val="accent1">
              <a:alpha val="30000"/>
            </a:schemeClr>
          </a:solidFill>
          <a:ln w="12700">
            <a:solidFill>
              <a:schemeClr val="accent1">
                <a:alpha val="30000"/>
              </a:schemeClr>
            </a:solidFill>
            <a:prstDash val="solid"/>
          </a:ln>
        </p:spPr>
      </p:sp>
      <p:sp>
        <p:nvSpPr>
          <p:cNvPr id="6" name="halo-3"/>
          <p:cNvSpPr/>
          <p:nvPr/>
        </p:nvSpPr>
        <p:spPr>
          <a:xfrm>
            <a:off x="8549640" y="1645920"/>
            <a:ext cx="2560320" cy="2560320"/>
          </a:xfrm>
          <a:prstGeom prst="ellipse">
            <a:avLst/>
          </a:prstGeom>
          <a:solidFill>
            <a:schemeClr val="accent1">
              <a:alpha val="60000"/>
            </a:schemeClr>
          </a:solidFill>
          <a:ln w="12700">
            <a:solidFill>
              <a:schemeClr val="accent1">
                <a:alpha val="60000"/>
              </a:schemeClr>
            </a:solidFill>
            <a:prstDash val="solid"/>
          </a:ln>
        </p:spPr>
      </p:sp>
      <p:pic>
        <p:nvPicPr>
          <p:cNvPr id="7" name="pin-4" descr="지도 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0" y="2103120"/>
            <a:ext cx="1097280" cy="1463040"/>
          </a:xfrm>
          <a:prstGeom prst="rect">
            <a:avLst/>
          </a:prstGeom>
        </p:spPr>
      </p:pic>
      <p:sp>
        <p:nvSpPr>
          <p:cNvPr id="8" name="chip-5"/>
          <p:cNvSpPr/>
          <p:nvPr/>
        </p:nvSpPr>
        <p:spPr>
          <a:xfrm>
            <a:off x="7726680" y="4160520"/>
            <a:ext cx="731520" cy="731520"/>
          </a:xfrm>
          <a:prstGeom prst="ellipse">
            <a:avLst/>
          </a:prstGeom>
          <a:solidFill>
            <a:srgbClr val="03C75A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9" name="txt-6"/>
          <p:cNvSpPr txBox="1"/>
          <p:nvPr/>
        </p:nvSpPr>
        <p:spPr>
          <a:xfrm>
            <a:off x="7726680" y="4160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N</a:t>
            </a:r>
            <a:endParaRPr lang="en-US" sz="2200" dirty="0"/>
          </a:p>
        </p:txBody>
      </p:sp>
      <p:sp>
        <p:nvSpPr>
          <p:cNvPr id="10" name="chip-7"/>
          <p:cNvSpPr/>
          <p:nvPr/>
        </p:nvSpPr>
        <p:spPr>
          <a:xfrm>
            <a:off x="9372600" y="4709160"/>
            <a:ext cx="731520" cy="731520"/>
          </a:xfrm>
          <a:prstGeom prst="ellipse">
            <a:avLst/>
          </a:prstGeom>
          <a:solidFill>
            <a:srgbClr val="F5C400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1" name="txt-8"/>
          <p:cNvSpPr txBox="1"/>
          <p:nvPr/>
        </p:nvSpPr>
        <p:spPr>
          <a:xfrm>
            <a:off x="9372600" y="4709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K</a:t>
            </a:r>
            <a:endParaRPr lang="en-US" sz="2200" dirty="0"/>
          </a:p>
        </p:txBody>
      </p:sp>
      <p:sp>
        <p:nvSpPr>
          <p:cNvPr id="12" name="chip-9"/>
          <p:cNvSpPr/>
          <p:nvPr/>
        </p:nvSpPr>
        <p:spPr>
          <a:xfrm>
            <a:off x="11018520" y="4160520"/>
            <a:ext cx="731520" cy="731520"/>
          </a:xfrm>
          <a:prstGeom prst="ellipse">
            <a:avLst/>
          </a:prstGeom>
          <a:solidFill>
            <a:srgbClr val="3B6EF0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3" name="txt-10"/>
          <p:cNvSpPr txBox="1"/>
          <p:nvPr/>
        </p:nvSpPr>
        <p:spPr>
          <a:xfrm>
            <a:off x="11018520" y="4160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T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제안 요약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환자가 병원을 찾는 지도 앱에서, 예산명지가 먼저 보이게 합니다</a:t>
            </a:r>
            <a:endParaRPr lang="en-US" sz="2800" dirty="0"/>
          </a:p>
        </p:txBody>
      </p:sp>
      <p:sp>
        <p:nvSpPr>
          <p:cNvPr id="4" name="box-11"/>
          <p:cNvSpPr/>
          <p:nvPr/>
        </p:nvSpPr>
        <p:spPr>
          <a:xfrm>
            <a:off x="548640" y="1600200"/>
            <a:ext cx="4663440" cy="4343400"/>
          </a:xfrm>
          <a:prstGeom prst="roundRect">
            <a:avLst>
              <a:gd name="adj" fmla="val 294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xt-12"/>
          <p:cNvSpPr txBox="1"/>
          <p:nvPr/>
        </p:nvSpPr>
        <p:spPr>
          <a:xfrm>
            <a:off x="960120" y="18745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2"/>
                </a:solidFill>
              </a:rPr>
              <a:t>기본 서비스</a:t>
            </a:r>
            <a:endParaRPr lang="en-US" sz="1600" dirty="0"/>
          </a:p>
        </p:txBody>
      </p:sp>
      <p:sp>
        <p:nvSpPr>
          <p:cNvPr id="6" name="txt-13"/>
          <p:cNvSpPr txBox="1"/>
          <p:nvPr/>
        </p:nvSpPr>
        <p:spPr>
          <a:xfrm>
            <a:off x="960120" y="224028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chemeClr val="bg1"/>
                </a:solidFill>
              </a:rPr>
              <a:t>0원</a:t>
            </a:r>
            <a:endParaRPr lang="en-US" sz="7200" dirty="0"/>
          </a:p>
        </p:txBody>
      </p:sp>
      <p:sp>
        <p:nvSpPr>
          <p:cNvPr id="7" name="txt-14"/>
          <p:cNvSpPr txBox="1"/>
          <p:nvPr/>
        </p:nvSpPr>
        <p:spPr>
          <a:xfrm>
            <a:off x="960120" y="361188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네이버 플레이스 · 카카오맵 · 티맵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3대 지도 세팅 및 월간 관리를 무료로 제공합니다.</a:t>
            </a:r>
            <a:endParaRPr lang="en-US" sz="1600" dirty="0"/>
          </a:p>
        </p:txBody>
      </p:sp>
      <p:sp>
        <p:nvSpPr>
          <p:cNvPr id="8" name="chip-15"/>
          <p:cNvSpPr/>
          <p:nvPr/>
        </p:nvSpPr>
        <p:spPr>
          <a:xfrm>
            <a:off x="960120" y="4937760"/>
            <a:ext cx="640080" cy="640080"/>
          </a:xfrm>
          <a:prstGeom prst="ellipse">
            <a:avLst/>
          </a:prstGeom>
          <a:solidFill>
            <a:srgbClr val="03C75A"/>
          </a:solidFill>
          <a:ln w="12700">
            <a:solidFill>
              <a:srgbClr val="03C75A"/>
            </a:solidFill>
            <a:prstDash val="solid"/>
          </a:ln>
        </p:spPr>
      </p:sp>
      <p:sp>
        <p:nvSpPr>
          <p:cNvPr id="9" name="txt-16"/>
          <p:cNvSpPr txBox="1"/>
          <p:nvPr/>
        </p:nvSpPr>
        <p:spPr>
          <a:xfrm>
            <a:off x="960120" y="4937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N</a:t>
            </a:r>
            <a:endParaRPr lang="en-US" sz="1800" dirty="0"/>
          </a:p>
        </p:txBody>
      </p:sp>
      <p:sp>
        <p:nvSpPr>
          <p:cNvPr id="10" name="chip-17"/>
          <p:cNvSpPr/>
          <p:nvPr/>
        </p:nvSpPr>
        <p:spPr>
          <a:xfrm>
            <a:off x="1828800" y="4937760"/>
            <a:ext cx="640080" cy="640080"/>
          </a:xfrm>
          <a:prstGeom prst="ellipse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11" name="txt-18"/>
          <p:cNvSpPr txBox="1"/>
          <p:nvPr/>
        </p:nvSpPr>
        <p:spPr>
          <a:xfrm>
            <a:off x="1828800" y="4937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K</a:t>
            </a:r>
            <a:endParaRPr lang="en-US" sz="1800" dirty="0"/>
          </a:p>
        </p:txBody>
      </p:sp>
      <p:sp>
        <p:nvSpPr>
          <p:cNvPr id="12" name="chip-19"/>
          <p:cNvSpPr/>
          <p:nvPr/>
        </p:nvSpPr>
        <p:spPr>
          <a:xfrm>
            <a:off x="2697480" y="4937760"/>
            <a:ext cx="640080" cy="640080"/>
          </a:xfrm>
          <a:prstGeom prst="ellipse">
            <a:avLst/>
          </a:prstGeom>
          <a:solidFill>
            <a:srgbClr val="3B6EF0"/>
          </a:solidFill>
          <a:ln w="12700">
            <a:solidFill>
              <a:srgbClr val="3B6EF0"/>
            </a:solidFill>
            <a:prstDash val="solid"/>
          </a:ln>
        </p:spPr>
      </p:sp>
      <p:sp>
        <p:nvSpPr>
          <p:cNvPr id="13" name="txt-20"/>
          <p:cNvSpPr txBox="1"/>
          <p:nvPr/>
        </p:nvSpPr>
        <p:spPr>
          <a:xfrm>
            <a:off x="2697480" y="4937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</a:t>
            </a:r>
            <a:endParaRPr lang="en-US" sz="1800" dirty="0"/>
          </a:p>
        </p:txBody>
      </p:sp>
      <p:sp>
        <p:nvSpPr>
          <p:cNvPr id="14" name="ic-bg-21"/>
          <p:cNvSpPr/>
          <p:nvPr/>
        </p:nvSpPr>
        <p:spPr>
          <a:xfrm>
            <a:off x="5760720" y="1783080"/>
            <a:ext cx="777240" cy="77724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15" name="ic-22" descr="FaMapMarkerA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5030" y="1977390"/>
            <a:ext cx="388620" cy="388620"/>
          </a:xfrm>
          <a:prstGeom prst="rect">
            <a:avLst/>
          </a:prstGeom>
        </p:spPr>
      </p:pic>
      <p:sp>
        <p:nvSpPr>
          <p:cNvPr id="16" name="txt-23"/>
          <p:cNvSpPr txBox="1"/>
          <p:nvPr/>
        </p:nvSpPr>
        <p:spPr>
          <a:xfrm>
            <a:off x="6812280" y="1737360"/>
            <a:ext cx="4830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3대 지도 세팅</a:t>
            </a:r>
            <a:endParaRPr lang="en-US" sz="1900" dirty="0"/>
          </a:p>
        </p:txBody>
      </p:sp>
      <p:sp>
        <p:nvSpPr>
          <p:cNvPr id="17" name="txt-24"/>
          <p:cNvSpPr txBox="1"/>
          <p:nvPr/>
        </p:nvSpPr>
        <p:spPr>
          <a:xfrm>
            <a:off x="6812280" y="2194560"/>
            <a:ext cx="4830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진료과·진료시간·24시간 응급·위치·사진을 세 지도에 똑같이, 정확하게 정비</a:t>
            </a:r>
            <a:endParaRPr lang="en-US" sz="1500" dirty="0"/>
          </a:p>
        </p:txBody>
      </p:sp>
      <p:sp>
        <p:nvSpPr>
          <p:cNvPr id="18" name="ic-bg-25"/>
          <p:cNvSpPr/>
          <p:nvPr/>
        </p:nvSpPr>
        <p:spPr>
          <a:xfrm>
            <a:off x="5760720" y="3246120"/>
            <a:ext cx="777240" cy="77724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19" name="ic-26" descr="FaSyncAl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5030" y="3440430"/>
            <a:ext cx="388620" cy="388620"/>
          </a:xfrm>
          <a:prstGeom prst="rect">
            <a:avLst/>
          </a:prstGeom>
        </p:spPr>
      </p:pic>
      <p:sp>
        <p:nvSpPr>
          <p:cNvPr id="20" name="txt-27"/>
          <p:cNvSpPr txBox="1"/>
          <p:nvPr/>
        </p:nvSpPr>
        <p:spPr>
          <a:xfrm>
            <a:off x="6812280" y="3200400"/>
            <a:ext cx="4830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월간 운영 관리</a:t>
            </a:r>
            <a:endParaRPr lang="en-US" sz="1900" dirty="0"/>
          </a:p>
        </p:txBody>
      </p:sp>
      <p:sp>
        <p:nvSpPr>
          <p:cNvPr id="21" name="txt-28"/>
          <p:cNvSpPr txBox="1"/>
          <p:nvPr/>
        </p:nvSpPr>
        <p:spPr>
          <a:xfrm>
            <a:off x="6812280" y="3657600"/>
            <a:ext cx="4830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정보 갱신, 소식 발행, 리뷰 답글, 월간 성과 리포트</a:t>
            </a:r>
            <a:endParaRPr lang="en-US" sz="1500" dirty="0"/>
          </a:p>
        </p:txBody>
      </p:sp>
      <p:sp>
        <p:nvSpPr>
          <p:cNvPr id="22" name="ic-bg-29"/>
          <p:cNvSpPr/>
          <p:nvPr/>
        </p:nvSpPr>
        <p:spPr>
          <a:xfrm>
            <a:off x="5760720" y="4709160"/>
            <a:ext cx="777240" cy="777240"/>
          </a:xfrm>
          <a:prstGeom prst="ellipse">
            <a:avLst/>
          </a:prstGeom>
          <a:solidFill>
            <a:srgbClr val="E2563B"/>
          </a:solidFill>
          <a:ln w="12700">
            <a:solidFill>
              <a:srgbClr val="E2563B"/>
            </a:solidFill>
            <a:prstDash val="solid"/>
          </a:ln>
        </p:spPr>
      </p:sp>
      <p:pic>
        <p:nvPicPr>
          <p:cNvPr id="23" name="ic-30" descr="FaSta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5030" y="4903470"/>
            <a:ext cx="388620" cy="388620"/>
          </a:xfrm>
          <a:prstGeom prst="rect">
            <a:avLst/>
          </a:prstGeom>
        </p:spPr>
      </p:pic>
      <p:sp>
        <p:nvSpPr>
          <p:cNvPr id="24" name="txt-31"/>
          <p:cNvSpPr txBox="1"/>
          <p:nvPr/>
        </p:nvSpPr>
        <p:spPr>
          <a:xfrm>
            <a:off x="6812280" y="4663440"/>
            <a:ext cx="4830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선택 옵션 · 리뷰</a:t>
            </a:r>
            <a:endParaRPr lang="en-US" sz="1900" dirty="0"/>
          </a:p>
        </p:txBody>
      </p:sp>
      <p:sp>
        <p:nvSpPr>
          <p:cNvPr id="25" name="txt-32"/>
          <p:cNvSpPr txBox="1"/>
          <p:nvPr/>
        </p:nvSpPr>
        <p:spPr>
          <a:xfrm>
            <a:off x="6812280" y="5120640"/>
            <a:ext cx="4830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필요 시 네이버 플레이스 영수증 리뷰 참여 활성화로 타깃 검색 강화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지역 현황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예산에서는 주민 · 근로자 · 관광객 세 집단이 병원을 찾습니다</a:t>
            </a:r>
            <a:endParaRPr lang="en-US" sz="2800" dirty="0"/>
          </a:p>
        </p:txBody>
      </p:sp>
      <p:sp>
        <p:nvSpPr>
          <p:cNvPr id="4" name="box-33"/>
          <p:cNvSpPr/>
          <p:nvPr/>
        </p:nvSpPr>
        <p:spPr>
          <a:xfrm>
            <a:off x="548640" y="1645920"/>
            <a:ext cx="2567864" cy="3383280"/>
          </a:xfrm>
          <a:prstGeom prst="roundRect">
            <a:avLst>
              <a:gd name="adj" fmla="val 49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ic-bg-34"/>
          <p:cNvSpPr/>
          <p:nvPr/>
        </p:nvSpPr>
        <p:spPr>
          <a:xfrm>
            <a:off x="868680" y="1920240"/>
            <a:ext cx="685800" cy="68580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6" name="ic-35" descr="FaHo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130" y="2091690"/>
            <a:ext cx="342900" cy="342900"/>
          </a:xfrm>
          <a:prstGeom prst="rect">
            <a:avLst/>
          </a:prstGeom>
        </p:spPr>
      </p:pic>
      <p:sp>
        <p:nvSpPr>
          <p:cNvPr id="7" name="txt-36"/>
          <p:cNvSpPr txBox="1"/>
          <p:nvPr/>
        </p:nvSpPr>
        <p:spPr>
          <a:xfrm>
            <a:off x="868680" y="278892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78,318명</a:t>
            </a:r>
            <a:endParaRPr lang="en-US" sz="3000" dirty="0"/>
          </a:p>
        </p:txBody>
      </p:sp>
      <p:sp>
        <p:nvSpPr>
          <p:cNvPr id="8" name="txt-37"/>
          <p:cNvSpPr txBox="1"/>
          <p:nvPr/>
        </p:nvSpPr>
        <p:spPr>
          <a:xfrm>
            <a:off x="868680" y="3520440"/>
            <a:ext cx="201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예산군 인구</a:t>
            </a:r>
            <a:endParaRPr lang="en-US" sz="1500" dirty="0"/>
          </a:p>
        </p:txBody>
      </p:sp>
      <p:sp>
        <p:nvSpPr>
          <p:cNvPr id="9" name="txt-38"/>
          <p:cNvSpPr txBox="1"/>
          <p:nvPr/>
        </p:nvSpPr>
        <p:spPr>
          <a:xfrm>
            <a:off x="868680" y="3931920"/>
            <a:ext cx="2019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65세 이상 36.7% (2026.6)</a:t>
            </a:r>
            <a:endParaRPr lang="en-US" sz="1400" dirty="0"/>
          </a:p>
        </p:txBody>
      </p:sp>
      <p:sp>
        <p:nvSpPr>
          <p:cNvPr id="10" name="box-39"/>
          <p:cNvSpPr/>
          <p:nvPr/>
        </p:nvSpPr>
        <p:spPr>
          <a:xfrm>
            <a:off x="3390824" y="1645920"/>
            <a:ext cx="2567864" cy="3383280"/>
          </a:xfrm>
          <a:prstGeom prst="roundRect">
            <a:avLst>
              <a:gd name="adj" fmla="val 49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ic-bg-40"/>
          <p:cNvSpPr/>
          <p:nvPr/>
        </p:nvSpPr>
        <p:spPr>
          <a:xfrm>
            <a:off x="3710864" y="1920240"/>
            <a:ext cx="685800" cy="685800"/>
          </a:xfrm>
          <a:prstGeom prst="ellipse">
            <a:avLst/>
          </a:prstGeom>
          <a:solidFill>
            <a:srgbClr val="E2563B"/>
          </a:solidFill>
          <a:ln w="12700">
            <a:solidFill>
              <a:srgbClr val="E2563B"/>
            </a:solidFill>
            <a:prstDash val="solid"/>
          </a:ln>
        </p:spPr>
      </p:sp>
      <p:pic>
        <p:nvPicPr>
          <p:cNvPr id="12" name="ic-41" descr="FaIndustr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2314" y="2091690"/>
            <a:ext cx="342900" cy="342900"/>
          </a:xfrm>
          <a:prstGeom prst="rect">
            <a:avLst/>
          </a:prstGeom>
        </p:spPr>
      </p:pic>
      <p:sp>
        <p:nvSpPr>
          <p:cNvPr id="13" name="txt-42"/>
          <p:cNvSpPr txBox="1"/>
          <p:nvPr/>
        </p:nvSpPr>
        <p:spPr>
          <a:xfrm>
            <a:off x="3710864" y="278892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81개 기업</a:t>
            </a:r>
            <a:endParaRPr lang="en-US" sz="3000" dirty="0"/>
          </a:p>
        </p:txBody>
      </p:sp>
      <p:sp>
        <p:nvSpPr>
          <p:cNvPr id="14" name="txt-43"/>
          <p:cNvSpPr txBox="1"/>
          <p:nvPr/>
        </p:nvSpPr>
        <p:spPr>
          <a:xfrm>
            <a:off x="3710864" y="3520440"/>
            <a:ext cx="201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민선8기 유치 기업</a:t>
            </a:r>
            <a:endParaRPr lang="en-US" sz="1500" dirty="0"/>
          </a:p>
        </p:txBody>
      </p:sp>
      <p:sp>
        <p:nvSpPr>
          <p:cNvPr id="15" name="txt-44"/>
          <p:cNvSpPr txBox="1"/>
          <p:nvPr/>
        </p:nvSpPr>
        <p:spPr>
          <a:xfrm>
            <a:off x="3710864" y="3931920"/>
            <a:ext cx="2019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일자리 1,489개, 산업단지 4곳 조성·확장</a:t>
            </a:r>
            <a:endParaRPr lang="en-US" sz="1400" dirty="0"/>
          </a:p>
        </p:txBody>
      </p:sp>
      <p:sp>
        <p:nvSpPr>
          <p:cNvPr id="16" name="box-45"/>
          <p:cNvSpPr/>
          <p:nvPr/>
        </p:nvSpPr>
        <p:spPr>
          <a:xfrm>
            <a:off x="6233008" y="1645920"/>
            <a:ext cx="2567864" cy="3383280"/>
          </a:xfrm>
          <a:prstGeom prst="roundRect">
            <a:avLst>
              <a:gd name="adj" fmla="val 49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ic-bg-46"/>
          <p:cNvSpPr/>
          <p:nvPr/>
        </p:nvSpPr>
        <p:spPr>
          <a:xfrm>
            <a:off x="6553048" y="1920240"/>
            <a:ext cx="685800" cy="685800"/>
          </a:xfrm>
          <a:prstGeom prst="ellipse">
            <a:avLst/>
          </a:prstGeom>
          <a:solidFill>
            <a:srgbClr val="3B6EF0"/>
          </a:solidFill>
          <a:ln w="12700">
            <a:solidFill>
              <a:srgbClr val="3B6EF0"/>
            </a:solidFill>
            <a:prstDash val="solid"/>
          </a:ln>
        </p:spPr>
      </p:sp>
      <p:pic>
        <p:nvPicPr>
          <p:cNvPr id="18" name="ic-47" descr="FaCa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4498" y="2091690"/>
            <a:ext cx="342900" cy="342900"/>
          </a:xfrm>
          <a:prstGeom prst="rect">
            <a:avLst/>
          </a:prstGeom>
        </p:spPr>
      </p:pic>
      <p:sp>
        <p:nvSpPr>
          <p:cNvPr id="19" name="txt-48"/>
          <p:cNvSpPr txBox="1"/>
          <p:nvPr/>
        </p:nvSpPr>
        <p:spPr>
          <a:xfrm>
            <a:off x="6553048" y="278892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1,000만 명</a:t>
            </a:r>
            <a:endParaRPr lang="en-US" sz="3000" dirty="0"/>
          </a:p>
        </p:txBody>
      </p:sp>
      <p:sp>
        <p:nvSpPr>
          <p:cNvPr id="20" name="txt-49"/>
          <p:cNvSpPr txBox="1"/>
          <p:nvPr/>
        </p:nvSpPr>
        <p:spPr>
          <a:xfrm>
            <a:off x="6553048" y="3520440"/>
            <a:ext cx="201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예당호 출렁다리 누적</a:t>
            </a:r>
            <a:endParaRPr lang="en-US" sz="1500" dirty="0"/>
          </a:p>
        </p:txBody>
      </p:sp>
      <p:sp>
        <p:nvSpPr>
          <p:cNvPr id="21" name="txt-50"/>
          <p:cNvSpPr txBox="1"/>
          <p:nvPr/>
        </p:nvSpPr>
        <p:spPr>
          <a:xfrm>
            <a:off x="6553048" y="3931920"/>
            <a:ext cx="2019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2026.6 돌파, 연 100만–200만 명</a:t>
            </a:r>
            <a:endParaRPr lang="en-US" sz="1400" dirty="0"/>
          </a:p>
        </p:txBody>
      </p:sp>
      <p:sp>
        <p:nvSpPr>
          <p:cNvPr id="22" name="box-51"/>
          <p:cNvSpPr/>
          <p:nvPr/>
        </p:nvSpPr>
        <p:spPr>
          <a:xfrm>
            <a:off x="9075191" y="1645920"/>
            <a:ext cx="2567864" cy="3383280"/>
          </a:xfrm>
          <a:prstGeom prst="roundRect">
            <a:avLst>
              <a:gd name="adj" fmla="val 49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ic-bg-52"/>
          <p:cNvSpPr/>
          <p:nvPr/>
        </p:nvSpPr>
        <p:spPr>
          <a:xfrm>
            <a:off x="9395231" y="1920240"/>
            <a:ext cx="685800" cy="68580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24" name="ic-53" descr="FaUser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6681" y="2091690"/>
            <a:ext cx="342900" cy="342900"/>
          </a:xfrm>
          <a:prstGeom prst="rect">
            <a:avLst/>
          </a:prstGeom>
        </p:spPr>
      </p:pic>
      <p:sp>
        <p:nvSpPr>
          <p:cNvPr id="25" name="txt-54"/>
          <p:cNvSpPr txBox="1"/>
          <p:nvPr/>
        </p:nvSpPr>
        <p:spPr>
          <a:xfrm>
            <a:off x="9395231" y="278892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600만 명</a:t>
            </a:r>
            <a:endParaRPr lang="en-US" sz="3000" dirty="0"/>
          </a:p>
        </p:txBody>
      </p:sp>
      <p:sp>
        <p:nvSpPr>
          <p:cNvPr id="26" name="txt-55"/>
          <p:cNvSpPr txBox="1"/>
          <p:nvPr/>
        </p:nvSpPr>
        <p:spPr>
          <a:xfrm>
            <a:off x="9395231" y="3520440"/>
            <a:ext cx="201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예산시장 방문객</a:t>
            </a:r>
            <a:endParaRPr lang="en-US" sz="1500" dirty="0"/>
          </a:p>
        </p:txBody>
      </p:sp>
      <p:sp>
        <p:nvSpPr>
          <p:cNvPr id="27" name="txt-56"/>
          <p:cNvSpPr txBox="1"/>
          <p:nvPr/>
        </p:nvSpPr>
        <p:spPr>
          <a:xfrm>
            <a:off x="9395231" y="3931920"/>
            <a:ext cx="2019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2023.1 재개장 후 2024.6까지</a:t>
            </a:r>
            <a:endParaRPr lang="en-US" sz="1400" dirty="0"/>
          </a:p>
        </p:txBody>
      </p:sp>
      <p:sp>
        <p:nvSpPr>
          <p:cNvPr id="28" name="txt-57"/>
          <p:cNvSpPr txBox="1"/>
          <p:nvPr/>
        </p:nvSpPr>
        <p:spPr>
          <a:xfrm>
            <a:off x="548640" y="52578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세 집단 모두 처음 찾는 병원은 스마트폰 지도 앱에서 고릅니다. 지역 밖에서 오는 근로자·관광객일수록 지도 정보가 곧 병원의 첫인상입니다.</a:t>
            </a:r>
            <a:endParaRPr lang="en-US" sz="1600" dirty="0"/>
          </a:p>
        </p:txBody>
      </p:sp>
      <p:sp>
        <p:nvSpPr>
          <p:cNvPr id="29" name="txt-58"/>
          <p:cNvSpPr txBox="1"/>
          <p:nvPr/>
        </p:nvSpPr>
        <p:spPr>
          <a:xfrm>
            <a:off x="548640" y="605332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출처: 행정안전부 주민등록 인구통계(k-calc 집계), 예산군 발표(뉴스프리존 2026.7 / 2026.6), 서울신문(2025.4)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지도 앱 이용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지도 앱 이용은 네이버 · 티맵 · 카카오맵 세 곳에 모여 있습니다</a:t>
            </a:r>
            <a:endParaRPr lang="en-US" sz="2800" dirty="0"/>
          </a:p>
        </p:txBody>
      </p:sp>
      <p:sp>
        <p:nvSpPr>
          <p:cNvPr id="4" name="box-59"/>
          <p:cNvSpPr/>
          <p:nvPr/>
        </p:nvSpPr>
        <p:spPr>
          <a:xfrm>
            <a:off x="548640" y="1554480"/>
            <a:ext cx="6400800" cy="4343400"/>
          </a:xfrm>
          <a:prstGeom prst="roundRect">
            <a:avLst>
              <a:gd name="adj" fmla="val 29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graphicFrame>
        <p:nvGraphicFramePr>
          <p:cNvPr id="5" name="chart-60" descr=""/>
          <p:cNvGraphicFramePr/>
          <p:nvPr/>
        </p:nvGraphicFramePr>
        <p:xfrm>
          <a:off x="731520" y="1691640"/>
          <a:ext cx="603504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chip-61"/>
          <p:cNvSpPr/>
          <p:nvPr/>
        </p:nvSpPr>
        <p:spPr>
          <a:xfrm>
            <a:off x="7269480" y="1645920"/>
            <a:ext cx="548640" cy="548640"/>
          </a:xfrm>
          <a:prstGeom prst="ellipse">
            <a:avLst/>
          </a:prstGeom>
          <a:solidFill>
            <a:srgbClr val="03C75A"/>
          </a:solidFill>
          <a:ln w="12700">
            <a:solidFill>
              <a:srgbClr val="03C75A"/>
            </a:solidFill>
            <a:prstDash val="solid"/>
          </a:ln>
        </p:spPr>
      </p:sp>
      <p:sp>
        <p:nvSpPr>
          <p:cNvPr id="7" name="txt-62"/>
          <p:cNvSpPr txBox="1"/>
          <p:nvPr/>
        </p:nvSpPr>
        <p:spPr>
          <a:xfrm>
            <a:off x="726948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N</a:t>
            </a:r>
            <a:endParaRPr lang="en-US" sz="1500" dirty="0"/>
          </a:p>
        </p:txBody>
      </p:sp>
      <p:sp>
        <p:nvSpPr>
          <p:cNvPr id="8" name="txt-63"/>
          <p:cNvSpPr txBox="1"/>
          <p:nvPr/>
        </p:nvSpPr>
        <p:spPr>
          <a:xfrm>
            <a:off x="8001000" y="16916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네이버 플레이스</a:t>
            </a:r>
            <a:endParaRPr lang="en-US" sz="1800" dirty="0"/>
          </a:p>
        </p:txBody>
      </p:sp>
      <p:sp>
        <p:nvSpPr>
          <p:cNvPr id="9" name="txt-64"/>
          <p:cNvSpPr txBox="1"/>
          <p:nvPr/>
        </p:nvSpPr>
        <p:spPr>
          <a:xfrm>
            <a:off x="8001000" y="21488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검색과 지도가 한 화면. 주민·근로자·검진 담당자의 기본 채널</a:t>
            </a:r>
            <a:endParaRPr lang="en-US" sz="1400" dirty="0"/>
          </a:p>
        </p:txBody>
      </p:sp>
      <p:sp>
        <p:nvSpPr>
          <p:cNvPr id="10" name="chip-65"/>
          <p:cNvSpPr/>
          <p:nvPr/>
        </p:nvSpPr>
        <p:spPr>
          <a:xfrm>
            <a:off x="7269480" y="3063240"/>
            <a:ext cx="548640" cy="548640"/>
          </a:xfrm>
          <a:prstGeom prst="ellipse">
            <a:avLst/>
          </a:prstGeom>
          <a:solidFill>
            <a:srgbClr val="3B6EF0"/>
          </a:solidFill>
          <a:ln w="12700">
            <a:solidFill>
              <a:srgbClr val="3B6EF0"/>
            </a:solidFill>
            <a:prstDash val="solid"/>
          </a:ln>
        </p:spPr>
      </p:sp>
      <p:sp>
        <p:nvSpPr>
          <p:cNvPr id="11" name="txt-66"/>
          <p:cNvSpPr txBox="1"/>
          <p:nvPr/>
        </p:nvSpPr>
        <p:spPr>
          <a:xfrm>
            <a:off x="7269480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</a:t>
            </a:r>
            <a:endParaRPr lang="en-US" sz="1500" dirty="0"/>
          </a:p>
        </p:txBody>
      </p:sp>
      <p:sp>
        <p:nvSpPr>
          <p:cNvPr id="12" name="txt-67"/>
          <p:cNvSpPr txBox="1"/>
          <p:nvPr/>
        </p:nvSpPr>
        <p:spPr>
          <a:xfrm>
            <a:off x="8001000" y="31089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티맵</a:t>
            </a:r>
            <a:endParaRPr lang="en-US" sz="1800" dirty="0"/>
          </a:p>
        </p:txBody>
      </p:sp>
      <p:sp>
        <p:nvSpPr>
          <p:cNvPr id="13" name="txt-68"/>
          <p:cNvSpPr txBox="1"/>
          <p:nvPr/>
        </p:nvSpPr>
        <p:spPr>
          <a:xfrm>
            <a:off x="8001000" y="35661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운전자 중심. 차로 오는 관광객·타지역 환자가 목적지를 찍는 곳</a:t>
            </a:r>
            <a:endParaRPr lang="en-US" sz="1400" dirty="0"/>
          </a:p>
        </p:txBody>
      </p:sp>
      <p:sp>
        <p:nvSpPr>
          <p:cNvPr id="14" name="chip-69"/>
          <p:cNvSpPr/>
          <p:nvPr/>
        </p:nvSpPr>
        <p:spPr>
          <a:xfrm>
            <a:off x="7269480" y="4480560"/>
            <a:ext cx="548640" cy="548640"/>
          </a:xfrm>
          <a:prstGeom prst="ellipse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15" name="txt-70"/>
          <p:cNvSpPr txBox="1"/>
          <p:nvPr/>
        </p:nvSpPr>
        <p:spPr>
          <a:xfrm>
            <a:off x="7269480" y="4480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K</a:t>
            </a:r>
            <a:endParaRPr lang="en-US" sz="1500" dirty="0"/>
          </a:p>
        </p:txBody>
      </p:sp>
      <p:sp>
        <p:nvSpPr>
          <p:cNvPr id="16" name="txt-71"/>
          <p:cNvSpPr txBox="1"/>
          <p:nvPr/>
        </p:nvSpPr>
        <p:spPr>
          <a:xfrm>
            <a:off x="8001000" y="45262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카카오맵</a:t>
            </a:r>
            <a:endParaRPr lang="en-US" sz="1800" dirty="0"/>
          </a:p>
        </p:txBody>
      </p:sp>
      <p:sp>
        <p:nvSpPr>
          <p:cNvPr id="17" name="txt-72"/>
          <p:cNvSpPr txBox="1"/>
          <p:nvPr/>
        </p:nvSpPr>
        <p:spPr>
          <a:xfrm>
            <a:off x="8001000" y="49834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카카오톡과 연결. 내포신도시 젊은 가구, 카톡 채널 상담</a:t>
            </a:r>
            <a:endParaRPr lang="en-US" sz="1400" dirty="0"/>
          </a:p>
        </p:txBody>
      </p:sp>
      <p:sp>
        <p:nvSpPr>
          <p:cNvPr id="18" name="txt-73"/>
          <p:cNvSpPr txBox="1"/>
          <p:nvPr/>
        </p:nvSpPr>
        <p:spPr>
          <a:xfrm>
            <a:off x="548640" y="605332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출처: 모바일인덱스(포인트데일리 2025.7). 월간 사용자 네이버지도 2,880만·카카오맵 1,256만(모바일인덱스, 전자신문 2026.2)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예산명지의 강점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지도에 보여줘야 할 강점은 세 가지입니다</a:t>
            </a:r>
            <a:endParaRPr lang="en-US" sz="2800" dirty="0"/>
          </a:p>
        </p:txBody>
      </p:sp>
      <p:sp>
        <p:nvSpPr>
          <p:cNvPr id="4" name="box-74"/>
          <p:cNvSpPr/>
          <p:nvPr/>
        </p:nvSpPr>
        <p:spPr>
          <a:xfrm>
            <a:off x="548640" y="1645920"/>
            <a:ext cx="3454298" cy="4114800"/>
          </a:xfrm>
          <a:prstGeom prst="roundRect">
            <a:avLst>
              <a:gd name="adj" fmla="val 37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0">
                <a:alpha val="12000"/>
              </a:srgbClr>
            </a:outerShdw>
          </a:effectLst>
        </p:spPr>
      </p:sp>
      <p:sp>
        <p:nvSpPr>
          <p:cNvPr id="5" name="ic-bg-75"/>
          <p:cNvSpPr/>
          <p:nvPr/>
        </p:nvSpPr>
        <p:spPr>
          <a:xfrm>
            <a:off x="1727149" y="2011680"/>
            <a:ext cx="1097280" cy="109728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6" name="ic-76" descr="FaUserM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1469" y="2286000"/>
            <a:ext cx="548640" cy="548640"/>
          </a:xfrm>
          <a:prstGeom prst="rect">
            <a:avLst/>
          </a:prstGeom>
        </p:spPr>
      </p:pic>
      <p:sp>
        <p:nvSpPr>
          <p:cNvPr id="7" name="txt-77"/>
          <p:cNvSpPr txBox="1"/>
          <p:nvPr/>
        </p:nvSpPr>
        <p:spPr>
          <a:xfrm>
            <a:off x="822960" y="3337560"/>
            <a:ext cx="29056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직업환경의학과</a:t>
            </a:r>
            <a:endParaRPr lang="en-US" sz="2100" dirty="0"/>
          </a:p>
        </p:txBody>
      </p:sp>
      <p:sp>
        <p:nvSpPr>
          <p:cNvPr id="8" name="txt-78"/>
          <p:cNvSpPr txBox="1"/>
          <p:nvPr/>
        </p:nvSpPr>
        <p:spPr>
          <a:xfrm>
            <a:off x="914400" y="3977640"/>
            <a:ext cx="27227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근로자 검진·진료·재활. 산업단지 기업과 근로자에게 가장 분명한 차별점</a:t>
            </a:r>
            <a:endParaRPr lang="en-US" sz="1500" dirty="0"/>
          </a:p>
        </p:txBody>
      </p:sp>
      <p:sp>
        <p:nvSpPr>
          <p:cNvPr id="9" name="box-79"/>
          <p:cNvSpPr/>
          <p:nvPr/>
        </p:nvSpPr>
        <p:spPr>
          <a:xfrm>
            <a:off x="4368698" y="1645920"/>
            <a:ext cx="3454298" cy="4114800"/>
          </a:xfrm>
          <a:prstGeom prst="roundRect">
            <a:avLst>
              <a:gd name="adj" fmla="val 37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0">
                <a:alpha val="12000"/>
              </a:srgbClr>
            </a:outerShdw>
          </a:effectLst>
        </p:spPr>
      </p:sp>
      <p:sp>
        <p:nvSpPr>
          <p:cNvPr id="10" name="ic-bg-80"/>
          <p:cNvSpPr/>
          <p:nvPr/>
        </p:nvSpPr>
        <p:spPr>
          <a:xfrm>
            <a:off x="5547208" y="2011680"/>
            <a:ext cx="1097280" cy="1097280"/>
          </a:xfrm>
          <a:prstGeom prst="ellipse">
            <a:avLst/>
          </a:prstGeom>
          <a:solidFill>
            <a:srgbClr val="E2563B"/>
          </a:solidFill>
          <a:ln w="12700">
            <a:solidFill>
              <a:srgbClr val="E2563B"/>
            </a:solidFill>
            <a:prstDash val="solid"/>
          </a:ln>
        </p:spPr>
      </p:sp>
      <p:pic>
        <p:nvPicPr>
          <p:cNvPr id="11" name="ic-81" descr="FaAmbulanc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1528" y="2286000"/>
            <a:ext cx="548640" cy="548640"/>
          </a:xfrm>
          <a:prstGeom prst="rect">
            <a:avLst/>
          </a:prstGeom>
        </p:spPr>
      </p:pic>
      <p:sp>
        <p:nvSpPr>
          <p:cNvPr id="12" name="txt-82"/>
          <p:cNvSpPr txBox="1"/>
          <p:nvPr/>
        </p:nvSpPr>
        <p:spPr>
          <a:xfrm>
            <a:off x="4643018" y="3337560"/>
            <a:ext cx="29056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24시간 응급 진료</a:t>
            </a:r>
            <a:endParaRPr lang="en-US" sz="2100" dirty="0"/>
          </a:p>
        </p:txBody>
      </p:sp>
      <p:sp>
        <p:nvSpPr>
          <p:cNvPr id="13" name="txt-83"/>
          <p:cNvSpPr txBox="1"/>
          <p:nvPr/>
        </p:nvSpPr>
        <p:spPr>
          <a:xfrm>
            <a:off x="4734458" y="3977640"/>
            <a:ext cx="27227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야간·주말 ‘근처 응급실’을 찾는 주민·관광객에게 위치·입구·연락처를 정확히</a:t>
            </a:r>
            <a:endParaRPr lang="en-US" sz="1500" dirty="0"/>
          </a:p>
        </p:txBody>
      </p:sp>
      <p:sp>
        <p:nvSpPr>
          <p:cNvPr id="14" name="box-84"/>
          <p:cNvSpPr/>
          <p:nvPr/>
        </p:nvSpPr>
        <p:spPr>
          <a:xfrm>
            <a:off x="8188757" y="1645920"/>
            <a:ext cx="3454298" cy="4114800"/>
          </a:xfrm>
          <a:prstGeom prst="roundRect">
            <a:avLst>
              <a:gd name="adj" fmla="val 37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0">
                <a:alpha val="12000"/>
              </a:srgbClr>
            </a:outerShdw>
          </a:effectLst>
        </p:spPr>
      </p:sp>
      <p:sp>
        <p:nvSpPr>
          <p:cNvPr id="15" name="ic-bg-85"/>
          <p:cNvSpPr/>
          <p:nvPr/>
        </p:nvSpPr>
        <p:spPr>
          <a:xfrm>
            <a:off x="9367266" y="2011680"/>
            <a:ext cx="1097280" cy="109728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16" name="ic-86" descr="FaHospita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1586" y="2286000"/>
            <a:ext cx="548640" cy="548640"/>
          </a:xfrm>
          <a:prstGeom prst="rect">
            <a:avLst/>
          </a:prstGeom>
        </p:spPr>
      </p:pic>
      <p:sp>
        <p:nvSpPr>
          <p:cNvPr id="17" name="txt-87"/>
          <p:cNvSpPr txBox="1"/>
          <p:nvPr/>
        </p:nvSpPr>
        <p:spPr>
          <a:xfrm>
            <a:off x="8463077" y="3337560"/>
            <a:ext cx="29056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수술 · 재활까지 한 곳</a:t>
            </a:r>
            <a:endParaRPr lang="en-US" sz="2100" dirty="0"/>
          </a:p>
        </p:txBody>
      </p:sp>
      <p:sp>
        <p:nvSpPr>
          <p:cNvPr id="18" name="txt-88"/>
          <p:cNvSpPr txBox="1"/>
          <p:nvPr/>
        </p:nvSpPr>
        <p:spPr>
          <a:xfrm>
            <a:off x="8554517" y="3977640"/>
            <a:ext cx="27227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외과·정형외과·신경외과·재활의학과 등 9개 진료과의 원스톱 진료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타깃 전략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타깃마다 찾는 지도와 전할 메시지가 다릅니다</a:t>
            </a:r>
            <a:endParaRPr lang="en-US" sz="2800" dirty="0"/>
          </a:p>
        </p:txBody>
      </p:sp>
      <p:sp>
        <p:nvSpPr>
          <p:cNvPr id="4" name="box-89"/>
          <p:cNvSpPr/>
          <p:nvPr/>
        </p:nvSpPr>
        <p:spPr>
          <a:xfrm>
            <a:off x="548640" y="1600200"/>
            <a:ext cx="3454298" cy="4343400"/>
          </a:xfrm>
          <a:prstGeom prst="roundRect">
            <a:avLst>
              <a:gd name="adj" fmla="val 3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ic-bg-90"/>
          <p:cNvSpPr/>
          <p:nvPr/>
        </p:nvSpPr>
        <p:spPr>
          <a:xfrm>
            <a:off x="868680" y="1874520"/>
            <a:ext cx="731520" cy="73152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6" name="ic-91" descr="FaHo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057400"/>
            <a:ext cx="365760" cy="365760"/>
          </a:xfrm>
          <a:prstGeom prst="rect">
            <a:avLst/>
          </a:prstGeom>
        </p:spPr>
      </p:pic>
      <p:sp>
        <p:nvSpPr>
          <p:cNvPr id="7" name="txt-92"/>
          <p:cNvSpPr txBox="1"/>
          <p:nvPr/>
        </p:nvSpPr>
        <p:spPr>
          <a:xfrm>
            <a:off x="1783080" y="1920240"/>
            <a:ext cx="19912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지역 주민 · 내포신도시</a:t>
            </a:r>
            <a:endParaRPr lang="en-US" sz="1900" dirty="0"/>
          </a:p>
        </p:txBody>
      </p:sp>
      <p:sp>
        <p:nvSpPr>
          <p:cNvPr id="8" name="txt-93"/>
          <p:cNvSpPr txBox="1"/>
          <p:nvPr/>
        </p:nvSpPr>
        <p:spPr>
          <a:xfrm>
            <a:off x="868680" y="2880360"/>
            <a:ext cx="2814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찾는 상황</a:t>
            </a:r>
            <a:endParaRPr lang="en-US" sz="1200" dirty="0"/>
          </a:p>
        </p:txBody>
      </p:sp>
      <p:sp>
        <p:nvSpPr>
          <p:cNvPr id="9" name="txt-94"/>
          <p:cNvSpPr txBox="1"/>
          <p:nvPr/>
        </p:nvSpPr>
        <p:spPr>
          <a:xfrm>
            <a:off x="868680" y="3172968"/>
            <a:ext cx="28142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가까운 병원, 진료시간, 주말 진료</a:t>
            </a:r>
            <a:endParaRPr lang="en-US" sz="1500" dirty="0"/>
          </a:p>
        </p:txBody>
      </p:sp>
      <p:sp>
        <p:nvSpPr>
          <p:cNvPr id="10" name="txt-95"/>
          <p:cNvSpPr txBox="1"/>
          <p:nvPr/>
        </p:nvSpPr>
        <p:spPr>
          <a:xfrm>
            <a:off x="868680" y="3840480"/>
            <a:ext cx="2814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주력 지도</a:t>
            </a:r>
            <a:endParaRPr lang="en-US" sz="1200" dirty="0"/>
          </a:p>
        </p:txBody>
      </p:sp>
      <p:sp>
        <p:nvSpPr>
          <p:cNvPr id="11" name="txt-96"/>
          <p:cNvSpPr txBox="1"/>
          <p:nvPr/>
        </p:nvSpPr>
        <p:spPr>
          <a:xfrm>
            <a:off x="868680" y="4133088"/>
            <a:ext cx="28142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네이버 플레이스 · 카카오맵</a:t>
            </a:r>
            <a:endParaRPr lang="en-US" sz="1500" dirty="0"/>
          </a:p>
        </p:txBody>
      </p:sp>
      <p:sp>
        <p:nvSpPr>
          <p:cNvPr id="12" name="txt-97"/>
          <p:cNvSpPr txBox="1"/>
          <p:nvPr/>
        </p:nvSpPr>
        <p:spPr>
          <a:xfrm>
            <a:off x="868680" y="4800600"/>
            <a:ext cx="2814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전달 메시지</a:t>
            </a:r>
            <a:endParaRPr lang="en-US" sz="1200" dirty="0"/>
          </a:p>
        </p:txBody>
      </p:sp>
      <p:sp>
        <p:nvSpPr>
          <p:cNvPr id="13" name="txt-98"/>
          <p:cNvSpPr txBox="1"/>
          <p:nvPr/>
        </p:nvSpPr>
        <p:spPr>
          <a:xfrm>
            <a:off x="868680" y="5093208"/>
            <a:ext cx="28142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9개 진료과, 진료시간, 24시간 응급</a:t>
            </a:r>
            <a:endParaRPr lang="en-US" sz="1500" dirty="0"/>
          </a:p>
        </p:txBody>
      </p:sp>
      <p:sp>
        <p:nvSpPr>
          <p:cNvPr id="14" name="box-99"/>
          <p:cNvSpPr/>
          <p:nvPr/>
        </p:nvSpPr>
        <p:spPr>
          <a:xfrm>
            <a:off x="4368698" y="1600200"/>
            <a:ext cx="3454298" cy="4343400"/>
          </a:xfrm>
          <a:prstGeom prst="roundRect">
            <a:avLst>
              <a:gd name="adj" fmla="val 3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ic-bg-100"/>
          <p:cNvSpPr/>
          <p:nvPr/>
        </p:nvSpPr>
        <p:spPr>
          <a:xfrm>
            <a:off x="4688738" y="1874520"/>
            <a:ext cx="731520" cy="731520"/>
          </a:xfrm>
          <a:prstGeom prst="ellipse">
            <a:avLst/>
          </a:prstGeom>
          <a:solidFill>
            <a:srgbClr val="E2563B"/>
          </a:solidFill>
          <a:ln w="12700">
            <a:solidFill>
              <a:srgbClr val="E2563B"/>
            </a:solidFill>
            <a:prstDash val="solid"/>
          </a:ln>
        </p:spPr>
      </p:sp>
      <p:pic>
        <p:nvPicPr>
          <p:cNvPr id="16" name="ic-101" descr="FaIndustr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1618" y="2057400"/>
            <a:ext cx="365760" cy="365760"/>
          </a:xfrm>
          <a:prstGeom prst="rect">
            <a:avLst/>
          </a:prstGeom>
        </p:spPr>
      </p:pic>
      <p:sp>
        <p:nvSpPr>
          <p:cNvPr id="17" name="txt-102"/>
          <p:cNvSpPr txBox="1"/>
          <p:nvPr/>
        </p:nvSpPr>
        <p:spPr>
          <a:xfrm>
            <a:off x="5603138" y="1920240"/>
            <a:ext cx="19912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산업단지 기업 · 근로자</a:t>
            </a:r>
            <a:endParaRPr lang="en-US" sz="1900" dirty="0"/>
          </a:p>
        </p:txBody>
      </p:sp>
      <p:sp>
        <p:nvSpPr>
          <p:cNvPr id="18" name="txt-103"/>
          <p:cNvSpPr txBox="1"/>
          <p:nvPr/>
        </p:nvSpPr>
        <p:spPr>
          <a:xfrm>
            <a:off x="4688738" y="2880360"/>
            <a:ext cx="2814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찾는 상황</a:t>
            </a:r>
            <a:endParaRPr lang="en-US" sz="1200" dirty="0"/>
          </a:p>
        </p:txBody>
      </p:sp>
      <p:sp>
        <p:nvSpPr>
          <p:cNvPr id="19" name="txt-104"/>
          <p:cNvSpPr txBox="1"/>
          <p:nvPr/>
        </p:nvSpPr>
        <p:spPr>
          <a:xfrm>
            <a:off x="4688738" y="3172968"/>
            <a:ext cx="28142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채용·배치전·근로자 검진, 산재 진료</a:t>
            </a:r>
            <a:endParaRPr lang="en-US" sz="1500" dirty="0"/>
          </a:p>
        </p:txBody>
      </p:sp>
      <p:sp>
        <p:nvSpPr>
          <p:cNvPr id="20" name="txt-105"/>
          <p:cNvSpPr txBox="1"/>
          <p:nvPr/>
        </p:nvSpPr>
        <p:spPr>
          <a:xfrm>
            <a:off x="4688738" y="3840480"/>
            <a:ext cx="2814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주력 지도</a:t>
            </a:r>
            <a:endParaRPr lang="en-US" sz="1200" dirty="0"/>
          </a:p>
        </p:txBody>
      </p:sp>
      <p:sp>
        <p:nvSpPr>
          <p:cNvPr id="21" name="txt-106"/>
          <p:cNvSpPr txBox="1"/>
          <p:nvPr/>
        </p:nvSpPr>
        <p:spPr>
          <a:xfrm>
            <a:off x="4688738" y="4133088"/>
            <a:ext cx="28142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네이버 플레이스</a:t>
            </a:r>
            <a:endParaRPr lang="en-US" sz="1500" dirty="0"/>
          </a:p>
        </p:txBody>
      </p:sp>
      <p:sp>
        <p:nvSpPr>
          <p:cNvPr id="22" name="txt-107"/>
          <p:cNvSpPr txBox="1"/>
          <p:nvPr/>
        </p:nvSpPr>
        <p:spPr>
          <a:xfrm>
            <a:off x="4688738" y="4800600"/>
            <a:ext cx="2814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전달 메시지</a:t>
            </a:r>
            <a:endParaRPr lang="en-US" sz="1200" dirty="0"/>
          </a:p>
        </p:txBody>
      </p:sp>
      <p:sp>
        <p:nvSpPr>
          <p:cNvPr id="23" name="txt-108"/>
          <p:cNvSpPr txBox="1"/>
          <p:nvPr/>
        </p:nvSpPr>
        <p:spPr>
          <a:xfrm>
            <a:off x="4688738" y="5093208"/>
            <a:ext cx="28142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직업환경의학과, 검진 안내·문의</a:t>
            </a:r>
            <a:endParaRPr lang="en-US" sz="1500" dirty="0"/>
          </a:p>
        </p:txBody>
      </p:sp>
      <p:sp>
        <p:nvSpPr>
          <p:cNvPr id="24" name="box-109"/>
          <p:cNvSpPr/>
          <p:nvPr/>
        </p:nvSpPr>
        <p:spPr>
          <a:xfrm>
            <a:off x="8188757" y="1600200"/>
            <a:ext cx="3454298" cy="4343400"/>
          </a:xfrm>
          <a:prstGeom prst="roundRect">
            <a:avLst>
              <a:gd name="adj" fmla="val 3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ic-bg-110"/>
          <p:cNvSpPr/>
          <p:nvPr/>
        </p:nvSpPr>
        <p:spPr>
          <a:xfrm>
            <a:off x="8508797" y="1874520"/>
            <a:ext cx="731520" cy="731520"/>
          </a:xfrm>
          <a:prstGeom prst="ellipse">
            <a:avLst/>
          </a:prstGeom>
          <a:solidFill>
            <a:srgbClr val="3B6EF0"/>
          </a:solidFill>
          <a:ln w="12700">
            <a:solidFill>
              <a:srgbClr val="3B6EF0"/>
            </a:solidFill>
            <a:prstDash val="solid"/>
          </a:ln>
        </p:spPr>
      </p:sp>
      <p:pic>
        <p:nvPicPr>
          <p:cNvPr id="26" name="ic-111" descr="FaCa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1677" y="2057400"/>
            <a:ext cx="365760" cy="365760"/>
          </a:xfrm>
          <a:prstGeom prst="rect">
            <a:avLst/>
          </a:prstGeom>
        </p:spPr>
      </p:pic>
      <p:sp>
        <p:nvSpPr>
          <p:cNvPr id="27" name="txt-112"/>
          <p:cNvSpPr txBox="1"/>
          <p:nvPr/>
        </p:nvSpPr>
        <p:spPr>
          <a:xfrm>
            <a:off x="9423197" y="1920240"/>
            <a:ext cx="19912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차량 관광객 · 보호자</a:t>
            </a:r>
            <a:endParaRPr lang="en-US" sz="1900" dirty="0"/>
          </a:p>
        </p:txBody>
      </p:sp>
      <p:sp>
        <p:nvSpPr>
          <p:cNvPr id="28" name="txt-113"/>
          <p:cNvSpPr txBox="1"/>
          <p:nvPr/>
        </p:nvSpPr>
        <p:spPr>
          <a:xfrm>
            <a:off x="8508797" y="2880360"/>
            <a:ext cx="2814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찾는 상황</a:t>
            </a:r>
            <a:endParaRPr lang="en-US" sz="1200" dirty="0"/>
          </a:p>
        </p:txBody>
      </p:sp>
      <p:sp>
        <p:nvSpPr>
          <p:cNvPr id="29" name="txt-114"/>
          <p:cNvSpPr txBox="1"/>
          <p:nvPr/>
        </p:nvSpPr>
        <p:spPr>
          <a:xfrm>
            <a:off x="8508797" y="3172968"/>
            <a:ext cx="28142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여행 중 사고, 근처 응급실·외상 진료</a:t>
            </a:r>
            <a:endParaRPr lang="en-US" sz="1500" dirty="0"/>
          </a:p>
        </p:txBody>
      </p:sp>
      <p:sp>
        <p:nvSpPr>
          <p:cNvPr id="30" name="txt-115"/>
          <p:cNvSpPr txBox="1"/>
          <p:nvPr/>
        </p:nvSpPr>
        <p:spPr>
          <a:xfrm>
            <a:off x="8508797" y="3840480"/>
            <a:ext cx="2814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주력 지도</a:t>
            </a:r>
            <a:endParaRPr lang="en-US" sz="1200" dirty="0"/>
          </a:p>
        </p:txBody>
      </p:sp>
      <p:sp>
        <p:nvSpPr>
          <p:cNvPr id="31" name="txt-116"/>
          <p:cNvSpPr txBox="1"/>
          <p:nvPr/>
        </p:nvSpPr>
        <p:spPr>
          <a:xfrm>
            <a:off x="8508797" y="4133088"/>
            <a:ext cx="28142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티맵 · 네이버 플레이스</a:t>
            </a:r>
            <a:endParaRPr lang="en-US" sz="1500" dirty="0"/>
          </a:p>
        </p:txBody>
      </p:sp>
      <p:sp>
        <p:nvSpPr>
          <p:cNvPr id="32" name="txt-117"/>
          <p:cNvSpPr txBox="1"/>
          <p:nvPr/>
        </p:nvSpPr>
        <p:spPr>
          <a:xfrm>
            <a:off x="8508797" y="4800600"/>
            <a:ext cx="2814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전달 메시지</a:t>
            </a:r>
            <a:endParaRPr lang="en-US" sz="1200" dirty="0"/>
          </a:p>
        </p:txBody>
      </p:sp>
      <p:sp>
        <p:nvSpPr>
          <p:cNvPr id="33" name="txt-118"/>
          <p:cNvSpPr txBox="1"/>
          <p:nvPr/>
        </p:nvSpPr>
        <p:spPr>
          <a:xfrm>
            <a:off x="8508797" y="5093208"/>
            <a:ext cx="28142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24시간 응급, 정확한 위치·입구·주차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제안 ①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3대 지도의 병원 정보를 한 번에 세팅합니다</a:t>
            </a:r>
            <a:endParaRPr lang="en-US" sz="2800" dirty="0"/>
          </a:p>
        </p:txBody>
      </p:sp>
      <p:sp>
        <p:nvSpPr>
          <p:cNvPr id="4" name="free-119"/>
          <p:cNvSpPr/>
          <p:nvPr/>
        </p:nvSpPr>
        <p:spPr>
          <a:xfrm>
            <a:off x="10591495" y="786384"/>
            <a:ext cx="105156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xt-120"/>
          <p:cNvSpPr txBox="1"/>
          <p:nvPr/>
        </p:nvSpPr>
        <p:spPr>
          <a:xfrm>
            <a:off x="10591495" y="786384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무료 제공</a:t>
            </a:r>
            <a:endParaRPr lang="en-US" sz="1300" dirty="0"/>
          </a:p>
        </p:txBody>
      </p:sp>
      <p:sp>
        <p:nvSpPr>
          <p:cNvPr id="6" name="box-121"/>
          <p:cNvSpPr/>
          <p:nvPr/>
        </p:nvSpPr>
        <p:spPr>
          <a:xfrm>
            <a:off x="548640" y="1600200"/>
            <a:ext cx="3454298" cy="3931920"/>
          </a:xfrm>
          <a:prstGeom prst="roundRect">
            <a:avLst>
              <a:gd name="adj" fmla="val 37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0">
                <a:alpha val="12000"/>
              </a:srgbClr>
            </a:outerShdw>
          </a:effectLst>
        </p:spPr>
      </p:sp>
      <p:sp>
        <p:nvSpPr>
          <p:cNvPr id="7" name="chip-122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03C75A"/>
          </a:solidFill>
          <a:ln w="12700">
            <a:solidFill>
              <a:srgbClr val="03C75A"/>
            </a:solidFill>
            <a:prstDash val="solid"/>
          </a:ln>
        </p:spPr>
      </p:sp>
      <p:sp>
        <p:nvSpPr>
          <p:cNvPr id="8" name="txt-123"/>
          <p:cNvSpPr txBox="1"/>
          <p:nvPr/>
        </p:nvSpPr>
        <p:spPr>
          <a:xfrm>
            <a:off x="82296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N</a:t>
            </a:r>
            <a:endParaRPr lang="en-US" sz="1800" dirty="0"/>
          </a:p>
        </p:txBody>
      </p:sp>
      <p:sp>
        <p:nvSpPr>
          <p:cNvPr id="9" name="txt-124"/>
          <p:cNvSpPr txBox="1"/>
          <p:nvPr/>
        </p:nvSpPr>
        <p:spPr>
          <a:xfrm>
            <a:off x="1645920" y="1828800"/>
            <a:ext cx="21741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네이버 플레이스</a:t>
            </a:r>
            <a:endParaRPr lang="en-US" sz="2000" dirty="0"/>
          </a:p>
        </p:txBody>
      </p:sp>
      <p:sp>
        <p:nvSpPr>
          <p:cNvPr id="10" name="list-125"/>
          <p:cNvSpPr txBox="1"/>
          <p:nvPr/>
        </p:nvSpPr>
        <p:spPr>
          <a:xfrm>
            <a:off x="822960" y="2743200"/>
            <a:ext cx="290565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진료과 · 진료시간 · 24시간 응급 표기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외관 · 입구 · 주차 · 검진센터 사진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예약 · 톡톡 연결, 검진 안내 소식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대표 키워드 · 소개글 정비</a:t>
            </a:r>
            <a:endParaRPr lang="en-US" sz="1500" dirty="0"/>
          </a:p>
        </p:txBody>
      </p:sp>
      <p:sp>
        <p:nvSpPr>
          <p:cNvPr id="11" name="box-126"/>
          <p:cNvSpPr/>
          <p:nvPr/>
        </p:nvSpPr>
        <p:spPr>
          <a:xfrm>
            <a:off x="4368698" y="1600200"/>
            <a:ext cx="3454298" cy="3931920"/>
          </a:xfrm>
          <a:prstGeom prst="roundRect">
            <a:avLst>
              <a:gd name="adj" fmla="val 37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0">
                <a:alpha val="12000"/>
              </a:srgbClr>
            </a:outerShdw>
          </a:effectLst>
        </p:spPr>
      </p:sp>
      <p:sp>
        <p:nvSpPr>
          <p:cNvPr id="12" name="chip-127"/>
          <p:cNvSpPr/>
          <p:nvPr/>
        </p:nvSpPr>
        <p:spPr>
          <a:xfrm>
            <a:off x="4643018" y="1828800"/>
            <a:ext cx="640080" cy="640080"/>
          </a:xfrm>
          <a:prstGeom prst="ellipse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13" name="txt-128"/>
          <p:cNvSpPr txBox="1"/>
          <p:nvPr/>
        </p:nvSpPr>
        <p:spPr>
          <a:xfrm>
            <a:off x="4643018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K</a:t>
            </a:r>
            <a:endParaRPr lang="en-US" sz="1800" dirty="0"/>
          </a:p>
        </p:txBody>
      </p:sp>
      <p:sp>
        <p:nvSpPr>
          <p:cNvPr id="14" name="txt-129"/>
          <p:cNvSpPr txBox="1"/>
          <p:nvPr/>
        </p:nvSpPr>
        <p:spPr>
          <a:xfrm>
            <a:off x="5465978" y="1828800"/>
            <a:ext cx="21741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카카오맵</a:t>
            </a:r>
            <a:endParaRPr lang="en-US" sz="2000" dirty="0"/>
          </a:p>
        </p:txBody>
      </p:sp>
      <p:sp>
        <p:nvSpPr>
          <p:cNvPr id="15" name="list-130"/>
          <p:cNvSpPr txBox="1"/>
          <p:nvPr/>
        </p:nvSpPr>
        <p:spPr>
          <a:xfrm>
            <a:off x="4643018" y="2743200"/>
            <a:ext cx="290565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카카오비즈니스로 병원 소유권 등록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기존 등록 정보의 오류 · 중복 정리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카카오톡 채널 연결(문의 창구)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진료시간 · 전화 · 진료과 통일</a:t>
            </a:r>
            <a:endParaRPr lang="en-US" sz="1500" dirty="0"/>
          </a:p>
        </p:txBody>
      </p:sp>
      <p:sp>
        <p:nvSpPr>
          <p:cNvPr id="16" name="box-131"/>
          <p:cNvSpPr/>
          <p:nvPr/>
        </p:nvSpPr>
        <p:spPr>
          <a:xfrm>
            <a:off x="8188757" y="1600200"/>
            <a:ext cx="3454298" cy="3931920"/>
          </a:xfrm>
          <a:prstGeom prst="roundRect">
            <a:avLst>
              <a:gd name="adj" fmla="val 37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0">
                <a:alpha val="12000"/>
              </a:srgbClr>
            </a:outerShdw>
          </a:effectLst>
        </p:spPr>
      </p:sp>
      <p:sp>
        <p:nvSpPr>
          <p:cNvPr id="17" name="chip-132"/>
          <p:cNvSpPr/>
          <p:nvPr/>
        </p:nvSpPr>
        <p:spPr>
          <a:xfrm>
            <a:off x="8463077" y="1828800"/>
            <a:ext cx="640080" cy="640080"/>
          </a:xfrm>
          <a:prstGeom prst="ellipse">
            <a:avLst/>
          </a:prstGeom>
          <a:solidFill>
            <a:srgbClr val="3B6EF0"/>
          </a:solidFill>
          <a:ln w="12700">
            <a:solidFill>
              <a:srgbClr val="3B6EF0"/>
            </a:solidFill>
            <a:prstDash val="solid"/>
          </a:ln>
        </p:spPr>
      </p:sp>
      <p:sp>
        <p:nvSpPr>
          <p:cNvPr id="18" name="txt-133"/>
          <p:cNvSpPr txBox="1"/>
          <p:nvPr/>
        </p:nvSpPr>
        <p:spPr>
          <a:xfrm>
            <a:off x="8463077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</a:t>
            </a:r>
            <a:endParaRPr lang="en-US" sz="1800" dirty="0"/>
          </a:p>
        </p:txBody>
      </p:sp>
      <p:sp>
        <p:nvSpPr>
          <p:cNvPr id="19" name="txt-134"/>
          <p:cNvSpPr txBox="1"/>
          <p:nvPr/>
        </p:nvSpPr>
        <p:spPr>
          <a:xfrm>
            <a:off x="9286037" y="1828800"/>
            <a:ext cx="21741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티맵</a:t>
            </a:r>
            <a:endParaRPr lang="en-US" sz="2000" dirty="0"/>
          </a:p>
        </p:txBody>
      </p:sp>
      <p:sp>
        <p:nvSpPr>
          <p:cNvPr id="20" name="list-135"/>
          <p:cNvSpPr txBox="1"/>
          <p:nvPr/>
        </p:nvSpPr>
        <p:spPr>
          <a:xfrm>
            <a:off x="8463077" y="2743200"/>
            <a:ext cx="290565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장소 정보 등록 · 수정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응급실 입구 기준 목적지 좌표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대표 전화 · 진료시간 통일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관광지 인근 ‘병원’ 검색 노출 점검</a:t>
            </a:r>
            <a:endParaRPr lang="en-US" sz="1500" dirty="0"/>
          </a:p>
        </p:txBody>
      </p:sp>
      <p:sp>
        <p:nvSpPr>
          <p:cNvPr id="21" name="txt-136"/>
          <p:cNvSpPr txBox="1"/>
          <p:nvPr/>
        </p:nvSpPr>
        <p:spPr>
          <a:xfrm>
            <a:off x="548640" y="58064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세 지도의 병원명 · 주소 · 전화 · 진료시간 · 진료과를 하나의 기준표로 맞춥니다.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제안 ②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매월 정보 · 소식 · 리뷰를 관리하고 결과를 보고합니다</a:t>
            </a:r>
            <a:endParaRPr lang="en-US" sz="2800" dirty="0"/>
          </a:p>
        </p:txBody>
      </p:sp>
      <p:sp>
        <p:nvSpPr>
          <p:cNvPr id="4" name="free-137"/>
          <p:cNvSpPr/>
          <p:nvPr/>
        </p:nvSpPr>
        <p:spPr>
          <a:xfrm>
            <a:off x="10591495" y="786384"/>
            <a:ext cx="105156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xt-138"/>
          <p:cNvSpPr txBox="1"/>
          <p:nvPr/>
        </p:nvSpPr>
        <p:spPr>
          <a:xfrm>
            <a:off x="10591495" y="786384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무료 제공</a:t>
            </a:r>
            <a:endParaRPr lang="en-US" sz="1300" dirty="0"/>
          </a:p>
        </p:txBody>
      </p:sp>
      <p:sp>
        <p:nvSpPr>
          <p:cNvPr id="6" name="box-139"/>
          <p:cNvSpPr/>
          <p:nvPr/>
        </p:nvSpPr>
        <p:spPr>
          <a:xfrm>
            <a:off x="548640" y="1691640"/>
            <a:ext cx="2499284" cy="3566160"/>
          </a:xfrm>
          <a:prstGeom prst="roundRect">
            <a:avLst>
              <a:gd name="adj" fmla="val 51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ic-bg-140"/>
          <p:cNvSpPr/>
          <p:nvPr/>
        </p:nvSpPr>
        <p:spPr>
          <a:xfrm>
            <a:off x="868680" y="1965960"/>
            <a:ext cx="731520" cy="73152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8" name="ic-141" descr="FaClipboard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148840"/>
            <a:ext cx="365760" cy="365760"/>
          </a:xfrm>
          <a:prstGeom prst="rect">
            <a:avLst/>
          </a:prstGeom>
        </p:spPr>
      </p:pic>
      <p:sp>
        <p:nvSpPr>
          <p:cNvPr id="9" name="txt-142"/>
          <p:cNvSpPr txBox="1"/>
          <p:nvPr/>
        </p:nvSpPr>
        <p:spPr>
          <a:xfrm>
            <a:off x="2179244" y="20116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01</a:t>
            </a:r>
            <a:endParaRPr lang="en-US" sz="2400" dirty="0"/>
          </a:p>
        </p:txBody>
      </p:sp>
      <p:sp>
        <p:nvSpPr>
          <p:cNvPr id="10" name="txt-143"/>
          <p:cNvSpPr txBox="1"/>
          <p:nvPr/>
        </p:nvSpPr>
        <p:spPr>
          <a:xfrm>
            <a:off x="868680" y="2926080"/>
            <a:ext cx="18592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정보 점검</a:t>
            </a:r>
            <a:endParaRPr lang="en-US" sz="2000" dirty="0"/>
          </a:p>
        </p:txBody>
      </p:sp>
      <p:sp>
        <p:nvSpPr>
          <p:cNvPr id="11" name="txt-144"/>
          <p:cNvSpPr txBox="1"/>
          <p:nvPr/>
        </p:nvSpPr>
        <p:spPr>
          <a:xfrm>
            <a:off x="868680" y="3474720"/>
            <a:ext cx="18592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휴진·진료시간 변경, 신규 의료진을 3대 지도에 동시 반영</a:t>
            </a:r>
            <a:endParaRPr lang="en-US" sz="1500" dirty="0"/>
          </a:p>
        </p:txBody>
      </p:sp>
      <p:sp>
        <p:nvSpPr>
          <p:cNvPr id="12" name="arr-145"/>
          <p:cNvSpPr/>
          <p:nvPr/>
        </p:nvSpPr>
        <p:spPr>
          <a:xfrm>
            <a:off x="3121076" y="3291840"/>
            <a:ext cx="219456" cy="292608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box-146"/>
          <p:cNvSpPr/>
          <p:nvPr/>
        </p:nvSpPr>
        <p:spPr>
          <a:xfrm>
            <a:off x="3413684" y="1691640"/>
            <a:ext cx="2499284" cy="3566160"/>
          </a:xfrm>
          <a:prstGeom prst="roundRect">
            <a:avLst>
              <a:gd name="adj" fmla="val 51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ic-bg-147"/>
          <p:cNvSpPr/>
          <p:nvPr/>
        </p:nvSpPr>
        <p:spPr>
          <a:xfrm>
            <a:off x="3733724" y="1965960"/>
            <a:ext cx="731520" cy="73152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15" name="ic-148" descr="FaFileAl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6604" y="2148840"/>
            <a:ext cx="365760" cy="365760"/>
          </a:xfrm>
          <a:prstGeom prst="rect">
            <a:avLst/>
          </a:prstGeom>
        </p:spPr>
      </p:pic>
      <p:sp>
        <p:nvSpPr>
          <p:cNvPr id="16" name="txt-149"/>
          <p:cNvSpPr txBox="1"/>
          <p:nvPr/>
        </p:nvSpPr>
        <p:spPr>
          <a:xfrm>
            <a:off x="5044288" y="20116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02</a:t>
            </a:r>
            <a:endParaRPr lang="en-US" sz="2400" dirty="0"/>
          </a:p>
        </p:txBody>
      </p:sp>
      <p:sp>
        <p:nvSpPr>
          <p:cNvPr id="17" name="txt-150"/>
          <p:cNvSpPr txBox="1"/>
          <p:nvPr/>
        </p:nvSpPr>
        <p:spPr>
          <a:xfrm>
            <a:off x="3733724" y="2926080"/>
            <a:ext cx="18592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소식 발행</a:t>
            </a:r>
            <a:endParaRPr lang="en-US" sz="2000" dirty="0"/>
          </a:p>
        </p:txBody>
      </p:sp>
      <p:sp>
        <p:nvSpPr>
          <p:cNvPr id="18" name="txt-151"/>
          <p:cNvSpPr txBox="1"/>
          <p:nvPr/>
        </p:nvSpPr>
        <p:spPr>
          <a:xfrm>
            <a:off x="3733724" y="3474720"/>
            <a:ext cx="18592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검진 일정, 명절·연휴 진료 안내를 플레이스 소식으로</a:t>
            </a:r>
            <a:endParaRPr lang="en-US" sz="1500" dirty="0"/>
          </a:p>
        </p:txBody>
      </p:sp>
      <p:sp>
        <p:nvSpPr>
          <p:cNvPr id="19" name="arr-152"/>
          <p:cNvSpPr/>
          <p:nvPr/>
        </p:nvSpPr>
        <p:spPr>
          <a:xfrm>
            <a:off x="5986120" y="3291840"/>
            <a:ext cx="219456" cy="292608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box-153"/>
          <p:cNvSpPr/>
          <p:nvPr/>
        </p:nvSpPr>
        <p:spPr>
          <a:xfrm>
            <a:off x="6278728" y="1691640"/>
            <a:ext cx="2499284" cy="3566160"/>
          </a:xfrm>
          <a:prstGeom prst="roundRect">
            <a:avLst>
              <a:gd name="adj" fmla="val 51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ic-bg-154"/>
          <p:cNvSpPr/>
          <p:nvPr/>
        </p:nvSpPr>
        <p:spPr>
          <a:xfrm>
            <a:off x="6598768" y="1965960"/>
            <a:ext cx="731520" cy="73152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22" name="ic-155" descr="FaComment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1648" y="2148840"/>
            <a:ext cx="365760" cy="365760"/>
          </a:xfrm>
          <a:prstGeom prst="rect">
            <a:avLst/>
          </a:prstGeom>
        </p:spPr>
      </p:pic>
      <p:sp>
        <p:nvSpPr>
          <p:cNvPr id="23" name="txt-156"/>
          <p:cNvSpPr txBox="1"/>
          <p:nvPr/>
        </p:nvSpPr>
        <p:spPr>
          <a:xfrm>
            <a:off x="7909331" y="20116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03</a:t>
            </a:r>
            <a:endParaRPr lang="en-US" sz="2400" dirty="0"/>
          </a:p>
        </p:txBody>
      </p:sp>
      <p:sp>
        <p:nvSpPr>
          <p:cNvPr id="24" name="txt-157"/>
          <p:cNvSpPr txBox="1"/>
          <p:nvPr/>
        </p:nvSpPr>
        <p:spPr>
          <a:xfrm>
            <a:off x="6598768" y="2926080"/>
            <a:ext cx="18592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리뷰 답글</a:t>
            </a:r>
            <a:endParaRPr lang="en-US" sz="2000" dirty="0"/>
          </a:p>
        </p:txBody>
      </p:sp>
      <p:sp>
        <p:nvSpPr>
          <p:cNvPr id="25" name="txt-158"/>
          <p:cNvSpPr txBox="1"/>
          <p:nvPr/>
        </p:nvSpPr>
        <p:spPr>
          <a:xfrm>
            <a:off x="6598768" y="3474720"/>
            <a:ext cx="18592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네이버·카카오 리뷰에 병원 명의 답글, 불만 리뷰는 협의 후 대응</a:t>
            </a:r>
            <a:endParaRPr lang="en-US" sz="1500" dirty="0"/>
          </a:p>
        </p:txBody>
      </p:sp>
      <p:sp>
        <p:nvSpPr>
          <p:cNvPr id="26" name="arr-159"/>
          <p:cNvSpPr/>
          <p:nvPr/>
        </p:nvSpPr>
        <p:spPr>
          <a:xfrm>
            <a:off x="8851163" y="3291840"/>
            <a:ext cx="219456" cy="292608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7" name="box-160"/>
          <p:cNvSpPr/>
          <p:nvPr/>
        </p:nvSpPr>
        <p:spPr>
          <a:xfrm>
            <a:off x="9143771" y="1691640"/>
            <a:ext cx="2499284" cy="3566160"/>
          </a:xfrm>
          <a:prstGeom prst="roundRect">
            <a:avLst>
              <a:gd name="adj" fmla="val 51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ic-bg-161"/>
          <p:cNvSpPr/>
          <p:nvPr/>
        </p:nvSpPr>
        <p:spPr>
          <a:xfrm>
            <a:off x="9463811" y="1965960"/>
            <a:ext cx="731520" cy="73152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29" name="ic-162" descr="FaChartLi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691" y="2148840"/>
            <a:ext cx="365760" cy="365760"/>
          </a:xfrm>
          <a:prstGeom prst="rect">
            <a:avLst/>
          </a:prstGeom>
        </p:spPr>
      </p:pic>
      <p:sp>
        <p:nvSpPr>
          <p:cNvPr id="30" name="txt-163"/>
          <p:cNvSpPr txBox="1"/>
          <p:nvPr/>
        </p:nvSpPr>
        <p:spPr>
          <a:xfrm>
            <a:off x="10774375" y="20116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04</a:t>
            </a:r>
            <a:endParaRPr lang="en-US" sz="2400" dirty="0"/>
          </a:p>
        </p:txBody>
      </p:sp>
      <p:sp>
        <p:nvSpPr>
          <p:cNvPr id="31" name="txt-164"/>
          <p:cNvSpPr txBox="1"/>
          <p:nvPr/>
        </p:nvSpPr>
        <p:spPr>
          <a:xfrm>
            <a:off x="9463811" y="2926080"/>
            <a:ext cx="18592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월간 리포트</a:t>
            </a:r>
            <a:endParaRPr lang="en-US" sz="2000" dirty="0"/>
          </a:p>
        </p:txBody>
      </p:sp>
      <p:sp>
        <p:nvSpPr>
          <p:cNvPr id="32" name="txt-165"/>
          <p:cNvSpPr txBox="1"/>
          <p:nvPr/>
        </p:nvSpPr>
        <p:spPr>
          <a:xfrm>
            <a:off x="9463811" y="3474720"/>
            <a:ext cx="18592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노출 순위·전화·길찾기 수와 다음 달 개선점 보고</a:t>
            </a:r>
            <a:endParaRPr lang="en-US" sz="1500" dirty="0"/>
          </a:p>
        </p:txBody>
      </p:sp>
      <p:sp>
        <p:nvSpPr>
          <p:cNvPr id="33" name="txt-166"/>
          <p:cNvSpPr txBox="1"/>
          <p:nvPr/>
        </p:nvSpPr>
        <p:spPr>
          <a:xfrm>
            <a:off x="548640" y="5532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병원 담당자는 월 1회 리포트만 확인하시면 됩니다.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선택 옵션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필요하면 네이버 플레이스 영수증 리뷰로 타깃을 더 좁힙니다</a:t>
            </a:r>
            <a:endParaRPr lang="en-US" sz="2800" dirty="0"/>
          </a:p>
        </p:txBody>
      </p:sp>
      <p:sp>
        <p:nvSpPr>
          <p:cNvPr id="4" name="txt-167"/>
          <p:cNvSpPr txBox="1"/>
          <p:nvPr/>
        </p:nvSpPr>
        <p:spPr>
          <a:xfrm>
            <a:off x="548640" y="160020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리뷰는 지도에서 병원을 고르는 결정적 근거입니다. 실제 진료받은 분들의 영수증 리뷰에 ‘검진’, ‘응급’, ‘정형외과’ 경험이 쌓이면, 그 진료를 찾는 사람에게 예산명지가 더 잘 보입니다.</a:t>
            </a:r>
            <a:endParaRPr lang="en-US" sz="1600" dirty="0"/>
          </a:p>
        </p:txBody>
      </p:sp>
      <p:sp>
        <p:nvSpPr>
          <p:cNvPr id="5" name="ic-bg-168"/>
          <p:cNvSpPr/>
          <p:nvPr/>
        </p:nvSpPr>
        <p:spPr>
          <a:xfrm>
            <a:off x="548640" y="3154680"/>
            <a:ext cx="548640" cy="54864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6" name="ic-169" descr="FaQrco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291840"/>
            <a:ext cx="274320" cy="274320"/>
          </a:xfrm>
          <a:prstGeom prst="rect">
            <a:avLst/>
          </a:prstGeom>
        </p:spPr>
      </p:pic>
      <p:sp>
        <p:nvSpPr>
          <p:cNvPr id="7" name="txt-170"/>
          <p:cNvSpPr txBox="1"/>
          <p:nvPr/>
        </p:nvSpPr>
        <p:spPr>
          <a:xfrm>
            <a:off x="1325880" y="31546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원무과·검진센터·응급실에 영수증 리뷰 참여 안내(QR) 비치</a:t>
            </a:r>
            <a:endParaRPr lang="en-US" sz="1500" dirty="0"/>
          </a:p>
        </p:txBody>
      </p:sp>
      <p:sp>
        <p:nvSpPr>
          <p:cNvPr id="8" name="ic-bg-171"/>
          <p:cNvSpPr/>
          <p:nvPr/>
        </p:nvSpPr>
        <p:spPr>
          <a:xfrm>
            <a:off x="548640" y="4023360"/>
            <a:ext cx="548640" cy="54864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9" name="ic-172" descr="FaIndustr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160520"/>
            <a:ext cx="274320" cy="274320"/>
          </a:xfrm>
          <a:prstGeom prst="rect">
            <a:avLst/>
          </a:prstGeom>
        </p:spPr>
      </p:pic>
      <p:sp>
        <p:nvSpPr>
          <p:cNvPr id="10" name="txt-173"/>
          <p:cNvSpPr txBox="1"/>
          <p:nvPr/>
        </p:nvSpPr>
        <p:spPr>
          <a:xfrm>
            <a:off x="1325880" y="40233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검진 기업에 근로자용 리뷰 참여 안내문 제공</a:t>
            </a:r>
            <a:endParaRPr lang="en-US" sz="1500" dirty="0"/>
          </a:p>
        </p:txBody>
      </p:sp>
      <p:sp>
        <p:nvSpPr>
          <p:cNvPr id="11" name="ic-bg-174"/>
          <p:cNvSpPr/>
          <p:nvPr/>
        </p:nvSpPr>
        <p:spPr>
          <a:xfrm>
            <a:off x="548640" y="4892040"/>
            <a:ext cx="548640" cy="54864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12" name="ic-175" descr="FaComment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029200"/>
            <a:ext cx="274320" cy="274320"/>
          </a:xfrm>
          <a:prstGeom prst="rect">
            <a:avLst/>
          </a:prstGeom>
        </p:spPr>
      </p:pic>
      <p:sp>
        <p:nvSpPr>
          <p:cNvPr id="13" name="txt-176"/>
          <p:cNvSpPr txBox="1"/>
          <p:nvPr/>
        </p:nvSpPr>
        <p:spPr>
          <a:xfrm>
            <a:off x="1325880" y="48920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모든 리뷰에 병원 명의 답글로 신뢰 형성</a:t>
            </a:r>
            <a:endParaRPr lang="en-US" sz="1500" dirty="0"/>
          </a:p>
        </p:txBody>
      </p:sp>
      <p:sp>
        <p:nvSpPr>
          <p:cNvPr id="14" name="box-177"/>
          <p:cNvSpPr/>
          <p:nvPr/>
        </p:nvSpPr>
        <p:spPr>
          <a:xfrm>
            <a:off x="6675120" y="1600200"/>
            <a:ext cx="4967935" cy="4297680"/>
          </a:xfrm>
          <a:prstGeom prst="roundRect">
            <a:avLst>
              <a:gd name="adj" fmla="val 297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txt-178"/>
          <p:cNvSpPr txBox="1"/>
          <p:nvPr/>
        </p:nvSpPr>
        <p:spPr>
          <a:xfrm>
            <a:off x="7040880" y="18288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쌓이게 할 리뷰 키워드</a:t>
            </a:r>
            <a:endParaRPr lang="en-US" sz="1700" dirty="0"/>
          </a:p>
        </p:txBody>
      </p:sp>
      <p:sp>
        <p:nvSpPr>
          <p:cNvPr id="16" name="dot-179"/>
          <p:cNvSpPr/>
          <p:nvPr/>
        </p:nvSpPr>
        <p:spPr>
          <a:xfrm>
            <a:off x="7040880" y="2532888"/>
            <a:ext cx="274320" cy="274320"/>
          </a:xfrm>
          <a:prstGeom prst="ellipse">
            <a:avLst/>
          </a:prstGeom>
          <a:solidFill>
            <a:srgbClr val="E2563B"/>
          </a:solidFill>
          <a:ln w="12700">
            <a:solidFill>
              <a:srgbClr val="E2563B"/>
            </a:solidFill>
            <a:prstDash val="solid"/>
          </a:ln>
        </p:spPr>
      </p:sp>
      <p:sp>
        <p:nvSpPr>
          <p:cNvPr id="17" name="txt-180"/>
          <p:cNvSpPr txBox="1"/>
          <p:nvPr/>
        </p:nvSpPr>
        <p:spPr>
          <a:xfrm>
            <a:off x="7498080" y="24231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산업단지 근로자</a:t>
            </a:r>
            <a:endParaRPr lang="en-US" sz="1600" dirty="0"/>
          </a:p>
        </p:txBody>
      </p:sp>
      <p:sp>
        <p:nvSpPr>
          <p:cNvPr id="18" name="txt-181"/>
          <p:cNvSpPr txBox="1"/>
          <p:nvPr/>
        </p:nvSpPr>
        <p:spPr>
          <a:xfrm>
            <a:off x="7498080" y="28346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특수·채용·배치전 검진, 산재 진료</a:t>
            </a:r>
            <a:endParaRPr lang="en-US" sz="1400" dirty="0"/>
          </a:p>
        </p:txBody>
      </p:sp>
      <p:sp>
        <p:nvSpPr>
          <p:cNvPr id="19" name="dot-182"/>
          <p:cNvSpPr/>
          <p:nvPr/>
        </p:nvSpPr>
        <p:spPr>
          <a:xfrm>
            <a:off x="7040880" y="3630168"/>
            <a:ext cx="274320" cy="274320"/>
          </a:xfrm>
          <a:prstGeom prst="ellipse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20" name="txt-183"/>
          <p:cNvSpPr txBox="1"/>
          <p:nvPr/>
        </p:nvSpPr>
        <p:spPr>
          <a:xfrm>
            <a:off x="7498080" y="35204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관광객 · 보호자</a:t>
            </a:r>
            <a:endParaRPr lang="en-US" sz="1600" dirty="0"/>
          </a:p>
        </p:txBody>
      </p:sp>
      <p:sp>
        <p:nvSpPr>
          <p:cNvPr id="21" name="txt-184"/>
          <p:cNvSpPr txBox="1"/>
          <p:nvPr/>
        </p:nvSpPr>
        <p:spPr>
          <a:xfrm>
            <a:off x="7498080" y="3931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응급실, 외상 처치, 친절한 안내</a:t>
            </a:r>
            <a:endParaRPr lang="en-US" sz="1400" dirty="0"/>
          </a:p>
        </p:txBody>
      </p:sp>
      <p:sp>
        <p:nvSpPr>
          <p:cNvPr id="22" name="dot-185"/>
          <p:cNvSpPr/>
          <p:nvPr/>
        </p:nvSpPr>
        <p:spPr>
          <a:xfrm>
            <a:off x="7040880" y="4727448"/>
            <a:ext cx="274320" cy="274320"/>
          </a:xfrm>
          <a:prstGeom prst="ellipse">
            <a:avLst/>
          </a:prstGeom>
          <a:solidFill>
            <a:srgbClr val="03C75A"/>
          </a:solidFill>
          <a:ln w="12700">
            <a:solidFill>
              <a:srgbClr val="03C75A"/>
            </a:solidFill>
            <a:prstDash val="solid"/>
          </a:ln>
        </p:spPr>
      </p:sp>
      <p:sp>
        <p:nvSpPr>
          <p:cNvPr id="23" name="txt-186"/>
          <p:cNvSpPr txBox="1"/>
          <p:nvPr/>
        </p:nvSpPr>
        <p:spPr>
          <a:xfrm>
            <a:off x="7498080" y="46177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지역 주민 · 내포</a:t>
            </a:r>
            <a:endParaRPr lang="en-US" sz="1600" dirty="0"/>
          </a:p>
        </p:txBody>
      </p:sp>
      <p:sp>
        <p:nvSpPr>
          <p:cNvPr id="24" name="txt-187"/>
          <p:cNvSpPr txBox="1"/>
          <p:nvPr/>
        </p:nvSpPr>
        <p:spPr>
          <a:xfrm>
            <a:off x="7498080" y="50292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정형외과, 수술, 재활 치료</a:t>
            </a:r>
            <a:endParaRPr lang="en-US" sz="1400" dirty="0"/>
          </a:p>
        </p:txBody>
      </p:sp>
      <p:sp>
        <p:nvSpPr>
          <p:cNvPr id="25" name="txt-188"/>
          <p:cNvSpPr txBox="1"/>
          <p:nvPr/>
        </p:nvSpPr>
        <p:spPr>
          <a:xfrm>
            <a:off x="548640" y="605332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리뷰는 실제 이용자 본인이 작성합니다. 리뷰 대가 제공 · 작성 대행 · 특정 문구 요청은 하지 않습니다(의료법 준수).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규정 준수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의료광고 규정 안에서 바로 시작할 수 있습니다</a:t>
            </a:r>
            <a:endParaRPr lang="en-US" sz="2800" dirty="0"/>
          </a:p>
        </p:txBody>
      </p:sp>
      <p:sp>
        <p:nvSpPr>
          <p:cNvPr id="4" name="box-189"/>
          <p:cNvSpPr/>
          <p:nvPr/>
        </p:nvSpPr>
        <p:spPr>
          <a:xfrm>
            <a:off x="548640" y="1600200"/>
            <a:ext cx="5318608" cy="4023360"/>
          </a:xfrm>
          <a:prstGeom prst="roundRect">
            <a:avLst>
              <a:gd name="adj" fmla="val 31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ic-bg-190"/>
          <p:cNvSpPr/>
          <p:nvPr/>
        </p:nvSpPr>
        <p:spPr>
          <a:xfrm>
            <a:off x="914400" y="1874520"/>
            <a:ext cx="731520" cy="73152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6" name="ic-191" descr="Fa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057400"/>
            <a:ext cx="365760" cy="365760"/>
          </a:xfrm>
          <a:prstGeom prst="rect">
            <a:avLst/>
          </a:prstGeom>
        </p:spPr>
      </p:pic>
      <p:sp>
        <p:nvSpPr>
          <p:cNvPr id="7" name="txt-192"/>
          <p:cNvSpPr txBox="1"/>
          <p:nvPr/>
        </p:nvSpPr>
        <p:spPr>
          <a:xfrm>
            <a:off x="1874520" y="1874520"/>
            <a:ext cx="3672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심의 없이 게시 가능</a:t>
            </a:r>
            <a:endParaRPr lang="en-US" sz="2100" dirty="0"/>
          </a:p>
        </p:txBody>
      </p:sp>
      <p:sp>
        <p:nvSpPr>
          <p:cNvPr id="8" name="list-193"/>
          <p:cNvSpPr txBox="1"/>
          <p:nvPr/>
        </p:nvSpPr>
        <p:spPr>
          <a:xfrm>
            <a:off x="960120" y="2880360"/>
            <a:ext cx="44956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병원명 · 주소 · 전화번호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진료과목 · 진료시간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의료진 성명 · 면허 종류</a:t>
            </a:r>
            <a:endParaRPr lang="en-US" sz="1600" dirty="0"/>
          </a:p>
        </p:txBody>
      </p:sp>
      <p:sp>
        <p:nvSpPr>
          <p:cNvPr id="9" name="txt-194"/>
          <p:cNvSpPr txBox="1"/>
          <p:nvPr/>
        </p:nvSpPr>
        <p:spPr>
          <a:xfrm>
            <a:off x="960120" y="4800600"/>
            <a:ext cx="449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→ 지도 정보 세팅은 대부분 이 범위</a:t>
            </a:r>
            <a:endParaRPr lang="en-US" sz="1600" dirty="0"/>
          </a:p>
        </p:txBody>
      </p:sp>
      <p:sp>
        <p:nvSpPr>
          <p:cNvPr id="10" name="box-195"/>
          <p:cNvSpPr/>
          <p:nvPr/>
        </p:nvSpPr>
        <p:spPr>
          <a:xfrm>
            <a:off x="6324448" y="1600200"/>
            <a:ext cx="5318608" cy="4023360"/>
          </a:xfrm>
          <a:prstGeom prst="roundRect">
            <a:avLst>
              <a:gd name="adj" fmla="val 31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ic-bg-196"/>
          <p:cNvSpPr/>
          <p:nvPr/>
        </p:nvSpPr>
        <p:spPr>
          <a:xfrm>
            <a:off x="6690208" y="1874520"/>
            <a:ext cx="731520" cy="731520"/>
          </a:xfrm>
          <a:prstGeom prst="ellipse">
            <a:avLst/>
          </a:prstGeom>
          <a:solidFill>
            <a:srgbClr val="E2563B"/>
          </a:solidFill>
          <a:ln w="12700">
            <a:solidFill>
              <a:srgbClr val="E2563B"/>
            </a:solidFill>
            <a:prstDash val="solid"/>
          </a:ln>
        </p:spPr>
      </p:sp>
      <p:pic>
        <p:nvPicPr>
          <p:cNvPr id="12" name="ic-197" descr="FaShieldAl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3088" y="2057400"/>
            <a:ext cx="365760" cy="365760"/>
          </a:xfrm>
          <a:prstGeom prst="rect">
            <a:avLst/>
          </a:prstGeom>
        </p:spPr>
      </p:pic>
      <p:sp>
        <p:nvSpPr>
          <p:cNvPr id="13" name="txt-198"/>
          <p:cNvSpPr txBox="1"/>
          <p:nvPr/>
        </p:nvSpPr>
        <p:spPr>
          <a:xfrm>
            <a:off x="7650328" y="1874520"/>
            <a:ext cx="3672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사전심의 후 게시</a:t>
            </a:r>
            <a:endParaRPr lang="en-US" sz="2100" dirty="0"/>
          </a:p>
        </p:txBody>
      </p:sp>
      <p:sp>
        <p:nvSpPr>
          <p:cNvPr id="14" name="list-199"/>
          <p:cNvSpPr txBox="1"/>
          <p:nvPr/>
        </p:nvSpPr>
        <p:spPr>
          <a:xfrm>
            <a:off x="6735928" y="2880360"/>
            <a:ext cx="44956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홍보 문구가 들어간 소식 · 이벤트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검색 광고 문안과 연결 페이지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효과 · 순위를 내세우는 표현</a:t>
            </a:r>
            <a:endParaRPr lang="en-US" sz="1600" dirty="0"/>
          </a:p>
        </p:txBody>
      </p:sp>
      <p:sp>
        <p:nvSpPr>
          <p:cNvPr id="15" name="txt-200"/>
          <p:cNvSpPr txBox="1"/>
          <p:nvPr/>
        </p:nvSpPr>
        <p:spPr>
          <a:xfrm>
            <a:off x="6735928" y="4800600"/>
            <a:ext cx="449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→ 병원 명의 계정으로 심의 신청</a:t>
            </a:r>
            <a:endParaRPr lang="en-US" sz="1600" dirty="0"/>
          </a:p>
        </p:txBody>
      </p:sp>
      <p:sp>
        <p:nvSpPr>
          <p:cNvPr id="16" name="txt-201"/>
          <p:cNvSpPr txBox="1"/>
          <p:nvPr/>
        </p:nvSpPr>
        <p:spPr>
          <a:xfrm>
            <a:off x="548640" y="605332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근거: 의료법 제56 · 57조, 대한의사협회 의료광고심의위원회 안내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진행 일정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4주 안에 세팅을 마치고 2개월차부터 월간 관리로 전환합니다</a:t>
            </a:r>
            <a:endParaRPr lang="en-US" sz="2800" dirty="0"/>
          </a:p>
        </p:txBody>
      </p:sp>
      <p:sp>
        <p:nvSpPr>
          <p:cNvPr id="4" name="line-202"/>
          <p:cNvSpPr/>
          <p:nvPr/>
        </p:nvSpPr>
        <p:spPr>
          <a:xfrm>
            <a:off x="1935442" y="2514600"/>
            <a:ext cx="8320811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dash"/>
          </a:ln>
        </p:spPr>
      </p:sp>
      <p:sp>
        <p:nvSpPr>
          <p:cNvPr id="5" name="node-203"/>
          <p:cNvSpPr/>
          <p:nvPr/>
        </p:nvSpPr>
        <p:spPr>
          <a:xfrm>
            <a:off x="1642834" y="2221992"/>
            <a:ext cx="585216" cy="585216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6" name="txt-204"/>
          <p:cNvSpPr txBox="1"/>
          <p:nvPr/>
        </p:nvSpPr>
        <p:spPr>
          <a:xfrm>
            <a:off x="1642834" y="22219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xt-205"/>
          <p:cNvSpPr txBox="1"/>
          <p:nvPr/>
        </p:nvSpPr>
        <p:spPr>
          <a:xfrm>
            <a:off x="655282" y="1600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1주차</a:t>
            </a:r>
            <a:endParaRPr lang="en-US" sz="1800" dirty="0"/>
          </a:p>
        </p:txBody>
      </p:sp>
      <p:sp>
        <p:nvSpPr>
          <p:cNvPr id="8" name="box-206"/>
          <p:cNvSpPr/>
          <p:nvPr/>
        </p:nvSpPr>
        <p:spPr>
          <a:xfrm>
            <a:off x="701002" y="3063240"/>
            <a:ext cx="2468880" cy="2011680"/>
          </a:xfrm>
          <a:prstGeom prst="roundRect">
            <a:avLst>
              <a:gd name="adj" fmla="val 6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xt-207"/>
          <p:cNvSpPr txBox="1"/>
          <p:nvPr/>
        </p:nvSpPr>
        <p:spPr>
          <a:xfrm>
            <a:off x="883882" y="32461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현황 진단</a:t>
            </a:r>
            <a:endParaRPr lang="en-US" sz="1800" dirty="0"/>
          </a:p>
        </p:txBody>
      </p:sp>
      <p:sp>
        <p:nvSpPr>
          <p:cNvPr id="10" name="txt-208"/>
          <p:cNvSpPr txBox="1"/>
          <p:nvPr/>
        </p:nvSpPr>
        <p:spPr>
          <a:xfrm>
            <a:off x="883882" y="37490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3대 지도의 현재 정보 · 순위 · 리뷰 점검표</a:t>
            </a:r>
            <a:endParaRPr lang="en-US" sz="1400" dirty="0"/>
          </a:p>
        </p:txBody>
      </p:sp>
      <p:sp>
        <p:nvSpPr>
          <p:cNvPr id="11" name="node-209"/>
          <p:cNvSpPr/>
          <p:nvPr/>
        </p:nvSpPr>
        <p:spPr>
          <a:xfrm>
            <a:off x="4416438" y="2221992"/>
            <a:ext cx="585216" cy="585216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12" name="txt-210"/>
          <p:cNvSpPr txBox="1"/>
          <p:nvPr/>
        </p:nvSpPr>
        <p:spPr>
          <a:xfrm>
            <a:off x="4416438" y="22219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xt-211"/>
          <p:cNvSpPr txBox="1"/>
          <p:nvPr/>
        </p:nvSpPr>
        <p:spPr>
          <a:xfrm>
            <a:off x="3428886" y="1600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2주차</a:t>
            </a:r>
            <a:endParaRPr lang="en-US" sz="1800" dirty="0"/>
          </a:p>
        </p:txBody>
      </p:sp>
      <p:sp>
        <p:nvSpPr>
          <p:cNvPr id="14" name="box-212"/>
          <p:cNvSpPr/>
          <p:nvPr/>
        </p:nvSpPr>
        <p:spPr>
          <a:xfrm>
            <a:off x="3474606" y="3063240"/>
            <a:ext cx="2468880" cy="2011680"/>
          </a:xfrm>
          <a:prstGeom prst="roundRect">
            <a:avLst>
              <a:gd name="adj" fmla="val 6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xt-213"/>
          <p:cNvSpPr txBox="1"/>
          <p:nvPr/>
        </p:nvSpPr>
        <p:spPr>
          <a:xfrm>
            <a:off x="3657486" y="32461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권한 확보</a:t>
            </a:r>
            <a:endParaRPr lang="en-US" sz="1800" dirty="0"/>
          </a:p>
        </p:txBody>
      </p:sp>
      <p:sp>
        <p:nvSpPr>
          <p:cNvPr id="16" name="txt-214"/>
          <p:cNvSpPr txBox="1"/>
          <p:nvPr/>
        </p:nvSpPr>
        <p:spPr>
          <a:xfrm>
            <a:off x="3657486" y="37490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병원 명의 관리 권한 등록, 기준 정보표 확정</a:t>
            </a:r>
            <a:endParaRPr lang="en-US" sz="1400" dirty="0"/>
          </a:p>
        </p:txBody>
      </p:sp>
      <p:sp>
        <p:nvSpPr>
          <p:cNvPr id="17" name="node-215"/>
          <p:cNvSpPr/>
          <p:nvPr/>
        </p:nvSpPr>
        <p:spPr>
          <a:xfrm>
            <a:off x="7190042" y="2221992"/>
            <a:ext cx="585216" cy="585216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18" name="txt-216"/>
          <p:cNvSpPr txBox="1"/>
          <p:nvPr/>
        </p:nvSpPr>
        <p:spPr>
          <a:xfrm>
            <a:off x="7190042" y="22219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xt-217"/>
          <p:cNvSpPr txBox="1"/>
          <p:nvPr/>
        </p:nvSpPr>
        <p:spPr>
          <a:xfrm>
            <a:off x="6202490" y="1600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3–4주차</a:t>
            </a:r>
            <a:endParaRPr lang="en-US" sz="1800" dirty="0"/>
          </a:p>
        </p:txBody>
      </p:sp>
      <p:sp>
        <p:nvSpPr>
          <p:cNvPr id="20" name="box-218"/>
          <p:cNvSpPr/>
          <p:nvPr/>
        </p:nvSpPr>
        <p:spPr>
          <a:xfrm>
            <a:off x="6248210" y="3063240"/>
            <a:ext cx="2468880" cy="2011680"/>
          </a:xfrm>
          <a:prstGeom prst="roundRect">
            <a:avLst>
              <a:gd name="adj" fmla="val 6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xt-219"/>
          <p:cNvSpPr txBox="1"/>
          <p:nvPr/>
        </p:nvSpPr>
        <p:spPr>
          <a:xfrm>
            <a:off x="6431090" y="32461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세팅 완료</a:t>
            </a:r>
            <a:endParaRPr lang="en-US" sz="1800" dirty="0"/>
          </a:p>
        </p:txBody>
      </p:sp>
      <p:sp>
        <p:nvSpPr>
          <p:cNvPr id="22" name="txt-220"/>
          <p:cNvSpPr txBox="1"/>
          <p:nvPr/>
        </p:nvSpPr>
        <p:spPr>
          <a:xfrm>
            <a:off x="6431090" y="37490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정보 · 사진 · 연결 정비, 오류 정보 수정</a:t>
            </a:r>
            <a:endParaRPr lang="en-US" sz="1400" dirty="0"/>
          </a:p>
        </p:txBody>
      </p:sp>
      <p:sp>
        <p:nvSpPr>
          <p:cNvPr id="23" name="node-221"/>
          <p:cNvSpPr/>
          <p:nvPr/>
        </p:nvSpPr>
        <p:spPr>
          <a:xfrm>
            <a:off x="9963645" y="2221992"/>
            <a:ext cx="585216" cy="585216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24" name="txt-222"/>
          <p:cNvSpPr txBox="1"/>
          <p:nvPr/>
        </p:nvSpPr>
        <p:spPr>
          <a:xfrm>
            <a:off x="9963645" y="22219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5" name="txt-223"/>
          <p:cNvSpPr txBox="1"/>
          <p:nvPr/>
        </p:nvSpPr>
        <p:spPr>
          <a:xfrm>
            <a:off x="8976093" y="1600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2개월차~</a:t>
            </a:r>
            <a:endParaRPr lang="en-US" sz="1800" dirty="0"/>
          </a:p>
        </p:txBody>
      </p:sp>
      <p:sp>
        <p:nvSpPr>
          <p:cNvPr id="26" name="box-224"/>
          <p:cNvSpPr/>
          <p:nvPr/>
        </p:nvSpPr>
        <p:spPr>
          <a:xfrm>
            <a:off x="9021813" y="3063240"/>
            <a:ext cx="2468880" cy="2011680"/>
          </a:xfrm>
          <a:prstGeom prst="roundRect">
            <a:avLst>
              <a:gd name="adj" fmla="val 6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txt-225"/>
          <p:cNvSpPr txBox="1"/>
          <p:nvPr/>
        </p:nvSpPr>
        <p:spPr>
          <a:xfrm>
            <a:off x="9204693" y="32461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월간 관리</a:t>
            </a:r>
            <a:endParaRPr lang="en-US" sz="1800" dirty="0"/>
          </a:p>
        </p:txBody>
      </p:sp>
      <p:sp>
        <p:nvSpPr>
          <p:cNvPr id="28" name="txt-226"/>
          <p:cNvSpPr txBox="1"/>
          <p:nvPr/>
        </p:nvSpPr>
        <p:spPr>
          <a:xfrm>
            <a:off x="9204693" y="37490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소식 · 리뷰 답글 · 정보 갱신, 월간 리포트</a:t>
            </a:r>
            <a:endParaRPr lang="en-US" sz="1400" dirty="0"/>
          </a:p>
        </p:txBody>
      </p:sp>
      <p:sp>
        <p:nvSpPr>
          <p:cNvPr id="29" name="txt-227"/>
          <p:cNvSpPr txBox="1"/>
          <p:nvPr/>
        </p:nvSpPr>
        <p:spPr>
          <a:xfrm>
            <a:off x="548640" y="53492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선택 옵션(영수증 리뷰)은 세팅이 끝나는 3주차부터 함께 시작할 수 있습니다.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비용 안내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3대 지도 세팅과 월간 관리는 무료로 제공합니다</a:t>
            </a:r>
            <a:endParaRPr lang="en-US" sz="2800" dirty="0"/>
          </a:p>
        </p:txBody>
      </p:sp>
      <p:graphicFrame>
        <p:nvGraphicFramePr>
          <p:cNvPr id="13" name="table-2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3291840"/>
                <a:gridCol w="4873752"/>
                <a:gridCol w="1737360"/>
              </a:tblGrid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구분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항목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내용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비용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기본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네이버 플레이스 세팅 · 관리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정보 · 사진 · 예약/톡톡 · 소식 · 리뷰 답글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2"/>
                          </a:solidFill>
                        </a:rPr>
                        <a:t>무료</a:t>
                      </a:r>
                      <a:endParaRPr lang="en-US" sz="16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기본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카카오맵 세팅 · 관리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소유권 등록 · 정보 정비 · 카카오톡 채널 연결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2"/>
                          </a:solidFill>
                        </a:rPr>
                        <a:t>무료</a:t>
                      </a:r>
                      <a:endParaRPr lang="en-US" sz="16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기본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티맵 세팅 · 관리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장소 정보 · 응급실 입구 좌표 · 정보 통일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2"/>
                          </a:solidFill>
                        </a:rPr>
                        <a:t>무료</a:t>
                      </a:r>
                      <a:endParaRPr lang="en-US" sz="16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기본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월간 리포트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노출 순위 · 전화 · 길찾기 · 리뷰 현황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2"/>
                          </a:solidFill>
                        </a:rPr>
                        <a:t>무료</a:t>
                      </a:r>
                      <a:endParaRPr lang="en-US" sz="16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옵션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네이버 플레이스 영수증 리뷰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실제 내원 고객 리뷰 참여 활성화(QR · 안내물)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별도 협의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box-229"/>
          <p:cNvSpPr/>
          <p:nvPr/>
        </p:nvSpPr>
        <p:spPr>
          <a:xfrm>
            <a:off x="548640" y="5440680"/>
            <a:ext cx="11094415" cy="548640"/>
          </a:xfrm>
          <a:prstGeom prst="roundRect">
            <a:avLst>
              <a:gd name="adj" fmla="val 2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xt-230"/>
          <p:cNvSpPr txBox="1"/>
          <p:nvPr/>
        </p:nvSpPr>
        <p:spPr>
          <a:xfrm>
            <a:off x="822960" y="5440680"/>
            <a:ext cx="10545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지도 정보 등록 자체도 각 플랫폼에서 무료입니다. 병원 부담 비용은 선택 옵션을 진행하실 때만 발생합니다.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성과 관리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성과는 지도에서 일어나는 행동으로 매월 확인합니다</a:t>
            </a:r>
            <a:endParaRPr lang="en-US" sz="2800" dirty="0"/>
          </a:p>
        </p:txBody>
      </p:sp>
      <p:sp>
        <p:nvSpPr>
          <p:cNvPr id="4" name="box-231"/>
          <p:cNvSpPr/>
          <p:nvPr/>
        </p:nvSpPr>
        <p:spPr>
          <a:xfrm>
            <a:off x="548640" y="1645920"/>
            <a:ext cx="5364328" cy="1645920"/>
          </a:xfrm>
          <a:prstGeom prst="roundRect">
            <a:avLst>
              <a:gd name="adj" fmla="val 77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ic-bg-232"/>
          <p:cNvSpPr/>
          <p:nvPr/>
        </p:nvSpPr>
        <p:spPr>
          <a:xfrm>
            <a:off x="868680" y="2057400"/>
            <a:ext cx="822960" cy="82296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6" name="ic-233" descr="FaMapMarkerA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2263140"/>
            <a:ext cx="411480" cy="411480"/>
          </a:xfrm>
          <a:prstGeom prst="rect">
            <a:avLst/>
          </a:prstGeom>
        </p:spPr>
      </p:pic>
      <p:sp>
        <p:nvSpPr>
          <p:cNvPr id="7" name="txt-234"/>
          <p:cNvSpPr txBox="1"/>
          <p:nvPr/>
        </p:nvSpPr>
        <p:spPr>
          <a:xfrm>
            <a:off x="1965960" y="1965960"/>
            <a:ext cx="3626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노출 순위</a:t>
            </a:r>
            <a:endParaRPr lang="en-US" sz="2000" dirty="0"/>
          </a:p>
        </p:txBody>
      </p:sp>
      <p:sp>
        <p:nvSpPr>
          <p:cNvPr id="8" name="txt-235"/>
          <p:cNvSpPr txBox="1"/>
          <p:nvPr/>
        </p:nvSpPr>
        <p:spPr>
          <a:xfrm>
            <a:off x="1965960" y="2468880"/>
            <a:ext cx="3626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‘예산 병원’, ‘예산 응급실’, ‘예산 검진’ 지도 순위</a:t>
            </a:r>
            <a:endParaRPr lang="en-US" sz="1500" dirty="0"/>
          </a:p>
        </p:txBody>
      </p:sp>
      <p:sp>
        <p:nvSpPr>
          <p:cNvPr id="9" name="box-236"/>
          <p:cNvSpPr/>
          <p:nvPr/>
        </p:nvSpPr>
        <p:spPr>
          <a:xfrm>
            <a:off x="6278728" y="1645920"/>
            <a:ext cx="5364328" cy="1645920"/>
          </a:xfrm>
          <a:prstGeom prst="roundRect">
            <a:avLst>
              <a:gd name="adj" fmla="val 77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ic-bg-237"/>
          <p:cNvSpPr/>
          <p:nvPr/>
        </p:nvSpPr>
        <p:spPr>
          <a:xfrm>
            <a:off x="6598768" y="2057400"/>
            <a:ext cx="822960" cy="82296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11" name="ic-238" descr="FaRou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4508" y="2263140"/>
            <a:ext cx="411480" cy="411480"/>
          </a:xfrm>
          <a:prstGeom prst="rect">
            <a:avLst/>
          </a:prstGeom>
        </p:spPr>
      </p:pic>
      <p:sp>
        <p:nvSpPr>
          <p:cNvPr id="12" name="txt-239"/>
          <p:cNvSpPr txBox="1"/>
          <p:nvPr/>
        </p:nvSpPr>
        <p:spPr>
          <a:xfrm>
            <a:off x="7696048" y="1965960"/>
            <a:ext cx="3626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전화 · 길찾기</a:t>
            </a:r>
            <a:endParaRPr lang="en-US" sz="2000" dirty="0"/>
          </a:p>
        </p:txBody>
      </p:sp>
      <p:sp>
        <p:nvSpPr>
          <p:cNvPr id="13" name="txt-240"/>
          <p:cNvSpPr txBox="1"/>
          <p:nvPr/>
        </p:nvSpPr>
        <p:spPr>
          <a:xfrm>
            <a:off x="7696048" y="2468880"/>
            <a:ext cx="3626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지도에서 바로 전화 · 길찾기를 누른 횟수</a:t>
            </a:r>
            <a:endParaRPr lang="en-US" sz="1500" dirty="0"/>
          </a:p>
        </p:txBody>
      </p:sp>
      <p:sp>
        <p:nvSpPr>
          <p:cNvPr id="14" name="box-241"/>
          <p:cNvSpPr/>
          <p:nvPr/>
        </p:nvSpPr>
        <p:spPr>
          <a:xfrm>
            <a:off x="548640" y="3566160"/>
            <a:ext cx="5364328" cy="1645920"/>
          </a:xfrm>
          <a:prstGeom prst="roundRect">
            <a:avLst>
              <a:gd name="adj" fmla="val 77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ic-bg-242"/>
          <p:cNvSpPr/>
          <p:nvPr/>
        </p:nvSpPr>
        <p:spPr>
          <a:xfrm>
            <a:off x="868680" y="3977640"/>
            <a:ext cx="822960" cy="822960"/>
          </a:xfrm>
          <a:prstGeom prst="ellipse">
            <a:avLst/>
          </a:prstGeom>
          <a:solidFill>
            <a:srgbClr val="E2563B"/>
          </a:solidFill>
          <a:ln w="12700">
            <a:solidFill>
              <a:srgbClr val="E2563B"/>
            </a:solidFill>
            <a:prstDash val="solid"/>
          </a:ln>
        </p:spPr>
      </p:sp>
      <p:pic>
        <p:nvPicPr>
          <p:cNvPr id="16" name="ic-243" descr="FaSta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" y="4183380"/>
            <a:ext cx="411480" cy="411480"/>
          </a:xfrm>
          <a:prstGeom prst="rect">
            <a:avLst/>
          </a:prstGeom>
        </p:spPr>
      </p:pic>
      <p:sp>
        <p:nvSpPr>
          <p:cNvPr id="17" name="txt-244"/>
          <p:cNvSpPr txBox="1"/>
          <p:nvPr/>
        </p:nvSpPr>
        <p:spPr>
          <a:xfrm>
            <a:off x="1965960" y="3886200"/>
            <a:ext cx="3626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리뷰 수 · 내용</a:t>
            </a:r>
            <a:endParaRPr lang="en-US" sz="2000" dirty="0"/>
          </a:p>
        </p:txBody>
      </p:sp>
      <p:sp>
        <p:nvSpPr>
          <p:cNvPr id="18" name="txt-245"/>
          <p:cNvSpPr txBox="1"/>
          <p:nvPr/>
        </p:nvSpPr>
        <p:spPr>
          <a:xfrm>
            <a:off x="1965960" y="4389120"/>
            <a:ext cx="3626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검진 · 응급 · 수술 경험이 담긴 리뷰 증가</a:t>
            </a:r>
            <a:endParaRPr lang="en-US" sz="1500" dirty="0"/>
          </a:p>
        </p:txBody>
      </p:sp>
      <p:sp>
        <p:nvSpPr>
          <p:cNvPr id="19" name="box-246"/>
          <p:cNvSpPr/>
          <p:nvPr/>
        </p:nvSpPr>
        <p:spPr>
          <a:xfrm>
            <a:off x="6278728" y="3566160"/>
            <a:ext cx="5364328" cy="1645920"/>
          </a:xfrm>
          <a:prstGeom prst="roundRect">
            <a:avLst>
              <a:gd name="adj" fmla="val 77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ic-bg-247"/>
          <p:cNvSpPr/>
          <p:nvPr/>
        </p:nvSpPr>
        <p:spPr>
          <a:xfrm>
            <a:off x="6598768" y="3977640"/>
            <a:ext cx="822960" cy="82296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21" name="ic-248" descr="FaUser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4508" y="4183380"/>
            <a:ext cx="411480" cy="411480"/>
          </a:xfrm>
          <a:prstGeom prst="rect">
            <a:avLst/>
          </a:prstGeom>
        </p:spPr>
      </p:pic>
      <p:sp>
        <p:nvSpPr>
          <p:cNvPr id="22" name="txt-249"/>
          <p:cNvSpPr txBox="1"/>
          <p:nvPr/>
        </p:nvSpPr>
        <p:spPr>
          <a:xfrm>
            <a:off x="7696048" y="3886200"/>
            <a:ext cx="3626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내원 경로</a:t>
            </a:r>
            <a:endParaRPr lang="en-US" sz="2000" dirty="0"/>
          </a:p>
        </p:txBody>
      </p:sp>
      <p:sp>
        <p:nvSpPr>
          <p:cNvPr id="23" name="txt-250"/>
          <p:cNvSpPr txBox="1"/>
          <p:nvPr/>
        </p:nvSpPr>
        <p:spPr>
          <a:xfrm>
            <a:off x="7696048" y="4389120"/>
            <a:ext cx="3626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‘어떻게 알고 오셨나요’ 중 지도 · 검색 비중</a:t>
            </a:r>
            <a:endParaRPr lang="en-US" sz="1500" dirty="0"/>
          </a:p>
        </p:txBody>
      </p:sp>
      <p:sp>
        <p:nvSpPr>
          <p:cNvPr id="24" name="txt-251"/>
          <p:cNvSpPr txBox="1"/>
          <p:nvPr/>
        </p:nvSpPr>
        <p:spPr>
          <a:xfrm>
            <a:off x="548640" y="5532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첫 리포트에서 세팅 전 기준값을 함께 드려, 이후 변화를 같은 기준으로 비교합니다.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준비 사항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시작을 위해 병원에서 준비해 주실 것</a:t>
            </a:r>
            <a:endParaRPr lang="en-US" sz="2800" dirty="0"/>
          </a:p>
        </p:txBody>
      </p:sp>
      <p:sp>
        <p:nvSpPr>
          <p:cNvPr id="4" name="box-252"/>
          <p:cNvSpPr/>
          <p:nvPr/>
        </p:nvSpPr>
        <p:spPr>
          <a:xfrm>
            <a:off x="548640" y="1645920"/>
            <a:ext cx="5364328" cy="1645920"/>
          </a:xfrm>
          <a:prstGeom prst="roundRect">
            <a:avLst>
              <a:gd name="adj" fmla="val 777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0">
                <a:alpha val="12000"/>
              </a:srgbClr>
            </a:outerShdw>
          </a:effectLst>
        </p:spPr>
      </p:sp>
      <p:sp>
        <p:nvSpPr>
          <p:cNvPr id="5" name="ic-bg-253"/>
          <p:cNvSpPr/>
          <p:nvPr/>
        </p:nvSpPr>
        <p:spPr>
          <a:xfrm>
            <a:off x="868680" y="2057400"/>
            <a:ext cx="822960" cy="82296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6" name="ic-254" descr="FaFileA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2263140"/>
            <a:ext cx="411480" cy="411480"/>
          </a:xfrm>
          <a:prstGeom prst="rect">
            <a:avLst/>
          </a:prstGeom>
        </p:spPr>
      </p:pic>
      <p:sp>
        <p:nvSpPr>
          <p:cNvPr id="7" name="txt-255"/>
          <p:cNvSpPr txBox="1"/>
          <p:nvPr/>
        </p:nvSpPr>
        <p:spPr>
          <a:xfrm>
            <a:off x="1965960" y="1965960"/>
            <a:ext cx="3626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사업자등록증 · 개설허가증 사본</a:t>
            </a:r>
            <a:endParaRPr lang="en-US" sz="1800" dirty="0"/>
          </a:p>
        </p:txBody>
      </p:sp>
      <p:sp>
        <p:nvSpPr>
          <p:cNvPr id="8" name="txt-256"/>
          <p:cNvSpPr txBox="1"/>
          <p:nvPr/>
        </p:nvSpPr>
        <p:spPr>
          <a:xfrm>
            <a:off x="1965960" y="2468880"/>
            <a:ext cx="3626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카카오맵 등 지도 소유권 등록 심사용</a:t>
            </a:r>
            <a:endParaRPr lang="en-US" sz="1500" dirty="0"/>
          </a:p>
        </p:txBody>
      </p:sp>
      <p:sp>
        <p:nvSpPr>
          <p:cNvPr id="9" name="box-257"/>
          <p:cNvSpPr/>
          <p:nvPr/>
        </p:nvSpPr>
        <p:spPr>
          <a:xfrm>
            <a:off x="6278728" y="1645920"/>
            <a:ext cx="5364328" cy="1645920"/>
          </a:xfrm>
          <a:prstGeom prst="roundRect">
            <a:avLst>
              <a:gd name="adj" fmla="val 777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0">
                <a:alpha val="12000"/>
              </a:srgbClr>
            </a:outerShdw>
          </a:effectLst>
        </p:spPr>
      </p:sp>
      <p:sp>
        <p:nvSpPr>
          <p:cNvPr id="10" name="ic-bg-258"/>
          <p:cNvSpPr/>
          <p:nvPr/>
        </p:nvSpPr>
        <p:spPr>
          <a:xfrm>
            <a:off x="6598768" y="2057400"/>
            <a:ext cx="822960" cy="82296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11" name="ic-259" descr="FaMapMarkerAl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4508" y="2263140"/>
            <a:ext cx="411480" cy="411480"/>
          </a:xfrm>
          <a:prstGeom prst="rect">
            <a:avLst/>
          </a:prstGeom>
        </p:spPr>
      </p:pic>
      <p:sp>
        <p:nvSpPr>
          <p:cNvPr id="12" name="txt-260"/>
          <p:cNvSpPr txBox="1"/>
          <p:nvPr/>
        </p:nvSpPr>
        <p:spPr>
          <a:xfrm>
            <a:off x="7696048" y="1965960"/>
            <a:ext cx="3626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지도 관리 권한 공유</a:t>
            </a:r>
            <a:endParaRPr lang="en-US" sz="1800" dirty="0"/>
          </a:p>
        </p:txBody>
      </p:sp>
      <p:sp>
        <p:nvSpPr>
          <p:cNvPr id="13" name="txt-261"/>
          <p:cNvSpPr txBox="1"/>
          <p:nvPr/>
        </p:nvSpPr>
        <p:spPr>
          <a:xfrm>
            <a:off x="7696048" y="2468880"/>
            <a:ext cx="3626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네이버 스마트플레이스 · 카카오비즈니스 · 티맵 장소 관리</a:t>
            </a:r>
            <a:endParaRPr lang="en-US" sz="1500" dirty="0"/>
          </a:p>
        </p:txBody>
      </p:sp>
      <p:sp>
        <p:nvSpPr>
          <p:cNvPr id="14" name="box-262"/>
          <p:cNvSpPr/>
          <p:nvPr/>
        </p:nvSpPr>
        <p:spPr>
          <a:xfrm>
            <a:off x="548640" y="3566160"/>
            <a:ext cx="5364328" cy="1645920"/>
          </a:xfrm>
          <a:prstGeom prst="roundRect">
            <a:avLst>
              <a:gd name="adj" fmla="val 777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0">
                <a:alpha val="12000"/>
              </a:srgbClr>
            </a:outerShdw>
          </a:effectLst>
        </p:spPr>
      </p:sp>
      <p:sp>
        <p:nvSpPr>
          <p:cNvPr id="15" name="ic-bg-263"/>
          <p:cNvSpPr/>
          <p:nvPr/>
        </p:nvSpPr>
        <p:spPr>
          <a:xfrm>
            <a:off x="868680" y="3977640"/>
            <a:ext cx="822960" cy="82296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16" name="ic-264" descr="FaShieldAl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" y="4183380"/>
            <a:ext cx="411480" cy="411480"/>
          </a:xfrm>
          <a:prstGeom prst="rect">
            <a:avLst/>
          </a:prstGeom>
        </p:spPr>
      </p:pic>
      <p:sp>
        <p:nvSpPr>
          <p:cNvPr id="17" name="txt-265"/>
          <p:cNvSpPr txBox="1"/>
          <p:nvPr/>
        </p:nvSpPr>
        <p:spPr>
          <a:xfrm>
            <a:off x="1965960" y="3886200"/>
            <a:ext cx="3626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의료광고 심의 신청 계정</a:t>
            </a:r>
            <a:endParaRPr lang="en-US" sz="1800" dirty="0"/>
          </a:p>
        </p:txBody>
      </p:sp>
      <p:sp>
        <p:nvSpPr>
          <p:cNvPr id="18" name="txt-266"/>
          <p:cNvSpPr txBox="1"/>
          <p:nvPr/>
        </p:nvSpPr>
        <p:spPr>
          <a:xfrm>
            <a:off x="1965960" y="4389120"/>
            <a:ext cx="3626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홍보 문구가 들어간 소식의 사전심의용</a:t>
            </a:r>
            <a:endParaRPr lang="en-US" sz="1500" dirty="0"/>
          </a:p>
        </p:txBody>
      </p:sp>
      <p:sp>
        <p:nvSpPr>
          <p:cNvPr id="19" name="box-267"/>
          <p:cNvSpPr/>
          <p:nvPr/>
        </p:nvSpPr>
        <p:spPr>
          <a:xfrm>
            <a:off x="6278728" y="3566160"/>
            <a:ext cx="5364328" cy="1645920"/>
          </a:xfrm>
          <a:prstGeom prst="roundRect">
            <a:avLst>
              <a:gd name="adj" fmla="val 777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0">
                <a:alpha val="12000"/>
              </a:srgbClr>
            </a:outerShdw>
          </a:effectLst>
        </p:spPr>
      </p:sp>
      <p:sp>
        <p:nvSpPr>
          <p:cNvPr id="20" name="ic-bg-268"/>
          <p:cNvSpPr/>
          <p:nvPr/>
        </p:nvSpPr>
        <p:spPr>
          <a:xfrm>
            <a:off x="6598768" y="3977640"/>
            <a:ext cx="822960" cy="82296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21" name="ic-269" descr="FaCalendar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4508" y="4183380"/>
            <a:ext cx="411480" cy="411480"/>
          </a:xfrm>
          <a:prstGeom prst="rect">
            <a:avLst/>
          </a:prstGeom>
        </p:spPr>
      </p:pic>
      <p:sp>
        <p:nvSpPr>
          <p:cNvPr id="22" name="txt-270"/>
          <p:cNvSpPr txBox="1"/>
          <p:nvPr/>
        </p:nvSpPr>
        <p:spPr>
          <a:xfrm>
            <a:off x="7696048" y="3886200"/>
            <a:ext cx="3626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기준 정보 확인</a:t>
            </a:r>
            <a:endParaRPr lang="en-US" sz="1800" dirty="0"/>
          </a:p>
        </p:txBody>
      </p:sp>
      <p:sp>
        <p:nvSpPr>
          <p:cNvPr id="23" name="txt-271"/>
          <p:cNvSpPr txBox="1"/>
          <p:nvPr/>
        </p:nvSpPr>
        <p:spPr>
          <a:xfrm>
            <a:off x="7696048" y="4389120"/>
            <a:ext cx="3626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진료시간, 응급실 운영, 검진 항목 · 문의처, 의료진 정보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6949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감사합니다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93192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범위와 일정을 확정하는 대로 바로 현황 진단을 시작하겠습니다.</a:t>
            </a:r>
            <a:endParaRPr lang="en-US" sz="1800" dirty="0"/>
          </a:p>
        </p:txBody>
      </p:sp>
      <p:sp>
        <p:nvSpPr>
          <p:cNvPr id="4" name="txt-272"/>
          <p:cNvSpPr txBox="1"/>
          <p:nvPr/>
        </p:nvSpPr>
        <p:spPr>
          <a:xfrm>
            <a:off x="548640" y="5943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리드컴퍼니</a:t>
            </a:r>
            <a:endParaRPr lang="en-US" sz="1400" dirty="0"/>
          </a:p>
        </p:txBody>
      </p:sp>
      <p:pic>
        <p:nvPicPr>
          <p:cNvPr id="5" name="pin-273" descr="지도 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0" y="2103120"/>
            <a:ext cx="1097280" cy="14630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Yesan Map Proposal v2">
  <a:themeElements>
    <a:clrScheme name="Yesan Map Proposal v2">
      <a:dk1>
        <a:srgbClr val="1C2629"/>
      </a:dk1>
      <a:lt1>
        <a:srgbClr val="FFFFFF"/>
      </a:lt1>
      <a:dk2>
        <a:srgbClr val="0F3B40"/>
      </a:dk2>
      <a:lt2>
        <a:srgbClr val="EDF3F2"/>
      </a:lt2>
      <a:accent1>
        <a:srgbClr val="1E8C82"/>
      </a:accent1>
      <a:accent2>
        <a:srgbClr val="E2563B"/>
      </a:accent2>
      <a:accent3>
        <a:srgbClr val="03C75A"/>
      </a:accent3>
      <a:accent4>
        <a:srgbClr val="F5C400"/>
      </a:accent4>
      <a:accent5>
        <a:srgbClr val="3B6EF0"/>
      </a:accent5>
      <a:accent6>
        <a:srgbClr val="7C8C90"/>
      </a:accent6>
      <a:hlink>
        <a:srgbClr val="1E8C82"/>
      </a:hlink>
      <a:folHlink>
        <a:srgbClr val="0F3B40"/>
      </a:folHlink>
    </a:clrScheme>
    <a:fontScheme name="Yesan Map Proposal v2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리드컴퍼니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예산명지병원 지도 기반 로컬 마케팅 제안서</dc:title>
  <dc:subject>PptxGenJS Presentation</dc:subject>
  <dc:creator>리드컴퍼니</dc:creator>
  <cp:lastModifiedBy>리드컴퍼니</cp:lastModifiedBy>
  <cp:revision>1</cp:revision>
  <dcterms:created xsi:type="dcterms:W3CDTF">2026-10-14T04:22:20Z</dcterms:created>
  <dcterms:modified xsi:type="dcterms:W3CDTF">2026-10-14T04:22:20Z</dcterms:modified>
</cp:coreProperties>
</file>