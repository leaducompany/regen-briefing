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c76f807-24e7-0c3c-06fc-12e9ab71bca2}">
          <p14:sldIdLst>
            <p14:sldId id="256"/>
            <p14:sldId id="257"/>
          </p14:sldIdLst>
        </p14:section>
        <p14:section name="요약" id="{52369944-79b2-0017-4b12-f632ce6440ed}">
          <p14:sldIdLst>
            <p14:sldId id="258"/>
          </p14:sldIdLst>
        </p14:section>
        <p14:section name="현황" id="{838a7aa4-5581-4cef-2471-8aef5c863b19}">
          <p14:sldIdLst>
            <p14:sldId id="259"/>
            <p14:sldId id="260"/>
          </p14:sldIdLst>
        </p14:section>
        <p14:section name="전략" id="{674e98f3-bcb9-7686-9e84-c7ef171eff86}">
          <p14:sldIdLst>
            <p14:sldId id="261"/>
            <p14:sldId id="262"/>
          </p14:sldIdLst>
        </p14:section>
        <p14:section name="제안" id="{0d67bbff-28ab-7777-31f2-bb7e455c23e5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일정 · 비용" id="{316da76f-63b5-7a56-d9ec-1f0a9cda7491}">
          <p14:sldIdLst>
            <p14:sldId id="270"/>
            <p14:sldId id="271"/>
            <p14:sldId id="272"/>
          </p14:sldIdLst>
        </p14:section>
        <p14:section name="진행 요청" id="{dca3ef8c-b14d-e6a5-6687-710fa9cb44ac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0"/>
                </a:solidFill>
                <a:latin typeface="+mn-lt"/>
              </a:rPr>
              <a:t>안드로이드 지도 앱 이용자 점유율 (2025.6, 중복 포함)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 점유율</c:v>
                </c:pt>
              </c:strCache>
            </c:strRef>
          </c:tx>
          <c:spPr>
            <a:solidFill>
              <a:srgbClr val="03C7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C26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C7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네이버지도</c:v>
                  </c:pt>
                  <c:pt idx="1">
                    <c:v>티맵</c:v>
                  </c:pt>
                  <c:pt idx="2">
                    <c:v>카카오맵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69.4</c:v>
                </c:pt>
                <c:pt idx="1">
                  <c:v>42.2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C26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C26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예산명지병원 지도 기반 로컬 마케팅 제안  |  리드컴퍼니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예산명지병원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지도 기반 로컬 마케팅 제안서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네이버 플레이스 · 카카오맵 · 티맵 세팅 및 운영 관리</a:t>
            </a:r>
            <a:endParaRPr lang="en-US" sz="1800" dirty="0"/>
          </a:p>
        </p:txBody>
      </p:sp>
      <p:sp>
        <p:nvSpPr>
          <p:cNvPr id="4" name="txt-1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   |   2026. 10</a:t>
            </a:r>
            <a:endParaRPr lang="en-US" sz="1400" dirty="0"/>
          </a:p>
        </p:txBody>
      </p:sp>
      <p:sp>
        <p:nvSpPr>
          <p:cNvPr id="5" name="halo-2"/>
          <p:cNvSpPr/>
          <p:nvPr/>
        </p:nvSpPr>
        <p:spPr>
          <a:xfrm>
            <a:off x="8001000" y="1097280"/>
            <a:ext cx="3657600" cy="36576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halo-3"/>
          <p:cNvSpPr/>
          <p:nvPr/>
        </p:nvSpPr>
        <p:spPr>
          <a:xfrm>
            <a:off x="8549640" y="164592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pin-4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  <p:sp>
        <p:nvSpPr>
          <p:cNvPr id="8" name="chip-5"/>
          <p:cNvSpPr/>
          <p:nvPr/>
        </p:nvSpPr>
        <p:spPr>
          <a:xfrm>
            <a:off x="7726680" y="4160520"/>
            <a:ext cx="731520" cy="731520"/>
          </a:xfrm>
          <a:prstGeom prst="ellipse">
            <a:avLst/>
          </a:prstGeom>
          <a:solidFill>
            <a:srgbClr val="03C75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xt-6"/>
          <p:cNvSpPr txBox="1"/>
          <p:nvPr/>
        </p:nvSpPr>
        <p:spPr>
          <a:xfrm>
            <a:off x="772668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</a:t>
            </a:r>
            <a:endParaRPr lang="en-US" sz="2200" dirty="0"/>
          </a:p>
        </p:txBody>
      </p:sp>
      <p:sp>
        <p:nvSpPr>
          <p:cNvPr id="10" name="chip-7"/>
          <p:cNvSpPr/>
          <p:nvPr/>
        </p:nvSpPr>
        <p:spPr>
          <a:xfrm>
            <a:off x="9372600" y="4709160"/>
            <a:ext cx="731520" cy="731520"/>
          </a:xfrm>
          <a:prstGeom prst="ellipse">
            <a:avLst/>
          </a:prstGeom>
          <a:solidFill>
            <a:srgbClr val="F5C40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xt-8"/>
          <p:cNvSpPr txBox="1"/>
          <p:nvPr/>
        </p:nvSpPr>
        <p:spPr>
          <a:xfrm>
            <a:off x="937260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</a:t>
            </a:r>
            <a:endParaRPr lang="en-US" sz="2200" dirty="0"/>
          </a:p>
        </p:txBody>
      </p:sp>
      <p:sp>
        <p:nvSpPr>
          <p:cNvPr id="12" name="chip-9"/>
          <p:cNvSpPr/>
          <p:nvPr/>
        </p:nvSpPr>
        <p:spPr>
          <a:xfrm>
            <a:off x="11018520" y="4160520"/>
            <a:ext cx="731520" cy="731520"/>
          </a:xfrm>
          <a:prstGeom prst="ellipse">
            <a:avLst/>
          </a:prstGeom>
          <a:solidFill>
            <a:srgbClr val="3B6EF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xt-10"/>
          <p:cNvSpPr txBox="1"/>
          <p:nvPr/>
        </p:nvSpPr>
        <p:spPr>
          <a:xfrm>
            <a:off x="1101852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목차</a:t>
            </a:r>
            <a:endParaRPr lang="en-US" sz="2800" dirty="0"/>
          </a:p>
        </p:txBody>
      </p:sp>
      <p:sp>
        <p:nvSpPr>
          <p:cNvPr id="4" name="box-11"/>
          <p:cNvSpPr/>
          <p:nvPr/>
        </p:nvSpPr>
        <p:spPr>
          <a:xfrm>
            <a:off x="548640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xt-12"/>
          <p:cNvSpPr txBox="1"/>
          <p:nvPr/>
        </p:nvSpPr>
        <p:spPr>
          <a:xfrm>
            <a:off x="822960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xt-13"/>
          <p:cNvSpPr txBox="1"/>
          <p:nvPr/>
        </p:nvSpPr>
        <p:spPr>
          <a:xfrm>
            <a:off x="822960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지역 현황</a:t>
            </a:r>
            <a:endParaRPr lang="en-US" sz="2000" dirty="0"/>
          </a:p>
        </p:txBody>
      </p:sp>
      <p:sp>
        <p:nvSpPr>
          <p:cNvPr id="7" name="txt-14"/>
          <p:cNvSpPr txBox="1"/>
          <p:nvPr/>
        </p:nvSpPr>
        <p:spPr>
          <a:xfrm>
            <a:off x="822960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예산의 환자 · 지도 앱 이용</a:t>
            </a:r>
            <a:endParaRPr lang="en-US" sz="1400" dirty="0"/>
          </a:p>
        </p:txBody>
      </p:sp>
      <p:sp>
        <p:nvSpPr>
          <p:cNvPr id="8" name="box-15"/>
          <p:cNvSpPr/>
          <p:nvPr/>
        </p:nvSpPr>
        <p:spPr>
          <a:xfrm>
            <a:off x="2822387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16"/>
          <p:cNvSpPr txBox="1"/>
          <p:nvPr/>
        </p:nvSpPr>
        <p:spPr>
          <a:xfrm>
            <a:off x="3096707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10" name="txt-17"/>
          <p:cNvSpPr txBox="1"/>
          <p:nvPr/>
        </p:nvSpPr>
        <p:spPr>
          <a:xfrm>
            <a:off x="3096707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전략</a:t>
            </a:r>
            <a:endParaRPr lang="en-US" sz="2000" dirty="0"/>
          </a:p>
        </p:txBody>
      </p:sp>
      <p:sp>
        <p:nvSpPr>
          <p:cNvPr id="11" name="txt-18"/>
          <p:cNvSpPr txBox="1"/>
          <p:nvPr/>
        </p:nvSpPr>
        <p:spPr>
          <a:xfrm>
            <a:off x="3096707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강점 · 타깃별 메시지</a:t>
            </a:r>
            <a:endParaRPr lang="en-US" sz="1400" dirty="0"/>
          </a:p>
        </p:txBody>
      </p:sp>
      <p:sp>
        <p:nvSpPr>
          <p:cNvPr id="12" name="box-19"/>
          <p:cNvSpPr/>
          <p:nvPr/>
        </p:nvSpPr>
        <p:spPr>
          <a:xfrm>
            <a:off x="5096134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xt-20"/>
          <p:cNvSpPr txBox="1"/>
          <p:nvPr/>
        </p:nvSpPr>
        <p:spPr>
          <a:xfrm>
            <a:off x="5370454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03</a:t>
            </a:r>
            <a:endParaRPr lang="en-US" sz="4000" dirty="0"/>
          </a:p>
        </p:txBody>
      </p:sp>
      <p:sp>
        <p:nvSpPr>
          <p:cNvPr id="14" name="txt-21"/>
          <p:cNvSpPr txBox="1"/>
          <p:nvPr/>
        </p:nvSpPr>
        <p:spPr>
          <a:xfrm>
            <a:off x="5370454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제안 내용</a:t>
            </a:r>
            <a:endParaRPr lang="en-US" sz="2000" dirty="0"/>
          </a:p>
        </p:txBody>
      </p:sp>
      <p:sp>
        <p:nvSpPr>
          <p:cNvPr id="15" name="txt-22"/>
          <p:cNvSpPr txBox="1"/>
          <p:nvPr/>
        </p:nvSpPr>
        <p:spPr>
          <a:xfrm>
            <a:off x="5370454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3대 지도 세팅 · 관리, 옵션, 확장</a:t>
            </a:r>
            <a:endParaRPr lang="en-US" sz="1400" dirty="0"/>
          </a:p>
        </p:txBody>
      </p:sp>
      <p:sp>
        <p:nvSpPr>
          <p:cNvPr id="16" name="box-23"/>
          <p:cNvSpPr/>
          <p:nvPr/>
        </p:nvSpPr>
        <p:spPr>
          <a:xfrm>
            <a:off x="7369881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-24"/>
          <p:cNvSpPr txBox="1"/>
          <p:nvPr/>
        </p:nvSpPr>
        <p:spPr>
          <a:xfrm>
            <a:off x="7644201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18" name="txt-25"/>
          <p:cNvSpPr txBox="1"/>
          <p:nvPr/>
        </p:nvSpPr>
        <p:spPr>
          <a:xfrm>
            <a:off x="7644201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일정 · 비용</a:t>
            </a:r>
            <a:endParaRPr lang="en-US" sz="2000" dirty="0"/>
          </a:p>
        </p:txBody>
      </p:sp>
      <p:sp>
        <p:nvSpPr>
          <p:cNvPr id="19" name="txt-26"/>
          <p:cNvSpPr txBox="1"/>
          <p:nvPr/>
        </p:nvSpPr>
        <p:spPr>
          <a:xfrm>
            <a:off x="7644201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진행 일정 · 비용 · 성과 관리</a:t>
            </a:r>
            <a:endParaRPr lang="en-US" sz="1400" dirty="0"/>
          </a:p>
        </p:txBody>
      </p:sp>
      <p:sp>
        <p:nvSpPr>
          <p:cNvPr id="20" name="box-27"/>
          <p:cNvSpPr/>
          <p:nvPr/>
        </p:nvSpPr>
        <p:spPr>
          <a:xfrm>
            <a:off x="9643628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28"/>
          <p:cNvSpPr txBox="1"/>
          <p:nvPr/>
        </p:nvSpPr>
        <p:spPr>
          <a:xfrm>
            <a:off x="9917948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05</a:t>
            </a:r>
            <a:endParaRPr lang="en-US" sz="4000" dirty="0"/>
          </a:p>
        </p:txBody>
      </p:sp>
      <p:sp>
        <p:nvSpPr>
          <p:cNvPr id="22" name="txt-29"/>
          <p:cNvSpPr txBox="1"/>
          <p:nvPr/>
        </p:nvSpPr>
        <p:spPr>
          <a:xfrm>
            <a:off x="9917948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진행 요청</a:t>
            </a:r>
            <a:endParaRPr lang="en-US" sz="2000" dirty="0"/>
          </a:p>
        </p:txBody>
      </p:sp>
      <p:sp>
        <p:nvSpPr>
          <p:cNvPr id="23" name="txt-30"/>
          <p:cNvSpPr txBox="1"/>
          <p:nvPr/>
        </p:nvSpPr>
        <p:spPr>
          <a:xfrm>
            <a:off x="9917948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준비 사항</a:t>
            </a:r>
            <a:endParaRPr lang="en-US" sz="1400" dirty="0"/>
          </a:p>
        </p:txBody>
      </p:sp>
      <p:sp>
        <p:nvSpPr>
          <p:cNvPr id="24" name="txt-31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핵심은 03 제안 내용입니다. 3대 지도 세팅 · 관리는 무료로 제공합니다.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요약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환자가 병원을 찾는 지도 앱에서, 예산명지가 먼저 보이게 합니다</a:t>
            </a:r>
            <a:endParaRPr lang="en-US" sz="2800" dirty="0"/>
          </a:p>
        </p:txBody>
      </p:sp>
      <p:sp>
        <p:nvSpPr>
          <p:cNvPr id="4" name="box-32"/>
          <p:cNvSpPr/>
          <p:nvPr/>
        </p:nvSpPr>
        <p:spPr>
          <a:xfrm>
            <a:off x="548640" y="1600200"/>
            <a:ext cx="466344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xt-33"/>
          <p:cNvSpPr txBox="1"/>
          <p:nvPr/>
        </p:nvSpPr>
        <p:spPr>
          <a:xfrm>
            <a:off x="960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기본 서비스</a:t>
            </a:r>
            <a:endParaRPr lang="en-US" sz="1600" dirty="0"/>
          </a:p>
        </p:txBody>
      </p:sp>
      <p:sp>
        <p:nvSpPr>
          <p:cNvPr id="6" name="txt-34"/>
          <p:cNvSpPr txBox="1"/>
          <p:nvPr/>
        </p:nvSpPr>
        <p:spPr>
          <a:xfrm>
            <a:off x="96012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0원</a:t>
            </a:r>
            <a:endParaRPr lang="en-US" sz="7200" dirty="0"/>
          </a:p>
        </p:txBody>
      </p:sp>
      <p:sp>
        <p:nvSpPr>
          <p:cNvPr id="7" name="txt-35"/>
          <p:cNvSpPr txBox="1"/>
          <p:nvPr/>
        </p:nvSpPr>
        <p:spPr>
          <a:xfrm>
            <a:off x="96012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네이버 플레이스 · 카카오맵 · 티맵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3대 지도 세팅 및 월간 관리를 무료로 제공합니다.</a:t>
            </a:r>
            <a:endParaRPr lang="en-US" sz="1600" dirty="0"/>
          </a:p>
        </p:txBody>
      </p:sp>
      <p:sp>
        <p:nvSpPr>
          <p:cNvPr id="8" name="chip-3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9" name="txt-37"/>
          <p:cNvSpPr txBox="1"/>
          <p:nvPr/>
        </p:nvSpPr>
        <p:spPr>
          <a:xfrm>
            <a:off x="9601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chip-38"/>
          <p:cNvSpPr/>
          <p:nvPr/>
        </p:nvSpPr>
        <p:spPr>
          <a:xfrm>
            <a:off x="1828800" y="493776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xt-39"/>
          <p:cNvSpPr txBox="1"/>
          <p:nvPr/>
        </p:nvSpPr>
        <p:spPr>
          <a:xfrm>
            <a:off x="1828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2" name="chip-40"/>
          <p:cNvSpPr/>
          <p:nvPr/>
        </p:nvSpPr>
        <p:spPr>
          <a:xfrm>
            <a:off x="2697480" y="493776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3" name="txt-41"/>
          <p:cNvSpPr txBox="1"/>
          <p:nvPr/>
        </p:nvSpPr>
        <p:spPr>
          <a:xfrm>
            <a:off x="2697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4" name="ic-bg-42"/>
          <p:cNvSpPr/>
          <p:nvPr/>
        </p:nvSpPr>
        <p:spPr>
          <a:xfrm>
            <a:off x="5760720" y="178308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43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1977390"/>
            <a:ext cx="388620" cy="388620"/>
          </a:xfrm>
          <a:prstGeom prst="rect">
            <a:avLst/>
          </a:prstGeom>
        </p:spPr>
      </p:pic>
      <p:sp>
        <p:nvSpPr>
          <p:cNvPr id="16" name="txt-44"/>
          <p:cNvSpPr txBox="1"/>
          <p:nvPr/>
        </p:nvSpPr>
        <p:spPr>
          <a:xfrm>
            <a:off x="6812280" y="173736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3대 지도 세팅</a:t>
            </a:r>
            <a:endParaRPr lang="en-US" sz="1900" dirty="0"/>
          </a:p>
        </p:txBody>
      </p:sp>
      <p:sp>
        <p:nvSpPr>
          <p:cNvPr id="17" name="txt-45"/>
          <p:cNvSpPr txBox="1"/>
          <p:nvPr/>
        </p:nvSpPr>
        <p:spPr>
          <a:xfrm>
            <a:off x="6812280" y="219456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진료과·진료시간·24시간 응급·위치·사진을 세 지도에 똑같이, 정확하게 정비</a:t>
            </a:r>
            <a:endParaRPr lang="en-US" sz="1500" dirty="0"/>
          </a:p>
        </p:txBody>
      </p:sp>
      <p:sp>
        <p:nvSpPr>
          <p:cNvPr id="18" name="ic-bg-46"/>
          <p:cNvSpPr/>
          <p:nvPr/>
        </p:nvSpPr>
        <p:spPr>
          <a:xfrm>
            <a:off x="5760720" y="324612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9" name="ic-47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3440430"/>
            <a:ext cx="388620" cy="388620"/>
          </a:xfrm>
          <a:prstGeom prst="rect">
            <a:avLst/>
          </a:prstGeom>
        </p:spPr>
      </p:pic>
      <p:sp>
        <p:nvSpPr>
          <p:cNvPr id="20" name="txt-48"/>
          <p:cNvSpPr txBox="1"/>
          <p:nvPr/>
        </p:nvSpPr>
        <p:spPr>
          <a:xfrm>
            <a:off x="6812280" y="320040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월간 운영 관리</a:t>
            </a:r>
            <a:endParaRPr lang="en-US" sz="1900" dirty="0"/>
          </a:p>
        </p:txBody>
      </p:sp>
      <p:sp>
        <p:nvSpPr>
          <p:cNvPr id="21" name="txt-49"/>
          <p:cNvSpPr txBox="1"/>
          <p:nvPr/>
        </p:nvSpPr>
        <p:spPr>
          <a:xfrm>
            <a:off x="6812280" y="365760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정보 갱신, 소식 발행, 리뷰 답글, 월간 성과 리포트</a:t>
            </a:r>
            <a:endParaRPr lang="en-US" sz="1500" dirty="0"/>
          </a:p>
        </p:txBody>
      </p:sp>
      <p:sp>
        <p:nvSpPr>
          <p:cNvPr id="22" name="ic-bg-50"/>
          <p:cNvSpPr/>
          <p:nvPr/>
        </p:nvSpPr>
        <p:spPr>
          <a:xfrm>
            <a:off x="5760720" y="4709160"/>
            <a:ext cx="777240" cy="77724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3" name="ic-51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4903470"/>
            <a:ext cx="388620" cy="388620"/>
          </a:xfrm>
          <a:prstGeom prst="rect">
            <a:avLst/>
          </a:prstGeom>
        </p:spPr>
      </p:pic>
      <p:sp>
        <p:nvSpPr>
          <p:cNvPr id="24" name="txt-52"/>
          <p:cNvSpPr txBox="1"/>
          <p:nvPr/>
        </p:nvSpPr>
        <p:spPr>
          <a:xfrm>
            <a:off x="6812280" y="466344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선택 옵션 · 리뷰</a:t>
            </a:r>
            <a:endParaRPr lang="en-US" sz="1900" dirty="0"/>
          </a:p>
        </p:txBody>
      </p:sp>
      <p:sp>
        <p:nvSpPr>
          <p:cNvPr id="25" name="txt-53"/>
          <p:cNvSpPr txBox="1"/>
          <p:nvPr/>
        </p:nvSpPr>
        <p:spPr>
          <a:xfrm>
            <a:off x="6812280" y="51206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필요 시 네이버 플레이스 영수증 리뷰 참여 활성화로 타깃 검색 강화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지역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예산에서는 주민 · 근로자 · 관광객 세 집단이 병원을 찾습니다</a:t>
            </a:r>
            <a:endParaRPr lang="en-US" sz="2800" dirty="0"/>
          </a:p>
        </p:txBody>
      </p:sp>
      <p:sp>
        <p:nvSpPr>
          <p:cNvPr id="4" name="box-54"/>
          <p:cNvSpPr/>
          <p:nvPr/>
        </p:nvSpPr>
        <p:spPr>
          <a:xfrm>
            <a:off x="548640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5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56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342900" cy="342900"/>
          </a:xfrm>
          <a:prstGeom prst="rect">
            <a:avLst/>
          </a:prstGeom>
        </p:spPr>
      </p:pic>
      <p:sp>
        <p:nvSpPr>
          <p:cNvPr id="7" name="txt-57"/>
          <p:cNvSpPr txBox="1"/>
          <p:nvPr/>
        </p:nvSpPr>
        <p:spPr>
          <a:xfrm>
            <a:off x="868680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78,318명</a:t>
            </a:r>
            <a:endParaRPr lang="en-US" sz="3000" dirty="0"/>
          </a:p>
        </p:txBody>
      </p:sp>
      <p:sp>
        <p:nvSpPr>
          <p:cNvPr id="8" name="txt-58"/>
          <p:cNvSpPr txBox="1"/>
          <p:nvPr/>
        </p:nvSpPr>
        <p:spPr>
          <a:xfrm>
            <a:off x="868680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예산군 인구</a:t>
            </a:r>
            <a:endParaRPr lang="en-US" sz="1500" dirty="0"/>
          </a:p>
        </p:txBody>
      </p:sp>
      <p:sp>
        <p:nvSpPr>
          <p:cNvPr id="9" name="txt-59"/>
          <p:cNvSpPr txBox="1"/>
          <p:nvPr/>
        </p:nvSpPr>
        <p:spPr>
          <a:xfrm>
            <a:off x="868680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65세 이상 36.7% (2026.6)</a:t>
            </a:r>
            <a:endParaRPr lang="en-US" sz="1400" dirty="0"/>
          </a:p>
        </p:txBody>
      </p:sp>
      <p:sp>
        <p:nvSpPr>
          <p:cNvPr id="10" name="box-60"/>
          <p:cNvSpPr/>
          <p:nvPr/>
        </p:nvSpPr>
        <p:spPr>
          <a:xfrm>
            <a:off x="3390824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61"/>
          <p:cNvSpPr/>
          <p:nvPr/>
        </p:nvSpPr>
        <p:spPr>
          <a:xfrm>
            <a:off x="3710864" y="1920240"/>
            <a:ext cx="685800" cy="68580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6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14" y="2091690"/>
            <a:ext cx="342900" cy="342900"/>
          </a:xfrm>
          <a:prstGeom prst="rect">
            <a:avLst/>
          </a:prstGeom>
        </p:spPr>
      </p:pic>
      <p:sp>
        <p:nvSpPr>
          <p:cNvPr id="13" name="txt-63"/>
          <p:cNvSpPr txBox="1"/>
          <p:nvPr/>
        </p:nvSpPr>
        <p:spPr>
          <a:xfrm>
            <a:off x="3710864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81개 기업</a:t>
            </a:r>
            <a:endParaRPr lang="en-US" sz="3000" dirty="0"/>
          </a:p>
        </p:txBody>
      </p:sp>
      <p:sp>
        <p:nvSpPr>
          <p:cNvPr id="14" name="txt-64"/>
          <p:cNvSpPr txBox="1"/>
          <p:nvPr/>
        </p:nvSpPr>
        <p:spPr>
          <a:xfrm>
            <a:off x="3710864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민선8기 유치 기업</a:t>
            </a:r>
            <a:endParaRPr lang="en-US" sz="1500" dirty="0"/>
          </a:p>
        </p:txBody>
      </p:sp>
      <p:sp>
        <p:nvSpPr>
          <p:cNvPr id="15" name="txt-65"/>
          <p:cNvSpPr txBox="1"/>
          <p:nvPr/>
        </p:nvSpPr>
        <p:spPr>
          <a:xfrm>
            <a:off x="3710864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일자리 1,489개, 산업단지 4곳 조성·확장</a:t>
            </a:r>
            <a:endParaRPr lang="en-US" sz="1400" dirty="0"/>
          </a:p>
        </p:txBody>
      </p:sp>
      <p:sp>
        <p:nvSpPr>
          <p:cNvPr id="16" name="box-66"/>
          <p:cNvSpPr/>
          <p:nvPr/>
        </p:nvSpPr>
        <p:spPr>
          <a:xfrm>
            <a:off x="6233008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-bg-67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8" name="ic-68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19" name="txt-69"/>
          <p:cNvSpPr txBox="1"/>
          <p:nvPr/>
        </p:nvSpPr>
        <p:spPr>
          <a:xfrm>
            <a:off x="6553048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1,000만 명</a:t>
            </a:r>
            <a:endParaRPr lang="en-US" sz="3000" dirty="0"/>
          </a:p>
        </p:txBody>
      </p:sp>
      <p:sp>
        <p:nvSpPr>
          <p:cNvPr id="20" name="txt-70"/>
          <p:cNvSpPr txBox="1"/>
          <p:nvPr/>
        </p:nvSpPr>
        <p:spPr>
          <a:xfrm>
            <a:off x="6553048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예당호 출렁다리 누적</a:t>
            </a:r>
            <a:endParaRPr lang="en-US" sz="1500" dirty="0"/>
          </a:p>
        </p:txBody>
      </p:sp>
      <p:sp>
        <p:nvSpPr>
          <p:cNvPr id="21" name="txt-71"/>
          <p:cNvSpPr txBox="1"/>
          <p:nvPr/>
        </p:nvSpPr>
        <p:spPr>
          <a:xfrm>
            <a:off x="6553048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2026.6 돌파, 연 100만–200만 명</a:t>
            </a:r>
            <a:endParaRPr lang="en-US" sz="1400" dirty="0"/>
          </a:p>
        </p:txBody>
      </p:sp>
      <p:sp>
        <p:nvSpPr>
          <p:cNvPr id="22" name="box-72"/>
          <p:cNvSpPr/>
          <p:nvPr/>
        </p:nvSpPr>
        <p:spPr>
          <a:xfrm>
            <a:off x="9075191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-bg-73"/>
          <p:cNvSpPr/>
          <p:nvPr/>
        </p:nvSpPr>
        <p:spPr>
          <a:xfrm>
            <a:off x="9395231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4" name="ic-74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681" y="2091690"/>
            <a:ext cx="342900" cy="342900"/>
          </a:xfrm>
          <a:prstGeom prst="rect">
            <a:avLst/>
          </a:prstGeom>
        </p:spPr>
      </p:pic>
      <p:sp>
        <p:nvSpPr>
          <p:cNvPr id="25" name="txt-75"/>
          <p:cNvSpPr txBox="1"/>
          <p:nvPr/>
        </p:nvSpPr>
        <p:spPr>
          <a:xfrm>
            <a:off x="9395231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600만 명</a:t>
            </a:r>
            <a:endParaRPr lang="en-US" sz="3000" dirty="0"/>
          </a:p>
        </p:txBody>
      </p:sp>
      <p:sp>
        <p:nvSpPr>
          <p:cNvPr id="26" name="txt-76"/>
          <p:cNvSpPr txBox="1"/>
          <p:nvPr/>
        </p:nvSpPr>
        <p:spPr>
          <a:xfrm>
            <a:off x="9395231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예산시장 방문객</a:t>
            </a:r>
            <a:endParaRPr lang="en-US" sz="1500" dirty="0"/>
          </a:p>
        </p:txBody>
      </p:sp>
      <p:sp>
        <p:nvSpPr>
          <p:cNvPr id="27" name="txt-77"/>
          <p:cNvSpPr txBox="1"/>
          <p:nvPr/>
        </p:nvSpPr>
        <p:spPr>
          <a:xfrm>
            <a:off x="9395231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2023.1 재개장 후 2024.6까지</a:t>
            </a:r>
            <a:endParaRPr lang="en-US" sz="1400" dirty="0"/>
          </a:p>
        </p:txBody>
      </p:sp>
      <p:sp>
        <p:nvSpPr>
          <p:cNvPr id="28" name="txt-78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세 집단 모두 처음 찾는 병원은 스마트폰 지도 앱에서 고릅니다. 지역 밖에서 오는 근로자·관광객일수록 지도 정보가 곧 병원의 첫인상입니다.</a:t>
            </a:r>
            <a:endParaRPr lang="en-US" sz="1600" dirty="0"/>
          </a:p>
        </p:txBody>
      </p:sp>
      <p:sp>
        <p:nvSpPr>
          <p:cNvPr id="29" name="txt-7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행정안전부 주민등록 인구통계(k-calc 집계), 예산군 발표(뉴스프리존 2026.7 / 2026.6), 서울신문(2025.4)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지도 앱 이용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 앱 이용은 네이버 · 티맵 · 카카오맵 세 곳에 모여 있습니다</a:t>
            </a:r>
            <a:endParaRPr lang="en-US" sz="2800" dirty="0"/>
          </a:p>
        </p:txBody>
      </p:sp>
      <p:sp>
        <p:nvSpPr>
          <p:cNvPr id="4" name="box-80"/>
          <p:cNvSpPr/>
          <p:nvPr/>
        </p:nvSpPr>
        <p:spPr>
          <a:xfrm>
            <a:off x="548640" y="1554480"/>
            <a:ext cx="6400800" cy="4343400"/>
          </a:xfrm>
          <a:prstGeom prst="roundRect">
            <a:avLst>
              <a:gd name="adj" fmla="val 2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5" name="chart-81" descr=""/>
          <p:cNvGraphicFramePr/>
          <p:nvPr/>
        </p:nvGraphicFramePr>
        <p:xfrm>
          <a:off x="731520" y="169164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ip-82"/>
          <p:cNvSpPr/>
          <p:nvPr/>
        </p:nvSpPr>
        <p:spPr>
          <a:xfrm>
            <a:off x="7269480" y="1645920"/>
            <a:ext cx="548640" cy="54864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7" name="txt-83"/>
          <p:cNvSpPr txBox="1"/>
          <p:nvPr/>
        </p:nvSpPr>
        <p:spPr>
          <a:xfrm>
            <a:off x="7269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</a:t>
            </a:r>
            <a:endParaRPr lang="en-US" sz="1500" dirty="0"/>
          </a:p>
        </p:txBody>
      </p:sp>
      <p:sp>
        <p:nvSpPr>
          <p:cNvPr id="8" name="txt-84"/>
          <p:cNvSpPr txBox="1"/>
          <p:nvPr/>
        </p:nvSpPr>
        <p:spPr>
          <a:xfrm>
            <a:off x="80010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네이버 플레이스</a:t>
            </a:r>
            <a:endParaRPr lang="en-US" sz="1800" dirty="0"/>
          </a:p>
        </p:txBody>
      </p:sp>
      <p:sp>
        <p:nvSpPr>
          <p:cNvPr id="9" name="txt-85"/>
          <p:cNvSpPr txBox="1"/>
          <p:nvPr/>
        </p:nvSpPr>
        <p:spPr>
          <a:xfrm>
            <a:off x="800100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검색과 지도가 한 화면. 주민·근로자·검진 담당자의 기본 채널</a:t>
            </a:r>
            <a:endParaRPr lang="en-US" sz="1400" dirty="0"/>
          </a:p>
        </p:txBody>
      </p:sp>
      <p:sp>
        <p:nvSpPr>
          <p:cNvPr id="10" name="chip-86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1" name="txt-87"/>
          <p:cNvSpPr txBox="1"/>
          <p:nvPr/>
        </p:nvSpPr>
        <p:spPr>
          <a:xfrm>
            <a:off x="72694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2" name="txt-88"/>
          <p:cNvSpPr txBox="1"/>
          <p:nvPr/>
        </p:nvSpPr>
        <p:spPr>
          <a:xfrm>
            <a:off x="80010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티맵</a:t>
            </a:r>
            <a:endParaRPr lang="en-US" sz="1800" dirty="0"/>
          </a:p>
        </p:txBody>
      </p:sp>
      <p:sp>
        <p:nvSpPr>
          <p:cNvPr id="13" name="txt-89"/>
          <p:cNvSpPr txBox="1"/>
          <p:nvPr/>
        </p:nvSpPr>
        <p:spPr>
          <a:xfrm>
            <a:off x="80010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운전자 중심. 차로 오는 관광객·타지역 환자가 목적지를 찍는 곳</a:t>
            </a:r>
            <a:endParaRPr lang="en-US" sz="1400" dirty="0"/>
          </a:p>
        </p:txBody>
      </p:sp>
      <p:sp>
        <p:nvSpPr>
          <p:cNvPr id="14" name="chip-90"/>
          <p:cNvSpPr/>
          <p:nvPr/>
        </p:nvSpPr>
        <p:spPr>
          <a:xfrm>
            <a:off x="7269480" y="4480560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xt-91"/>
          <p:cNvSpPr txBox="1"/>
          <p:nvPr/>
        </p:nvSpPr>
        <p:spPr>
          <a:xfrm>
            <a:off x="726948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</a:t>
            </a:r>
            <a:endParaRPr lang="en-US" sz="1500" dirty="0"/>
          </a:p>
        </p:txBody>
      </p:sp>
      <p:sp>
        <p:nvSpPr>
          <p:cNvPr id="16" name="txt-92"/>
          <p:cNvSpPr txBox="1"/>
          <p:nvPr/>
        </p:nvSpPr>
        <p:spPr>
          <a:xfrm>
            <a:off x="800100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카카오맵</a:t>
            </a:r>
            <a:endParaRPr lang="en-US" sz="1800" dirty="0"/>
          </a:p>
        </p:txBody>
      </p:sp>
      <p:sp>
        <p:nvSpPr>
          <p:cNvPr id="17" name="txt-93"/>
          <p:cNvSpPr txBox="1"/>
          <p:nvPr/>
        </p:nvSpPr>
        <p:spPr>
          <a:xfrm>
            <a:off x="800100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카카오톡과 연결. 내포신도시 젊은 가구, 카톡 채널 상담</a:t>
            </a:r>
            <a:endParaRPr lang="en-US" sz="1400" dirty="0"/>
          </a:p>
        </p:txBody>
      </p:sp>
      <p:sp>
        <p:nvSpPr>
          <p:cNvPr id="18" name="txt-9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모바일인덱스(포인트데일리 2025.7). 월간 사용자 네이버지도 2,880만·카카오맵 1,256만(모바일인덱스, 전자신문 2026.2)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예산명지의 강점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지도에 보여줘야 할 강점은 세 가지입니다</a:t>
            </a:r>
            <a:endParaRPr lang="en-US" sz="2800" dirty="0"/>
          </a:p>
        </p:txBody>
      </p:sp>
      <p:sp>
        <p:nvSpPr>
          <p:cNvPr id="4" name="box-95"/>
          <p:cNvSpPr/>
          <p:nvPr/>
        </p:nvSpPr>
        <p:spPr>
          <a:xfrm>
            <a:off x="548640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96"/>
          <p:cNvSpPr/>
          <p:nvPr/>
        </p:nvSpPr>
        <p:spPr>
          <a:xfrm>
            <a:off x="1727149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97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469" y="2286000"/>
            <a:ext cx="548640" cy="548640"/>
          </a:xfrm>
          <a:prstGeom prst="rect">
            <a:avLst/>
          </a:prstGeom>
        </p:spPr>
      </p:pic>
      <p:sp>
        <p:nvSpPr>
          <p:cNvPr id="7" name="txt-98"/>
          <p:cNvSpPr txBox="1"/>
          <p:nvPr/>
        </p:nvSpPr>
        <p:spPr>
          <a:xfrm>
            <a:off x="822960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직업환경의학과</a:t>
            </a:r>
            <a:endParaRPr lang="en-US" sz="2100" dirty="0"/>
          </a:p>
        </p:txBody>
      </p:sp>
      <p:sp>
        <p:nvSpPr>
          <p:cNvPr id="8" name="txt-99"/>
          <p:cNvSpPr txBox="1"/>
          <p:nvPr/>
        </p:nvSpPr>
        <p:spPr>
          <a:xfrm>
            <a:off x="914400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근로자 검진·진료·재활. 산업단지 기업과 근로자에게 가장 분명한 차별점</a:t>
            </a:r>
            <a:endParaRPr lang="en-US" sz="1500" dirty="0"/>
          </a:p>
        </p:txBody>
      </p:sp>
      <p:sp>
        <p:nvSpPr>
          <p:cNvPr id="9" name="box-100"/>
          <p:cNvSpPr/>
          <p:nvPr/>
        </p:nvSpPr>
        <p:spPr>
          <a:xfrm>
            <a:off x="4368698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101"/>
          <p:cNvSpPr/>
          <p:nvPr/>
        </p:nvSpPr>
        <p:spPr>
          <a:xfrm>
            <a:off x="5547208" y="2011680"/>
            <a:ext cx="1097280" cy="10972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1" name="ic-102" descr="FaAmbu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286000"/>
            <a:ext cx="548640" cy="548640"/>
          </a:xfrm>
          <a:prstGeom prst="rect">
            <a:avLst/>
          </a:prstGeom>
        </p:spPr>
      </p:pic>
      <p:sp>
        <p:nvSpPr>
          <p:cNvPr id="12" name="txt-103"/>
          <p:cNvSpPr txBox="1"/>
          <p:nvPr/>
        </p:nvSpPr>
        <p:spPr>
          <a:xfrm>
            <a:off x="4643018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24시간 응급 진료</a:t>
            </a:r>
            <a:endParaRPr lang="en-US" sz="2100" dirty="0"/>
          </a:p>
        </p:txBody>
      </p:sp>
      <p:sp>
        <p:nvSpPr>
          <p:cNvPr id="13" name="txt-104"/>
          <p:cNvSpPr txBox="1"/>
          <p:nvPr/>
        </p:nvSpPr>
        <p:spPr>
          <a:xfrm>
            <a:off x="4734458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야간·주말 ‘근처 응급실’을 찾는 주민·관광객에게 위치·입구·연락처를 정확히</a:t>
            </a:r>
            <a:endParaRPr lang="en-US" sz="1500" dirty="0"/>
          </a:p>
        </p:txBody>
      </p:sp>
      <p:sp>
        <p:nvSpPr>
          <p:cNvPr id="14" name="box-105"/>
          <p:cNvSpPr/>
          <p:nvPr/>
        </p:nvSpPr>
        <p:spPr>
          <a:xfrm>
            <a:off x="8188757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106"/>
          <p:cNvSpPr/>
          <p:nvPr/>
        </p:nvSpPr>
        <p:spPr>
          <a:xfrm>
            <a:off x="9367266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107" descr="Fa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586" y="2286000"/>
            <a:ext cx="548640" cy="548640"/>
          </a:xfrm>
          <a:prstGeom prst="rect">
            <a:avLst/>
          </a:prstGeom>
        </p:spPr>
      </p:pic>
      <p:sp>
        <p:nvSpPr>
          <p:cNvPr id="17" name="txt-108"/>
          <p:cNvSpPr txBox="1"/>
          <p:nvPr/>
        </p:nvSpPr>
        <p:spPr>
          <a:xfrm>
            <a:off x="8463077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수술 · 재활까지 한 곳</a:t>
            </a:r>
            <a:endParaRPr lang="en-US" sz="2100" dirty="0"/>
          </a:p>
        </p:txBody>
      </p:sp>
      <p:sp>
        <p:nvSpPr>
          <p:cNvPr id="18" name="txt-109"/>
          <p:cNvSpPr txBox="1"/>
          <p:nvPr/>
        </p:nvSpPr>
        <p:spPr>
          <a:xfrm>
            <a:off x="8554517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외과·정형외과·신경외과·재활의학과 등 9개 진료과의 원스톱 진료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타깃 전략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타깃마다 찾는 지도와 전할 메시지가 다릅니다</a:t>
            </a:r>
            <a:endParaRPr lang="en-US" sz="2800" dirty="0"/>
          </a:p>
        </p:txBody>
      </p:sp>
      <p:sp>
        <p:nvSpPr>
          <p:cNvPr id="4" name="box-110"/>
          <p:cNvSpPr/>
          <p:nvPr/>
        </p:nvSpPr>
        <p:spPr>
          <a:xfrm>
            <a:off x="548640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111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12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7" name="txt-113"/>
          <p:cNvSpPr txBox="1"/>
          <p:nvPr/>
        </p:nvSpPr>
        <p:spPr>
          <a:xfrm>
            <a:off x="1783080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지역 주민 · 내포신도시</a:t>
            </a:r>
            <a:endParaRPr lang="en-US" sz="1900" dirty="0"/>
          </a:p>
        </p:txBody>
      </p:sp>
      <p:sp>
        <p:nvSpPr>
          <p:cNvPr id="8" name="txt-114"/>
          <p:cNvSpPr txBox="1"/>
          <p:nvPr/>
        </p:nvSpPr>
        <p:spPr>
          <a:xfrm>
            <a:off x="868680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9" name="txt-115"/>
          <p:cNvSpPr txBox="1"/>
          <p:nvPr/>
        </p:nvSpPr>
        <p:spPr>
          <a:xfrm>
            <a:off x="868680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가까운 병원, 진료시간, 주말 진료</a:t>
            </a:r>
            <a:endParaRPr lang="en-US" sz="1500" dirty="0"/>
          </a:p>
        </p:txBody>
      </p:sp>
      <p:sp>
        <p:nvSpPr>
          <p:cNvPr id="10" name="txt-116"/>
          <p:cNvSpPr txBox="1"/>
          <p:nvPr/>
        </p:nvSpPr>
        <p:spPr>
          <a:xfrm>
            <a:off x="868680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11" name="txt-117"/>
          <p:cNvSpPr txBox="1"/>
          <p:nvPr/>
        </p:nvSpPr>
        <p:spPr>
          <a:xfrm>
            <a:off x="868680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 · 카카오맵</a:t>
            </a:r>
            <a:endParaRPr lang="en-US" sz="1500" dirty="0"/>
          </a:p>
        </p:txBody>
      </p:sp>
      <p:sp>
        <p:nvSpPr>
          <p:cNvPr id="12" name="txt-118"/>
          <p:cNvSpPr txBox="1"/>
          <p:nvPr/>
        </p:nvSpPr>
        <p:spPr>
          <a:xfrm>
            <a:off x="868680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13" name="txt-119"/>
          <p:cNvSpPr txBox="1"/>
          <p:nvPr/>
        </p:nvSpPr>
        <p:spPr>
          <a:xfrm>
            <a:off x="868680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9개 진료과, 진료시간, 24시간 응급</a:t>
            </a:r>
            <a:endParaRPr lang="en-US" sz="1500" dirty="0"/>
          </a:p>
        </p:txBody>
      </p:sp>
      <p:sp>
        <p:nvSpPr>
          <p:cNvPr id="14" name="box-120"/>
          <p:cNvSpPr/>
          <p:nvPr/>
        </p:nvSpPr>
        <p:spPr>
          <a:xfrm>
            <a:off x="4368698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121"/>
          <p:cNvSpPr/>
          <p:nvPr/>
        </p:nvSpPr>
        <p:spPr>
          <a:xfrm>
            <a:off x="468873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12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057400"/>
            <a:ext cx="365760" cy="365760"/>
          </a:xfrm>
          <a:prstGeom prst="rect">
            <a:avLst/>
          </a:prstGeom>
        </p:spPr>
      </p:pic>
      <p:sp>
        <p:nvSpPr>
          <p:cNvPr id="17" name="txt-123"/>
          <p:cNvSpPr txBox="1"/>
          <p:nvPr/>
        </p:nvSpPr>
        <p:spPr>
          <a:xfrm>
            <a:off x="5603138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산업단지 기업 · 근로자</a:t>
            </a:r>
            <a:endParaRPr lang="en-US" sz="1900" dirty="0"/>
          </a:p>
        </p:txBody>
      </p:sp>
      <p:sp>
        <p:nvSpPr>
          <p:cNvPr id="18" name="txt-124"/>
          <p:cNvSpPr txBox="1"/>
          <p:nvPr/>
        </p:nvSpPr>
        <p:spPr>
          <a:xfrm>
            <a:off x="4688738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19" name="txt-125"/>
          <p:cNvSpPr txBox="1"/>
          <p:nvPr/>
        </p:nvSpPr>
        <p:spPr>
          <a:xfrm>
            <a:off x="4688738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채용·배치전·근로자 검진, 산재 진료</a:t>
            </a:r>
            <a:endParaRPr lang="en-US" sz="1500" dirty="0"/>
          </a:p>
        </p:txBody>
      </p:sp>
      <p:sp>
        <p:nvSpPr>
          <p:cNvPr id="20" name="txt-126"/>
          <p:cNvSpPr txBox="1"/>
          <p:nvPr/>
        </p:nvSpPr>
        <p:spPr>
          <a:xfrm>
            <a:off x="4688738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21" name="txt-127"/>
          <p:cNvSpPr txBox="1"/>
          <p:nvPr/>
        </p:nvSpPr>
        <p:spPr>
          <a:xfrm>
            <a:off x="4688738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</a:t>
            </a:r>
            <a:endParaRPr lang="en-US" sz="1500" dirty="0"/>
          </a:p>
        </p:txBody>
      </p:sp>
      <p:sp>
        <p:nvSpPr>
          <p:cNvPr id="22" name="txt-128"/>
          <p:cNvSpPr txBox="1"/>
          <p:nvPr/>
        </p:nvSpPr>
        <p:spPr>
          <a:xfrm>
            <a:off x="4688738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23" name="txt-129"/>
          <p:cNvSpPr txBox="1"/>
          <p:nvPr/>
        </p:nvSpPr>
        <p:spPr>
          <a:xfrm>
            <a:off x="4688738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직업환경의학과, 검진 안내·문의</a:t>
            </a:r>
            <a:endParaRPr lang="en-US" sz="1500" dirty="0"/>
          </a:p>
        </p:txBody>
      </p:sp>
      <p:sp>
        <p:nvSpPr>
          <p:cNvPr id="24" name="box-130"/>
          <p:cNvSpPr/>
          <p:nvPr/>
        </p:nvSpPr>
        <p:spPr>
          <a:xfrm>
            <a:off x="8188757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-bg-131"/>
          <p:cNvSpPr/>
          <p:nvPr/>
        </p:nvSpPr>
        <p:spPr>
          <a:xfrm>
            <a:off x="8508797" y="1874520"/>
            <a:ext cx="731520" cy="7315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26" name="ic-132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2057400"/>
            <a:ext cx="365760" cy="365760"/>
          </a:xfrm>
          <a:prstGeom prst="rect">
            <a:avLst/>
          </a:prstGeom>
        </p:spPr>
      </p:pic>
      <p:sp>
        <p:nvSpPr>
          <p:cNvPr id="27" name="txt-133"/>
          <p:cNvSpPr txBox="1"/>
          <p:nvPr/>
        </p:nvSpPr>
        <p:spPr>
          <a:xfrm>
            <a:off x="9423197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차량 관광객 · 보호자</a:t>
            </a:r>
            <a:endParaRPr lang="en-US" sz="1900" dirty="0"/>
          </a:p>
        </p:txBody>
      </p:sp>
      <p:sp>
        <p:nvSpPr>
          <p:cNvPr id="28" name="txt-134"/>
          <p:cNvSpPr txBox="1"/>
          <p:nvPr/>
        </p:nvSpPr>
        <p:spPr>
          <a:xfrm>
            <a:off x="8508797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29" name="txt-135"/>
          <p:cNvSpPr txBox="1"/>
          <p:nvPr/>
        </p:nvSpPr>
        <p:spPr>
          <a:xfrm>
            <a:off x="8508797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여행 중 사고, 근처 응급실·외상 진료</a:t>
            </a:r>
            <a:endParaRPr lang="en-US" sz="1500" dirty="0"/>
          </a:p>
        </p:txBody>
      </p:sp>
      <p:sp>
        <p:nvSpPr>
          <p:cNvPr id="30" name="txt-136"/>
          <p:cNvSpPr txBox="1"/>
          <p:nvPr/>
        </p:nvSpPr>
        <p:spPr>
          <a:xfrm>
            <a:off x="8508797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31" name="txt-137"/>
          <p:cNvSpPr txBox="1"/>
          <p:nvPr/>
        </p:nvSpPr>
        <p:spPr>
          <a:xfrm>
            <a:off x="8508797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티맵 · 네이버 플레이스</a:t>
            </a:r>
            <a:endParaRPr lang="en-US" sz="1500" dirty="0"/>
          </a:p>
        </p:txBody>
      </p:sp>
      <p:sp>
        <p:nvSpPr>
          <p:cNvPr id="32" name="txt-138"/>
          <p:cNvSpPr txBox="1"/>
          <p:nvPr/>
        </p:nvSpPr>
        <p:spPr>
          <a:xfrm>
            <a:off x="8508797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33" name="txt-139"/>
          <p:cNvSpPr txBox="1"/>
          <p:nvPr/>
        </p:nvSpPr>
        <p:spPr>
          <a:xfrm>
            <a:off x="8508797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24시간 응급, 정확한 위치·입구·주차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제안 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지도의 병원 정보를 한 번에 세팅합니다</a:t>
            </a:r>
            <a:endParaRPr lang="en-US" sz="2800" dirty="0"/>
          </a:p>
        </p:txBody>
      </p:sp>
      <p:sp>
        <p:nvSpPr>
          <p:cNvPr id="4" name="free-140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41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42"/>
          <p:cNvSpPr/>
          <p:nvPr/>
        </p:nvSpPr>
        <p:spPr>
          <a:xfrm>
            <a:off x="548640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7" name="chip-14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" name="txt-144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9" name="txt-145"/>
          <p:cNvSpPr txBox="1"/>
          <p:nvPr/>
        </p:nvSpPr>
        <p:spPr>
          <a:xfrm>
            <a:off x="1645920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네이버 플레이스</a:t>
            </a:r>
            <a:endParaRPr lang="en-US" sz="2000" dirty="0"/>
          </a:p>
        </p:txBody>
      </p:sp>
      <p:sp>
        <p:nvSpPr>
          <p:cNvPr id="10" name="list-146"/>
          <p:cNvSpPr txBox="1"/>
          <p:nvPr/>
        </p:nvSpPr>
        <p:spPr>
          <a:xfrm>
            <a:off x="822960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 · 진료시간 · 24시간 응급 표기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외관 · 입구 · 주차 · 검진센터 사진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예약 · 톡톡 연결, 검진 안내 소식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키워드 · 소개글 정비</a:t>
            </a:r>
            <a:endParaRPr lang="en-US" sz="1500" dirty="0"/>
          </a:p>
        </p:txBody>
      </p:sp>
      <p:sp>
        <p:nvSpPr>
          <p:cNvPr id="11" name="box-147"/>
          <p:cNvSpPr/>
          <p:nvPr/>
        </p:nvSpPr>
        <p:spPr>
          <a:xfrm>
            <a:off x="4368698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chip-148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xt-149"/>
          <p:cNvSpPr txBox="1"/>
          <p:nvPr/>
        </p:nvSpPr>
        <p:spPr>
          <a:xfrm>
            <a:off x="464301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4" name="txt-150"/>
          <p:cNvSpPr txBox="1"/>
          <p:nvPr/>
        </p:nvSpPr>
        <p:spPr>
          <a:xfrm>
            <a:off x="5465978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카카오맵</a:t>
            </a:r>
            <a:endParaRPr lang="en-US" sz="2000" dirty="0"/>
          </a:p>
        </p:txBody>
      </p:sp>
      <p:sp>
        <p:nvSpPr>
          <p:cNvPr id="15" name="list-151"/>
          <p:cNvSpPr txBox="1"/>
          <p:nvPr/>
        </p:nvSpPr>
        <p:spPr>
          <a:xfrm>
            <a:off x="4643018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카카오비즈니스로 병원 소유권 등록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등록 정보의 오류 · 중복 정리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카카오톡 채널 연결(문의 창구)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진료시간 · 전화 · 진료과 통일</a:t>
            </a:r>
            <a:endParaRPr lang="en-US" sz="1500" dirty="0"/>
          </a:p>
        </p:txBody>
      </p:sp>
      <p:sp>
        <p:nvSpPr>
          <p:cNvPr id="16" name="box-152"/>
          <p:cNvSpPr/>
          <p:nvPr/>
        </p:nvSpPr>
        <p:spPr>
          <a:xfrm>
            <a:off x="8188757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7" name="chip-153"/>
          <p:cNvSpPr/>
          <p:nvPr/>
        </p:nvSpPr>
        <p:spPr>
          <a:xfrm>
            <a:off x="8463077" y="182880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8" name="txt-154"/>
          <p:cNvSpPr txBox="1"/>
          <p:nvPr/>
        </p:nvSpPr>
        <p:spPr>
          <a:xfrm>
            <a:off x="8463077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9" name="txt-155"/>
          <p:cNvSpPr txBox="1"/>
          <p:nvPr/>
        </p:nvSpPr>
        <p:spPr>
          <a:xfrm>
            <a:off x="9286037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티맵</a:t>
            </a:r>
            <a:endParaRPr lang="en-US" sz="2000" dirty="0"/>
          </a:p>
        </p:txBody>
      </p:sp>
      <p:sp>
        <p:nvSpPr>
          <p:cNvPr id="20" name="list-156"/>
          <p:cNvSpPr txBox="1"/>
          <p:nvPr/>
        </p:nvSpPr>
        <p:spPr>
          <a:xfrm>
            <a:off x="8463077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장소 정보 등록 · 수정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응급실 입구 기준 목적지 좌표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전화 · 진료시간 통일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인근 ‘병원’ 검색 노출 점검</a:t>
            </a:r>
            <a:endParaRPr lang="en-US" sz="1500" dirty="0"/>
          </a:p>
        </p:txBody>
      </p:sp>
      <p:sp>
        <p:nvSpPr>
          <p:cNvPr id="21" name="txt-15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세 지도의 병원명 · 주소 · 전화 · 진료시간 · 진료과를 하나의 기준표로 맞춥니다.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제안 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매월 정보 · 소식 · 리뷰를 관리하고 결과를 보고합니다</a:t>
            </a:r>
            <a:endParaRPr lang="en-US" sz="2800" dirty="0"/>
          </a:p>
        </p:txBody>
      </p:sp>
      <p:sp>
        <p:nvSpPr>
          <p:cNvPr id="4" name="free-158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59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60"/>
          <p:cNvSpPr/>
          <p:nvPr/>
        </p:nvSpPr>
        <p:spPr>
          <a:xfrm>
            <a:off x="548640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-bg-161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8" name="ic-162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9" name="txt-163"/>
          <p:cNvSpPr txBox="1"/>
          <p:nvPr/>
        </p:nvSpPr>
        <p:spPr>
          <a:xfrm>
            <a:off x="217924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xt-164"/>
          <p:cNvSpPr txBox="1"/>
          <p:nvPr/>
        </p:nvSpPr>
        <p:spPr>
          <a:xfrm>
            <a:off x="868680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정보 점검</a:t>
            </a:r>
            <a:endParaRPr lang="en-US" sz="2000" dirty="0"/>
          </a:p>
        </p:txBody>
      </p:sp>
      <p:sp>
        <p:nvSpPr>
          <p:cNvPr id="11" name="txt-165"/>
          <p:cNvSpPr txBox="1"/>
          <p:nvPr/>
        </p:nvSpPr>
        <p:spPr>
          <a:xfrm>
            <a:off x="868680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휴진·진료시간 변경, 신규 의료진을 3대 지도에 동시 반영</a:t>
            </a:r>
            <a:endParaRPr lang="en-US" sz="1500" dirty="0"/>
          </a:p>
        </p:txBody>
      </p:sp>
      <p:sp>
        <p:nvSpPr>
          <p:cNvPr id="12" name="arr-166"/>
          <p:cNvSpPr/>
          <p:nvPr/>
        </p:nvSpPr>
        <p:spPr>
          <a:xfrm>
            <a:off x="3121076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x-167"/>
          <p:cNvSpPr/>
          <p:nvPr/>
        </p:nvSpPr>
        <p:spPr>
          <a:xfrm>
            <a:off x="3413684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-bg-168"/>
          <p:cNvSpPr/>
          <p:nvPr/>
        </p:nvSpPr>
        <p:spPr>
          <a:xfrm>
            <a:off x="3733724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169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2148840"/>
            <a:ext cx="365760" cy="365760"/>
          </a:xfrm>
          <a:prstGeom prst="rect">
            <a:avLst/>
          </a:prstGeom>
        </p:spPr>
      </p:pic>
      <p:sp>
        <p:nvSpPr>
          <p:cNvPr id="16" name="txt-170"/>
          <p:cNvSpPr txBox="1"/>
          <p:nvPr/>
        </p:nvSpPr>
        <p:spPr>
          <a:xfrm>
            <a:off x="5044288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02</a:t>
            </a:r>
            <a:endParaRPr lang="en-US" sz="2400" dirty="0"/>
          </a:p>
        </p:txBody>
      </p:sp>
      <p:sp>
        <p:nvSpPr>
          <p:cNvPr id="17" name="txt-171"/>
          <p:cNvSpPr txBox="1"/>
          <p:nvPr/>
        </p:nvSpPr>
        <p:spPr>
          <a:xfrm>
            <a:off x="3733724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소식 발행</a:t>
            </a:r>
            <a:endParaRPr lang="en-US" sz="2000" dirty="0"/>
          </a:p>
        </p:txBody>
      </p:sp>
      <p:sp>
        <p:nvSpPr>
          <p:cNvPr id="18" name="txt-172"/>
          <p:cNvSpPr txBox="1"/>
          <p:nvPr/>
        </p:nvSpPr>
        <p:spPr>
          <a:xfrm>
            <a:off x="3733724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일정, 명절·연휴 진료 안내를 플레이스 소식으로</a:t>
            </a:r>
            <a:endParaRPr lang="en-US" sz="1500" dirty="0"/>
          </a:p>
        </p:txBody>
      </p:sp>
      <p:sp>
        <p:nvSpPr>
          <p:cNvPr id="19" name="arr-173"/>
          <p:cNvSpPr/>
          <p:nvPr/>
        </p:nvSpPr>
        <p:spPr>
          <a:xfrm>
            <a:off x="5986120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ox-174"/>
          <p:cNvSpPr/>
          <p:nvPr/>
        </p:nvSpPr>
        <p:spPr>
          <a:xfrm>
            <a:off x="6278728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-bg-175"/>
          <p:cNvSpPr/>
          <p:nvPr/>
        </p:nvSpPr>
        <p:spPr>
          <a:xfrm>
            <a:off x="6598768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2" name="ic-176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48" y="2148840"/>
            <a:ext cx="365760" cy="365760"/>
          </a:xfrm>
          <a:prstGeom prst="rect">
            <a:avLst/>
          </a:prstGeom>
        </p:spPr>
      </p:pic>
      <p:sp>
        <p:nvSpPr>
          <p:cNvPr id="23" name="txt-177"/>
          <p:cNvSpPr txBox="1"/>
          <p:nvPr/>
        </p:nvSpPr>
        <p:spPr>
          <a:xfrm>
            <a:off x="7909331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03</a:t>
            </a:r>
            <a:endParaRPr lang="en-US" sz="2400" dirty="0"/>
          </a:p>
        </p:txBody>
      </p:sp>
      <p:sp>
        <p:nvSpPr>
          <p:cNvPr id="24" name="txt-178"/>
          <p:cNvSpPr txBox="1"/>
          <p:nvPr/>
        </p:nvSpPr>
        <p:spPr>
          <a:xfrm>
            <a:off x="6598768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답글</a:t>
            </a:r>
            <a:endParaRPr lang="en-US" sz="2000" dirty="0"/>
          </a:p>
        </p:txBody>
      </p:sp>
      <p:sp>
        <p:nvSpPr>
          <p:cNvPr id="25" name="txt-179"/>
          <p:cNvSpPr txBox="1"/>
          <p:nvPr/>
        </p:nvSpPr>
        <p:spPr>
          <a:xfrm>
            <a:off x="6598768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네이버·카카오 리뷰에 병원 명의 답글, 불만 리뷰는 협의 후 대응</a:t>
            </a:r>
            <a:endParaRPr lang="en-US" sz="1500" dirty="0"/>
          </a:p>
        </p:txBody>
      </p:sp>
      <p:sp>
        <p:nvSpPr>
          <p:cNvPr id="26" name="arr-180"/>
          <p:cNvSpPr/>
          <p:nvPr/>
        </p:nvSpPr>
        <p:spPr>
          <a:xfrm>
            <a:off x="8851163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ox-181"/>
          <p:cNvSpPr/>
          <p:nvPr/>
        </p:nvSpPr>
        <p:spPr>
          <a:xfrm>
            <a:off x="9143771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-bg-182"/>
          <p:cNvSpPr/>
          <p:nvPr/>
        </p:nvSpPr>
        <p:spPr>
          <a:xfrm>
            <a:off x="9463811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9" name="ic-18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691" y="2148840"/>
            <a:ext cx="365760" cy="365760"/>
          </a:xfrm>
          <a:prstGeom prst="rect">
            <a:avLst/>
          </a:prstGeom>
        </p:spPr>
      </p:pic>
      <p:sp>
        <p:nvSpPr>
          <p:cNvPr id="30" name="txt-184"/>
          <p:cNvSpPr txBox="1"/>
          <p:nvPr/>
        </p:nvSpPr>
        <p:spPr>
          <a:xfrm>
            <a:off x="10774375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04</a:t>
            </a:r>
            <a:endParaRPr lang="en-US" sz="2400" dirty="0"/>
          </a:p>
        </p:txBody>
      </p:sp>
      <p:sp>
        <p:nvSpPr>
          <p:cNvPr id="31" name="txt-185"/>
          <p:cNvSpPr txBox="1"/>
          <p:nvPr/>
        </p:nvSpPr>
        <p:spPr>
          <a:xfrm>
            <a:off x="9463811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월간 리포트</a:t>
            </a:r>
            <a:endParaRPr lang="en-US" sz="2000" dirty="0"/>
          </a:p>
        </p:txBody>
      </p:sp>
      <p:sp>
        <p:nvSpPr>
          <p:cNvPr id="32" name="txt-186"/>
          <p:cNvSpPr txBox="1"/>
          <p:nvPr/>
        </p:nvSpPr>
        <p:spPr>
          <a:xfrm>
            <a:off x="9463811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노출 순위·전화·길찾기 수와 다음 달 개선점 보고</a:t>
            </a:r>
            <a:endParaRPr lang="en-US" sz="1500" dirty="0"/>
          </a:p>
        </p:txBody>
      </p:sp>
      <p:sp>
        <p:nvSpPr>
          <p:cNvPr id="33" name="txt-187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병원 담당자는 월 1회 리포트만 확인하시면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선택 옵션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필요하면 네이버 플레이스 영수증 리뷰로 타깃을 더 좁힙니다</a:t>
            </a:r>
            <a:endParaRPr lang="en-US" sz="2800" dirty="0"/>
          </a:p>
        </p:txBody>
      </p:sp>
      <p:sp>
        <p:nvSpPr>
          <p:cNvPr id="4" name="txt-188"/>
          <p:cNvSpPr txBox="1"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리뷰는 지도에서 병원을 고르는 결정적 근거입니다. 실제 진료받은 분들의 영수증 리뷰에 ‘검진’, ‘응급’, ‘정형외과’ 경험이 쌓이면, 그 진료를 찾는 사람에게 예산명지가 더 잘 보입니다.</a:t>
            </a:r>
            <a:endParaRPr lang="en-US" sz="1600" dirty="0"/>
          </a:p>
        </p:txBody>
      </p:sp>
      <p:sp>
        <p:nvSpPr>
          <p:cNvPr id="5" name="ic-bg-189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90" descr="FaQr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274320" cy="274320"/>
          </a:xfrm>
          <a:prstGeom prst="rect">
            <a:avLst/>
          </a:prstGeom>
        </p:spPr>
      </p:pic>
      <p:sp>
        <p:nvSpPr>
          <p:cNvPr id="7" name="txt-191"/>
          <p:cNvSpPr txBox="1"/>
          <p:nvPr/>
        </p:nvSpPr>
        <p:spPr>
          <a:xfrm>
            <a:off x="132588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원무과·검진센터·응급실에 영수증 리뷰 참여 안내(QR) 비치</a:t>
            </a:r>
            <a:endParaRPr lang="en-US" sz="1500" dirty="0"/>
          </a:p>
        </p:txBody>
      </p:sp>
      <p:sp>
        <p:nvSpPr>
          <p:cNvPr id="8" name="ic-bg-192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9" name="ic-193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10" name="txt-194"/>
          <p:cNvSpPr txBox="1"/>
          <p:nvPr/>
        </p:nvSpPr>
        <p:spPr>
          <a:xfrm>
            <a:off x="132588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기업에 근로자용 리뷰 참여 안내문 제공</a:t>
            </a:r>
            <a:endParaRPr lang="en-US" sz="1500" dirty="0"/>
          </a:p>
        </p:txBody>
      </p:sp>
      <p:sp>
        <p:nvSpPr>
          <p:cNvPr id="11" name="ic-bg-195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2" name="ic-196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3" name="txt-197"/>
          <p:cNvSpPr txBox="1"/>
          <p:nvPr/>
        </p:nvSpPr>
        <p:spPr>
          <a:xfrm>
            <a:off x="132588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리뷰에 병원 명의 답글로 신뢰 형성</a:t>
            </a:r>
            <a:endParaRPr lang="en-US" sz="1500" dirty="0"/>
          </a:p>
        </p:txBody>
      </p:sp>
      <p:sp>
        <p:nvSpPr>
          <p:cNvPr id="14" name="box-198"/>
          <p:cNvSpPr/>
          <p:nvPr/>
        </p:nvSpPr>
        <p:spPr>
          <a:xfrm>
            <a:off x="6675120" y="1600200"/>
            <a:ext cx="4967935" cy="4297680"/>
          </a:xfrm>
          <a:prstGeom prst="roundRect">
            <a:avLst>
              <a:gd name="adj" fmla="val 29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xt-199"/>
          <p:cNvSpPr txBox="1"/>
          <p:nvPr/>
        </p:nvSpPr>
        <p:spPr>
          <a:xfrm>
            <a:off x="70408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쌓이게 할 리뷰 키워드</a:t>
            </a:r>
            <a:endParaRPr lang="en-US" sz="1700" dirty="0"/>
          </a:p>
        </p:txBody>
      </p:sp>
      <p:sp>
        <p:nvSpPr>
          <p:cNvPr id="16" name="dot-200"/>
          <p:cNvSpPr/>
          <p:nvPr/>
        </p:nvSpPr>
        <p:spPr>
          <a:xfrm>
            <a:off x="7040880" y="253288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17" name="txt-201"/>
          <p:cNvSpPr txBox="1"/>
          <p:nvPr/>
        </p:nvSpPr>
        <p:spPr>
          <a:xfrm>
            <a:off x="74980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산업단지 근로자</a:t>
            </a:r>
            <a:endParaRPr lang="en-US" sz="1600" dirty="0"/>
          </a:p>
        </p:txBody>
      </p:sp>
      <p:sp>
        <p:nvSpPr>
          <p:cNvPr id="18" name="txt-202"/>
          <p:cNvSpPr txBox="1"/>
          <p:nvPr/>
        </p:nvSpPr>
        <p:spPr>
          <a:xfrm>
            <a:off x="74980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특수·채용·배치전 검진, 산재 진료</a:t>
            </a:r>
            <a:endParaRPr lang="en-US" sz="1400" dirty="0"/>
          </a:p>
        </p:txBody>
      </p:sp>
      <p:sp>
        <p:nvSpPr>
          <p:cNvPr id="19" name="dot-203"/>
          <p:cNvSpPr/>
          <p:nvPr/>
        </p:nvSpPr>
        <p:spPr>
          <a:xfrm>
            <a:off x="7040880" y="3630168"/>
            <a:ext cx="274320" cy="27432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xt-204"/>
          <p:cNvSpPr txBox="1"/>
          <p:nvPr/>
        </p:nvSpPr>
        <p:spPr>
          <a:xfrm>
            <a:off x="749808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관광객 · 보호자</a:t>
            </a:r>
            <a:endParaRPr lang="en-US" sz="1600" dirty="0"/>
          </a:p>
        </p:txBody>
      </p:sp>
      <p:sp>
        <p:nvSpPr>
          <p:cNvPr id="21" name="txt-205"/>
          <p:cNvSpPr txBox="1"/>
          <p:nvPr/>
        </p:nvSpPr>
        <p:spPr>
          <a:xfrm>
            <a:off x="74980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응급실, 외상 처치, 친절한 안내</a:t>
            </a:r>
            <a:endParaRPr lang="en-US" sz="1400" dirty="0"/>
          </a:p>
        </p:txBody>
      </p:sp>
      <p:sp>
        <p:nvSpPr>
          <p:cNvPr id="22" name="dot-206"/>
          <p:cNvSpPr/>
          <p:nvPr/>
        </p:nvSpPr>
        <p:spPr>
          <a:xfrm>
            <a:off x="7040880" y="4727448"/>
            <a:ext cx="274320" cy="27432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3" name="txt-207"/>
          <p:cNvSpPr txBox="1"/>
          <p:nvPr/>
        </p:nvSpPr>
        <p:spPr>
          <a:xfrm>
            <a:off x="749808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지역 주민 · 내포</a:t>
            </a:r>
            <a:endParaRPr lang="en-US" sz="1600" dirty="0"/>
          </a:p>
        </p:txBody>
      </p:sp>
      <p:sp>
        <p:nvSpPr>
          <p:cNvPr id="24" name="txt-208"/>
          <p:cNvSpPr txBox="1"/>
          <p:nvPr/>
        </p:nvSpPr>
        <p:spPr>
          <a:xfrm>
            <a:off x="749808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정형외과, 수술, 재활 치료</a:t>
            </a:r>
            <a:endParaRPr lang="en-US" sz="1400" dirty="0"/>
          </a:p>
        </p:txBody>
      </p:sp>
      <p:sp>
        <p:nvSpPr>
          <p:cNvPr id="25" name="txt-20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리뷰는 실제 이용자 본인이 작성합니다. 리뷰 대가 제공 · 작성 대행 · 특정 문구 요청은 하지 않습니다(의료법 준수).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외부 부착물로 오프라인에서도 지도 검색을 부릅니다</a:t>
            </a:r>
            <a:endParaRPr lang="en-US" sz="2800" dirty="0"/>
          </a:p>
        </p:txBody>
      </p:sp>
      <p:sp>
        <p:nvSpPr>
          <p:cNvPr id="4" name="box-210"/>
          <p:cNvSpPr/>
          <p:nvPr/>
        </p:nvSpPr>
        <p:spPr>
          <a:xfrm>
            <a:off x="548640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c-bg-211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6" name="ic-212" descr="FaMapSig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xt-213"/>
          <p:cNvSpPr txBox="1"/>
          <p:nvPr/>
        </p:nvSpPr>
        <p:spPr>
          <a:xfrm>
            <a:off x="1371600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외부 부착물</a:t>
            </a:r>
            <a:endParaRPr lang="en-US" sz="1500" dirty="0"/>
          </a:p>
        </p:txBody>
      </p:sp>
      <p:sp>
        <p:nvSpPr>
          <p:cNvPr id="8" name="arr-214"/>
          <p:cNvSpPr/>
          <p:nvPr/>
        </p:nvSpPr>
        <p:spPr>
          <a:xfrm>
            <a:off x="3153080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ox-215"/>
          <p:cNvSpPr/>
          <p:nvPr/>
        </p:nvSpPr>
        <p:spPr>
          <a:xfrm>
            <a:off x="3390824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216"/>
          <p:cNvSpPr/>
          <p:nvPr/>
        </p:nvSpPr>
        <p:spPr>
          <a:xfrm>
            <a:off x="3573704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217" descr="FaQ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34" y="1771650"/>
            <a:ext cx="251460" cy="251460"/>
          </a:xfrm>
          <a:prstGeom prst="rect">
            <a:avLst/>
          </a:prstGeom>
        </p:spPr>
      </p:pic>
      <p:sp>
        <p:nvSpPr>
          <p:cNvPr id="12" name="txt-218"/>
          <p:cNvSpPr txBox="1"/>
          <p:nvPr/>
        </p:nvSpPr>
        <p:spPr>
          <a:xfrm>
            <a:off x="4213784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‘예산명지병원’ 검색 · QR</a:t>
            </a:r>
            <a:endParaRPr lang="en-US" sz="1500" dirty="0"/>
          </a:p>
        </p:txBody>
      </p:sp>
      <p:sp>
        <p:nvSpPr>
          <p:cNvPr id="13" name="arr-219"/>
          <p:cNvSpPr/>
          <p:nvPr/>
        </p:nvSpPr>
        <p:spPr>
          <a:xfrm>
            <a:off x="5995264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ox-220"/>
          <p:cNvSpPr/>
          <p:nvPr/>
        </p:nvSpPr>
        <p:spPr>
          <a:xfrm>
            <a:off x="6233008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221"/>
          <p:cNvSpPr/>
          <p:nvPr/>
        </p:nvSpPr>
        <p:spPr>
          <a:xfrm>
            <a:off x="6415888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222" descr="FaMapMarke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771650"/>
            <a:ext cx="251460" cy="251460"/>
          </a:xfrm>
          <a:prstGeom prst="rect">
            <a:avLst/>
          </a:prstGeom>
        </p:spPr>
      </p:pic>
      <p:sp>
        <p:nvSpPr>
          <p:cNvPr id="17" name="txt-223"/>
          <p:cNvSpPr txBox="1"/>
          <p:nvPr/>
        </p:nvSpPr>
        <p:spPr>
          <a:xfrm>
            <a:off x="7055968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지도에서 위치 · 정보 확인</a:t>
            </a:r>
            <a:endParaRPr lang="en-US" sz="1500" dirty="0"/>
          </a:p>
        </p:txBody>
      </p:sp>
      <p:sp>
        <p:nvSpPr>
          <p:cNvPr id="18" name="arr-224"/>
          <p:cNvSpPr/>
          <p:nvPr/>
        </p:nvSpPr>
        <p:spPr>
          <a:xfrm>
            <a:off x="8837447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ox-225"/>
          <p:cNvSpPr/>
          <p:nvPr/>
        </p:nvSpPr>
        <p:spPr>
          <a:xfrm>
            <a:off x="9075191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226"/>
          <p:cNvSpPr/>
          <p:nvPr/>
        </p:nvSpPr>
        <p:spPr>
          <a:xfrm>
            <a:off x="9258071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27" descr="Fa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1771650"/>
            <a:ext cx="251460" cy="251460"/>
          </a:xfrm>
          <a:prstGeom prst="rect">
            <a:avLst/>
          </a:prstGeom>
        </p:spPr>
      </p:pic>
      <p:sp>
        <p:nvSpPr>
          <p:cNvPr id="22" name="txt-228"/>
          <p:cNvSpPr txBox="1"/>
          <p:nvPr/>
        </p:nvSpPr>
        <p:spPr>
          <a:xfrm>
            <a:off x="9898151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내원</a:t>
            </a:r>
            <a:endParaRPr lang="en-US" sz="1500" dirty="0"/>
          </a:p>
        </p:txBody>
      </p:sp>
      <p:sp>
        <p:nvSpPr>
          <p:cNvPr id="23" name="box-229"/>
          <p:cNvSpPr/>
          <p:nvPr/>
        </p:nvSpPr>
        <p:spPr>
          <a:xfrm>
            <a:off x="548640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4" name="ic-bg-230"/>
          <p:cNvSpPr/>
          <p:nvPr/>
        </p:nvSpPr>
        <p:spPr>
          <a:xfrm>
            <a:off x="822960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5" name="ic-231" descr="Fa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17520"/>
            <a:ext cx="365760" cy="365760"/>
          </a:xfrm>
          <a:prstGeom prst="rect">
            <a:avLst/>
          </a:prstGeom>
        </p:spPr>
      </p:pic>
      <p:sp>
        <p:nvSpPr>
          <p:cNvPr id="26" name="txt-232"/>
          <p:cNvSpPr txBox="1"/>
          <p:nvPr/>
        </p:nvSpPr>
        <p:spPr>
          <a:xfrm>
            <a:off x="1783080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장항선 역 (신례원역 · 예산역)</a:t>
            </a:r>
            <a:endParaRPr lang="en-US" sz="1800" dirty="0"/>
          </a:p>
        </p:txBody>
      </p:sp>
      <p:sp>
        <p:nvSpPr>
          <p:cNvPr id="27" name="txt-233"/>
          <p:cNvSpPr txBox="1"/>
          <p:nvPr/>
        </p:nvSpPr>
        <p:spPr>
          <a:xfrm>
            <a:off x="1783080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역사 내 광고판, 출구 쪽 병원 방향 안내</a:t>
            </a:r>
            <a:endParaRPr lang="en-US" sz="1400" dirty="0"/>
          </a:p>
        </p:txBody>
      </p:sp>
      <p:sp>
        <p:nvSpPr>
          <p:cNvPr id="28" name="box-234"/>
          <p:cNvSpPr/>
          <p:nvPr/>
        </p:nvSpPr>
        <p:spPr>
          <a:xfrm>
            <a:off x="6278728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9" name="ic-bg-235"/>
          <p:cNvSpPr/>
          <p:nvPr/>
        </p:nvSpPr>
        <p:spPr>
          <a:xfrm>
            <a:off x="6553048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0" name="ic-236" descr="FaB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928" y="3017520"/>
            <a:ext cx="365760" cy="365760"/>
          </a:xfrm>
          <a:prstGeom prst="rect">
            <a:avLst/>
          </a:prstGeom>
        </p:spPr>
      </p:pic>
      <p:sp>
        <p:nvSpPr>
          <p:cNvPr id="31" name="txt-237"/>
          <p:cNvSpPr txBox="1"/>
          <p:nvPr/>
        </p:nvSpPr>
        <p:spPr>
          <a:xfrm>
            <a:off x="7513168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버스 승강장 · 농어촌버스</a:t>
            </a:r>
            <a:endParaRPr lang="en-US" sz="1800" dirty="0"/>
          </a:p>
        </p:txBody>
      </p:sp>
      <p:sp>
        <p:nvSpPr>
          <p:cNvPr id="32" name="txt-238"/>
          <p:cNvSpPr txBox="1"/>
          <p:nvPr/>
        </p:nvSpPr>
        <p:spPr>
          <a:xfrm>
            <a:off x="7513168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인근 정류장 쉘터, 터미널 경유 노선 차량 외부</a:t>
            </a:r>
            <a:endParaRPr lang="en-US" sz="1400" dirty="0"/>
          </a:p>
        </p:txBody>
      </p:sp>
      <p:sp>
        <p:nvSpPr>
          <p:cNvPr id="33" name="box-239"/>
          <p:cNvSpPr/>
          <p:nvPr/>
        </p:nvSpPr>
        <p:spPr>
          <a:xfrm>
            <a:off x="548640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4" name="ic-bg-240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5" name="ic-241" descr="FaDirectio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36" name="txt-242"/>
          <p:cNvSpPr txBox="1"/>
          <p:nvPr/>
        </p:nvSpPr>
        <p:spPr>
          <a:xfrm>
            <a:off x="1783080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진입로 방향 안내</a:t>
            </a:r>
            <a:endParaRPr lang="en-US" sz="1800" dirty="0"/>
          </a:p>
        </p:txBody>
      </p:sp>
      <p:sp>
        <p:nvSpPr>
          <p:cNvPr id="37" name="txt-243"/>
          <p:cNvSpPr txBox="1"/>
          <p:nvPr/>
        </p:nvSpPr>
        <p:spPr>
          <a:xfrm>
            <a:off x="1783080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주요 교차로 · 다리 지점의 방향 사인, 응급실 방향 표시</a:t>
            </a:r>
            <a:endParaRPr lang="en-US" sz="1400" dirty="0"/>
          </a:p>
        </p:txBody>
      </p:sp>
      <p:sp>
        <p:nvSpPr>
          <p:cNvPr id="38" name="box-244"/>
          <p:cNvSpPr/>
          <p:nvPr/>
        </p:nvSpPr>
        <p:spPr>
          <a:xfrm>
            <a:off x="6278728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9" name="ic-bg-245"/>
          <p:cNvSpPr/>
          <p:nvPr/>
        </p:nvSpPr>
        <p:spPr>
          <a:xfrm>
            <a:off x="6553048" y="429768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40" name="ic-246" descr="FaIndust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5928" y="4480560"/>
            <a:ext cx="365760" cy="365760"/>
          </a:xfrm>
          <a:prstGeom prst="rect">
            <a:avLst/>
          </a:prstGeom>
        </p:spPr>
      </p:pic>
      <p:sp>
        <p:nvSpPr>
          <p:cNvPr id="41" name="txt-247"/>
          <p:cNvSpPr txBox="1"/>
          <p:nvPr/>
        </p:nvSpPr>
        <p:spPr>
          <a:xfrm>
            <a:off x="7513168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산업단지 · 관광지 거점</a:t>
            </a:r>
            <a:endParaRPr lang="en-US" sz="1800" dirty="0"/>
          </a:p>
        </p:txBody>
      </p:sp>
      <p:sp>
        <p:nvSpPr>
          <p:cNvPr id="42" name="txt-248"/>
          <p:cNvSpPr txBox="1"/>
          <p:nvPr/>
        </p:nvSpPr>
        <p:spPr>
          <a:xfrm>
            <a:off x="7513168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산단 출입구, 예당호 · 예산시장 주변 지정 게시대</a:t>
            </a:r>
            <a:endParaRPr lang="en-US" sz="1400" dirty="0"/>
          </a:p>
        </p:txBody>
      </p:sp>
      <p:sp>
        <p:nvSpPr>
          <p:cNvPr id="43" name="txt-249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모든 부착물에 ‘네이버 · 티맵에서 예산명지병원 검색’ 문구와 QR을 넣어 지도와 연결합니다.</a:t>
            </a:r>
            <a:endParaRPr lang="en-US" sz="1500" dirty="0"/>
          </a:p>
        </p:txBody>
      </p:sp>
      <p:sp>
        <p:nvSpPr>
          <p:cNvPr id="44" name="txt-250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위치 · 매체는 현장 실사 후 확정하며, 설치 전 옥외광고물법에 따른 지자체 허가 · 신고와 의료광고 사전심의를 거칩니다.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 · 랜드마크 앵커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예산명지 주변의 랜드마크를 ‘길잡이’로 씁니다</a:t>
            </a:r>
            <a:endParaRPr lang="en-US" sz="2800" dirty="0"/>
          </a:p>
        </p:txBody>
      </p:sp>
      <p:sp>
        <p:nvSpPr>
          <p:cNvPr id="4" name="ring-251"/>
          <p:cNvSpPr/>
          <p:nvPr/>
        </p:nvSpPr>
        <p:spPr>
          <a:xfrm>
            <a:off x="868680" y="1554480"/>
            <a:ext cx="4297680" cy="4297680"/>
          </a:xfrm>
          <a:prstGeom prst="ellipse">
            <a:avLst/>
          </a:prstGeom>
          <a:solidFill>
            <a:srgbClr val="EDF3F2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5" name="ring-252"/>
          <p:cNvSpPr/>
          <p:nvPr/>
        </p:nvSpPr>
        <p:spPr>
          <a:xfrm>
            <a:off x="1554480" y="2240280"/>
            <a:ext cx="2926080" cy="2926080"/>
          </a:xfrm>
          <a:prstGeom prst="ellipse">
            <a:avLst/>
          </a:prstGeom>
          <a:solidFill>
            <a:srgbClr val="D6E8E5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6" name="ring-253"/>
          <p:cNvSpPr/>
          <p:nvPr/>
        </p:nvSpPr>
        <p:spPr>
          <a:xfrm>
            <a:off x="2212848" y="2898648"/>
            <a:ext cx="1609344" cy="1609344"/>
          </a:xfrm>
          <a:prstGeom prst="ellipse">
            <a:avLst/>
          </a:prstGeom>
          <a:solidFill>
            <a:srgbClr val="BEDBD6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7" name="txt-254"/>
          <p:cNvSpPr txBox="1"/>
          <p:nvPr/>
        </p:nvSpPr>
        <p:spPr>
          <a:xfrm>
            <a:off x="246888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방문권</a:t>
            </a:r>
            <a:endParaRPr lang="en-US" sz="1100" dirty="0"/>
          </a:p>
        </p:txBody>
      </p:sp>
      <p:sp>
        <p:nvSpPr>
          <p:cNvPr id="8" name="txt-255"/>
          <p:cNvSpPr txBox="1"/>
          <p:nvPr/>
        </p:nvSpPr>
        <p:spPr>
          <a:xfrm>
            <a:off x="24688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교통권</a:t>
            </a:r>
            <a:endParaRPr lang="en-US" sz="1100" dirty="0"/>
          </a:p>
        </p:txBody>
      </p:sp>
      <p:sp>
        <p:nvSpPr>
          <p:cNvPr id="9" name="center-256"/>
          <p:cNvSpPr/>
          <p:nvPr/>
        </p:nvSpPr>
        <p:spPr>
          <a:xfrm>
            <a:off x="2633472" y="3319272"/>
            <a:ext cx="768096" cy="76809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0" name="ic-257" descr="예산명지병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52" y="3502152"/>
            <a:ext cx="402336" cy="402336"/>
          </a:xfrm>
          <a:prstGeom prst="rect">
            <a:avLst/>
          </a:prstGeom>
        </p:spPr>
      </p:pic>
      <p:sp>
        <p:nvSpPr>
          <p:cNvPr id="11" name="anchor-258"/>
          <p:cNvSpPr/>
          <p:nvPr/>
        </p:nvSpPr>
        <p:spPr>
          <a:xfrm>
            <a:off x="2334522" y="3794760"/>
            <a:ext cx="384048" cy="384048"/>
          </a:xfrm>
          <a:prstGeom prst="ellipse">
            <a:avLst/>
          </a:prstGeom>
          <a:solidFill>
            <a:srgbClr val="E2563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xt-259"/>
          <p:cNvSpPr txBox="1"/>
          <p:nvPr/>
        </p:nvSpPr>
        <p:spPr>
          <a:xfrm>
            <a:off x="233452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anchor-260"/>
          <p:cNvSpPr/>
          <p:nvPr/>
        </p:nvSpPr>
        <p:spPr>
          <a:xfrm>
            <a:off x="3379822" y="3831336"/>
            <a:ext cx="384048" cy="384048"/>
          </a:xfrm>
          <a:prstGeom prst="ellipse">
            <a:avLst/>
          </a:prstGeom>
          <a:solidFill>
            <a:srgbClr val="E2563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xt-261"/>
          <p:cNvSpPr txBox="1"/>
          <p:nvPr/>
        </p:nvSpPr>
        <p:spPr>
          <a:xfrm>
            <a:off x="3379822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anchor-262"/>
          <p:cNvSpPr/>
          <p:nvPr/>
        </p:nvSpPr>
        <p:spPr>
          <a:xfrm>
            <a:off x="2231136" y="2481834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xt-263"/>
          <p:cNvSpPr txBox="1"/>
          <p:nvPr/>
        </p:nvSpPr>
        <p:spPr>
          <a:xfrm>
            <a:off x="2231136" y="24818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anchor-264"/>
          <p:cNvSpPr/>
          <p:nvPr/>
        </p:nvSpPr>
        <p:spPr>
          <a:xfrm>
            <a:off x="3736108" y="2747202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xt-265"/>
          <p:cNvSpPr txBox="1"/>
          <p:nvPr/>
        </p:nvSpPr>
        <p:spPr>
          <a:xfrm>
            <a:off x="3736108" y="27472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anchor-266"/>
          <p:cNvSpPr/>
          <p:nvPr/>
        </p:nvSpPr>
        <p:spPr>
          <a:xfrm>
            <a:off x="1654835" y="3304877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xt-267"/>
          <p:cNvSpPr txBox="1"/>
          <p:nvPr/>
        </p:nvSpPr>
        <p:spPr>
          <a:xfrm>
            <a:off x="1654835" y="33048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anchor-268"/>
          <p:cNvSpPr/>
          <p:nvPr/>
        </p:nvSpPr>
        <p:spPr>
          <a:xfrm>
            <a:off x="2418930" y="4628327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xt-269"/>
          <p:cNvSpPr txBox="1"/>
          <p:nvPr/>
        </p:nvSpPr>
        <p:spPr>
          <a:xfrm>
            <a:off x="2418930" y="46283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anchor-270"/>
          <p:cNvSpPr/>
          <p:nvPr/>
        </p:nvSpPr>
        <p:spPr>
          <a:xfrm>
            <a:off x="4574316" y="3042701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xt-271"/>
          <p:cNvSpPr txBox="1"/>
          <p:nvPr/>
        </p:nvSpPr>
        <p:spPr>
          <a:xfrm>
            <a:off x="4574316" y="30427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anchor-272"/>
          <p:cNvSpPr/>
          <p:nvPr/>
        </p:nvSpPr>
        <p:spPr>
          <a:xfrm>
            <a:off x="3590651" y="187041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xt-273"/>
          <p:cNvSpPr txBox="1"/>
          <p:nvPr/>
        </p:nvSpPr>
        <p:spPr>
          <a:xfrm>
            <a:off x="3590651" y="1870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anchor-274"/>
          <p:cNvSpPr/>
          <p:nvPr/>
        </p:nvSpPr>
        <p:spPr>
          <a:xfrm>
            <a:off x="2060341" y="187041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xt-275"/>
          <p:cNvSpPr txBox="1"/>
          <p:nvPr/>
        </p:nvSpPr>
        <p:spPr>
          <a:xfrm>
            <a:off x="2060341" y="1870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anchor-276"/>
          <p:cNvSpPr/>
          <p:nvPr/>
        </p:nvSpPr>
        <p:spPr>
          <a:xfrm>
            <a:off x="1124171" y="2892064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xt-277"/>
          <p:cNvSpPr txBox="1"/>
          <p:nvPr/>
        </p:nvSpPr>
        <p:spPr>
          <a:xfrm>
            <a:off x="1124171" y="2892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</a:t>
            </a:r>
            <a:endParaRPr lang="en-US" sz="1100" dirty="0"/>
          </a:p>
        </p:txBody>
      </p:sp>
      <p:sp>
        <p:nvSpPr>
          <p:cNvPr id="31" name="anchor-278"/>
          <p:cNvSpPr/>
          <p:nvPr/>
        </p:nvSpPr>
        <p:spPr>
          <a:xfrm>
            <a:off x="1184615" y="4276451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xt-279"/>
          <p:cNvSpPr txBox="1"/>
          <p:nvPr/>
        </p:nvSpPr>
        <p:spPr>
          <a:xfrm>
            <a:off x="1184615" y="42764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</a:t>
            </a:r>
            <a:endParaRPr lang="en-US" sz="1100" dirty="0"/>
          </a:p>
        </p:txBody>
      </p:sp>
      <p:sp>
        <p:nvSpPr>
          <p:cNvPr id="33" name="anchor-280"/>
          <p:cNvSpPr/>
          <p:nvPr/>
        </p:nvSpPr>
        <p:spPr>
          <a:xfrm>
            <a:off x="3730752" y="507924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txt-281"/>
          <p:cNvSpPr txBox="1"/>
          <p:nvPr/>
        </p:nvSpPr>
        <p:spPr>
          <a:xfrm>
            <a:off x="3730752" y="50792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12</a:t>
            </a:r>
            <a:endParaRPr lang="en-US" sz="1100" dirty="0"/>
          </a:p>
        </p:txBody>
      </p:sp>
      <p:sp>
        <p:nvSpPr>
          <p:cNvPr id="35" name="txt-282"/>
          <p:cNvSpPr txBox="1"/>
          <p:nvPr/>
        </p:nvSpPr>
        <p:spPr>
          <a:xfrm>
            <a:off x="6035040" y="155448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563B"/>
                </a:solidFill>
              </a:rPr>
              <a:t>생활권 · 1km 안</a:t>
            </a:r>
            <a:endParaRPr lang="en-US" sz="1400" dirty="0"/>
          </a:p>
        </p:txBody>
      </p:sp>
      <p:sp>
        <p:nvSpPr>
          <p:cNvPr id="36" name="lg-283"/>
          <p:cNvSpPr/>
          <p:nvPr/>
        </p:nvSpPr>
        <p:spPr>
          <a:xfrm>
            <a:off x="6035040" y="193852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37" name="txt-284"/>
          <p:cNvSpPr txBox="1"/>
          <p:nvPr/>
        </p:nvSpPr>
        <p:spPr>
          <a:xfrm>
            <a:off x="60350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38" name="txt-285"/>
          <p:cNvSpPr txBox="1"/>
          <p:nvPr/>
        </p:nvSpPr>
        <p:spPr>
          <a:xfrm>
            <a:off x="6400800" y="1901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예산전자공업고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0.3km</a:t>
            </a:r>
            <a:endParaRPr lang="en-US" sz="1300" dirty="0"/>
          </a:p>
        </p:txBody>
      </p:sp>
      <p:sp>
        <p:nvSpPr>
          <p:cNvPr id="39" name="lg-286"/>
          <p:cNvSpPr/>
          <p:nvPr/>
        </p:nvSpPr>
        <p:spPr>
          <a:xfrm>
            <a:off x="8839048" y="193852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40" name="txt-287"/>
          <p:cNvSpPr txBox="1"/>
          <p:nvPr/>
        </p:nvSpPr>
        <p:spPr>
          <a:xfrm>
            <a:off x="883904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41" name="txt-288"/>
          <p:cNvSpPr txBox="1"/>
          <p:nvPr/>
        </p:nvSpPr>
        <p:spPr>
          <a:xfrm>
            <a:off x="9204808" y="1901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관작전문농공단지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0.9km</a:t>
            </a:r>
            <a:endParaRPr lang="en-US" sz="1300" dirty="0"/>
          </a:p>
        </p:txBody>
      </p:sp>
      <p:sp>
        <p:nvSpPr>
          <p:cNvPr id="42" name="txt-289"/>
          <p:cNvSpPr txBox="1"/>
          <p:nvPr/>
        </p:nvSpPr>
        <p:spPr>
          <a:xfrm>
            <a:off x="6035040" y="2368296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6EF0"/>
                </a:solidFill>
              </a:rPr>
              <a:t>교통권 · 1–3km</a:t>
            </a:r>
            <a:endParaRPr lang="en-US" sz="1400" dirty="0"/>
          </a:p>
        </p:txBody>
      </p:sp>
      <p:sp>
        <p:nvSpPr>
          <p:cNvPr id="43" name="lg-290"/>
          <p:cNvSpPr/>
          <p:nvPr/>
        </p:nvSpPr>
        <p:spPr>
          <a:xfrm>
            <a:off x="6035040" y="2752344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4" name="txt-291"/>
          <p:cNvSpPr txBox="1"/>
          <p:nvPr/>
        </p:nvSpPr>
        <p:spPr>
          <a:xfrm>
            <a:off x="60350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xt-292"/>
          <p:cNvSpPr txBox="1"/>
          <p:nvPr/>
        </p:nvSpPr>
        <p:spPr>
          <a:xfrm>
            <a:off x="6400800" y="2715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발연리 버스정류장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1.7km</a:t>
            </a:r>
            <a:endParaRPr lang="en-US" sz="1300" dirty="0"/>
          </a:p>
        </p:txBody>
      </p:sp>
      <p:sp>
        <p:nvSpPr>
          <p:cNvPr id="46" name="lg-293"/>
          <p:cNvSpPr/>
          <p:nvPr/>
        </p:nvSpPr>
        <p:spPr>
          <a:xfrm>
            <a:off x="8839048" y="2752344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7" name="txt-294"/>
          <p:cNvSpPr txBox="1"/>
          <p:nvPr/>
        </p:nvSpPr>
        <p:spPr>
          <a:xfrm>
            <a:off x="8839048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xt-295"/>
          <p:cNvSpPr txBox="1"/>
          <p:nvPr/>
        </p:nvSpPr>
        <p:spPr>
          <a:xfrm>
            <a:off x="9204808" y="2715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신례원역(장항선)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2.0km</a:t>
            </a:r>
            <a:endParaRPr lang="en-US" sz="1300" dirty="0"/>
          </a:p>
        </p:txBody>
      </p:sp>
      <p:sp>
        <p:nvSpPr>
          <p:cNvPr id="49" name="lg-296"/>
          <p:cNvSpPr/>
          <p:nvPr/>
        </p:nvSpPr>
        <p:spPr>
          <a:xfrm>
            <a:off x="6035040" y="3081528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50" name="txt-297"/>
          <p:cNvSpPr txBox="1"/>
          <p:nvPr/>
        </p:nvSpPr>
        <p:spPr>
          <a:xfrm>
            <a:off x="60350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xt-298"/>
          <p:cNvSpPr txBox="1"/>
          <p:nvPr/>
        </p:nvSpPr>
        <p:spPr>
          <a:xfrm>
            <a:off x="6400800" y="3044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예산종합터미널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2.2km</a:t>
            </a:r>
            <a:endParaRPr lang="en-US" sz="1300" dirty="0"/>
          </a:p>
        </p:txBody>
      </p:sp>
      <p:sp>
        <p:nvSpPr>
          <p:cNvPr id="52" name="lg-299"/>
          <p:cNvSpPr/>
          <p:nvPr/>
        </p:nvSpPr>
        <p:spPr>
          <a:xfrm>
            <a:off x="8839048" y="3081528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53" name="txt-300"/>
          <p:cNvSpPr txBox="1"/>
          <p:nvPr/>
        </p:nvSpPr>
        <p:spPr>
          <a:xfrm>
            <a:off x="8839048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txt-301"/>
          <p:cNvSpPr txBox="1"/>
          <p:nvPr/>
        </p:nvSpPr>
        <p:spPr>
          <a:xfrm>
            <a:off x="9204808" y="3044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예산역(장항선)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2.9km</a:t>
            </a:r>
            <a:endParaRPr lang="en-US" sz="1300" dirty="0"/>
          </a:p>
        </p:txBody>
      </p:sp>
      <p:sp>
        <p:nvSpPr>
          <p:cNvPr id="55" name="txt-302"/>
          <p:cNvSpPr txBox="1"/>
          <p:nvPr/>
        </p:nvSpPr>
        <p:spPr>
          <a:xfrm>
            <a:off x="6035040" y="3511296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C82"/>
                </a:solidFill>
              </a:rPr>
              <a:t>방문권 · 3–20km</a:t>
            </a:r>
            <a:endParaRPr lang="en-US" sz="1400" dirty="0"/>
          </a:p>
        </p:txBody>
      </p:sp>
      <p:sp>
        <p:nvSpPr>
          <p:cNvPr id="56" name="lg-303"/>
          <p:cNvSpPr/>
          <p:nvPr/>
        </p:nvSpPr>
        <p:spPr>
          <a:xfrm>
            <a:off x="6035040" y="3895344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57" name="txt-304"/>
          <p:cNvSpPr txBox="1"/>
          <p:nvPr/>
        </p:nvSpPr>
        <p:spPr>
          <a:xfrm>
            <a:off x="603504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7</a:t>
            </a:r>
            <a:endParaRPr lang="en-US" sz="900" dirty="0"/>
          </a:p>
        </p:txBody>
      </p:sp>
      <p:sp>
        <p:nvSpPr>
          <p:cNvPr id="58" name="txt-305"/>
          <p:cNvSpPr txBox="1"/>
          <p:nvPr/>
        </p:nvSpPr>
        <p:spPr>
          <a:xfrm>
            <a:off x="6400800" y="3858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예산상설시장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4.3km</a:t>
            </a:r>
            <a:endParaRPr lang="en-US" sz="1300" dirty="0"/>
          </a:p>
        </p:txBody>
      </p:sp>
      <p:sp>
        <p:nvSpPr>
          <p:cNvPr id="59" name="lg-306"/>
          <p:cNvSpPr/>
          <p:nvPr/>
        </p:nvSpPr>
        <p:spPr>
          <a:xfrm>
            <a:off x="8839048" y="3895344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0" name="txt-307"/>
          <p:cNvSpPr txBox="1"/>
          <p:nvPr/>
        </p:nvSpPr>
        <p:spPr>
          <a:xfrm>
            <a:off x="883904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8</a:t>
            </a:r>
            <a:endParaRPr lang="en-US" sz="900" dirty="0"/>
          </a:p>
        </p:txBody>
      </p:sp>
      <p:sp>
        <p:nvSpPr>
          <p:cNvPr id="61" name="txt-308"/>
          <p:cNvSpPr txBox="1"/>
          <p:nvPr/>
        </p:nvSpPr>
        <p:spPr>
          <a:xfrm>
            <a:off x="9204808" y="3858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예산일반산업단지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8.3km</a:t>
            </a:r>
            <a:endParaRPr lang="en-US" sz="1300" dirty="0"/>
          </a:p>
        </p:txBody>
      </p:sp>
      <p:sp>
        <p:nvSpPr>
          <p:cNvPr id="62" name="lg-309"/>
          <p:cNvSpPr/>
          <p:nvPr/>
        </p:nvSpPr>
        <p:spPr>
          <a:xfrm>
            <a:off x="6035040" y="4224528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3" name="txt-310"/>
          <p:cNvSpPr txBox="1"/>
          <p:nvPr/>
        </p:nvSpPr>
        <p:spPr>
          <a:xfrm>
            <a:off x="60350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9</a:t>
            </a:r>
            <a:endParaRPr lang="en-US" sz="900" dirty="0"/>
          </a:p>
        </p:txBody>
      </p:sp>
      <p:sp>
        <p:nvSpPr>
          <p:cNvPr id="64" name="txt-311"/>
          <p:cNvSpPr txBox="1"/>
          <p:nvPr/>
        </p:nvSpPr>
        <p:spPr>
          <a:xfrm>
            <a:off x="6400800" y="4187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예당호 출렁다리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9km</a:t>
            </a:r>
            <a:endParaRPr lang="en-US" sz="1300" dirty="0"/>
          </a:p>
        </p:txBody>
      </p:sp>
      <p:sp>
        <p:nvSpPr>
          <p:cNvPr id="65" name="lg-312"/>
          <p:cNvSpPr/>
          <p:nvPr/>
        </p:nvSpPr>
        <p:spPr>
          <a:xfrm>
            <a:off x="8839048" y="4224528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6" name="txt-313"/>
          <p:cNvSpPr txBox="1"/>
          <p:nvPr/>
        </p:nvSpPr>
        <p:spPr>
          <a:xfrm>
            <a:off x="883904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10</a:t>
            </a:r>
            <a:endParaRPr lang="en-US" sz="900" dirty="0"/>
          </a:p>
        </p:txBody>
      </p:sp>
      <p:sp>
        <p:nvSpPr>
          <p:cNvPr id="67" name="txt-314"/>
          <p:cNvSpPr txBox="1"/>
          <p:nvPr/>
        </p:nvSpPr>
        <p:spPr>
          <a:xfrm>
            <a:off x="9204808" y="4187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충남도청 · 내포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16km</a:t>
            </a:r>
            <a:endParaRPr lang="en-US" sz="1300" dirty="0"/>
          </a:p>
        </p:txBody>
      </p:sp>
      <p:sp>
        <p:nvSpPr>
          <p:cNvPr id="68" name="lg-315"/>
          <p:cNvSpPr/>
          <p:nvPr/>
        </p:nvSpPr>
        <p:spPr>
          <a:xfrm>
            <a:off x="6035040" y="4553712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9" name="txt-316"/>
          <p:cNvSpPr txBox="1"/>
          <p:nvPr/>
        </p:nvSpPr>
        <p:spPr>
          <a:xfrm>
            <a:off x="603504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11</a:t>
            </a:r>
            <a:endParaRPr lang="en-US" sz="900" dirty="0"/>
          </a:p>
        </p:txBody>
      </p:sp>
      <p:sp>
        <p:nvSpPr>
          <p:cNvPr id="70" name="txt-317"/>
          <p:cNvSpPr txBox="1"/>
          <p:nvPr/>
        </p:nvSpPr>
        <p:spPr>
          <a:xfrm>
            <a:off x="6400800" y="4517136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덕산온천 · 충의사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16km</a:t>
            </a:r>
            <a:endParaRPr lang="en-US" sz="1300" dirty="0"/>
          </a:p>
        </p:txBody>
      </p:sp>
      <p:sp>
        <p:nvSpPr>
          <p:cNvPr id="71" name="lg-318"/>
          <p:cNvSpPr/>
          <p:nvPr/>
        </p:nvSpPr>
        <p:spPr>
          <a:xfrm>
            <a:off x="8839048" y="4553712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72" name="txt-319"/>
          <p:cNvSpPr txBox="1"/>
          <p:nvPr/>
        </p:nvSpPr>
        <p:spPr>
          <a:xfrm>
            <a:off x="8839048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12</a:t>
            </a:r>
            <a:endParaRPr lang="en-US" sz="900" dirty="0"/>
          </a:p>
        </p:txBody>
      </p:sp>
      <p:sp>
        <p:nvSpPr>
          <p:cNvPr id="73" name="txt-320"/>
          <p:cNvSpPr txBox="1"/>
          <p:nvPr/>
        </p:nvSpPr>
        <p:spPr>
          <a:xfrm>
            <a:off x="9204808" y="4517136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수덕사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20km</a:t>
            </a:r>
            <a:endParaRPr lang="en-US" sz="1300" dirty="0"/>
          </a:p>
        </p:txBody>
      </p:sp>
      <p:sp>
        <p:nvSpPr>
          <p:cNvPr id="74" name="box-321"/>
          <p:cNvSpPr/>
          <p:nvPr/>
        </p:nvSpPr>
        <p:spPr>
          <a:xfrm>
            <a:off x="6035040" y="5138928"/>
            <a:ext cx="5608015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5" name="txt-322"/>
          <p:cNvSpPr txBox="1"/>
          <p:nvPr/>
        </p:nvSpPr>
        <p:spPr>
          <a:xfrm>
            <a:off x="6263640" y="5138928"/>
            <a:ext cx="5150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사람들은 병원 이름보다 ‘터미널 근처 병원’, ‘예당호 근처 응급실’처럼 아는 장소로 병원을 찾습니다.</a:t>
            </a:r>
            <a:endParaRPr lang="en-US" sz="1400" dirty="0"/>
          </a:p>
        </p:txBody>
      </p:sp>
      <p:sp>
        <p:nvSpPr>
          <p:cNvPr id="76" name="txt-32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거리: OpenStreetMap 좌표 기준 병원에서의 직선거리(2026.10). 그림은 거리 비율이 아닌 권역 구분용 개념도입니다.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 · 랜드마크 앵커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랜드마크 이름을 지도 · 검색 · 길거리 · 안내카드에 넣습니다</a:t>
            </a:r>
            <a:endParaRPr lang="en-US" sz="2800" dirty="0"/>
          </a:p>
        </p:txBody>
      </p:sp>
      <p:sp>
        <p:nvSpPr>
          <p:cNvPr id="4" name="box-324"/>
          <p:cNvSpPr/>
          <p:nvPr/>
        </p:nvSpPr>
        <p:spPr>
          <a:xfrm>
            <a:off x="548640" y="1554480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325"/>
          <p:cNvSpPr/>
          <p:nvPr/>
        </p:nvSpPr>
        <p:spPr>
          <a:xfrm>
            <a:off x="749808" y="1700784"/>
            <a:ext cx="640080" cy="6400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26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860804"/>
            <a:ext cx="320040" cy="320040"/>
          </a:xfrm>
          <a:prstGeom prst="rect">
            <a:avLst/>
          </a:prstGeom>
        </p:spPr>
      </p:pic>
      <p:sp>
        <p:nvSpPr>
          <p:cNvPr id="7" name="txt-327"/>
          <p:cNvSpPr txBox="1"/>
          <p:nvPr/>
        </p:nvSpPr>
        <p:spPr>
          <a:xfrm>
            <a:off x="1572768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지도 ‘찾아오는 길’</a:t>
            </a:r>
            <a:endParaRPr lang="en-US" sz="1600" dirty="0"/>
          </a:p>
        </p:txBody>
      </p:sp>
      <p:sp>
        <p:nvSpPr>
          <p:cNvPr id="8" name="txt-328"/>
          <p:cNvSpPr txBox="1"/>
          <p:nvPr/>
        </p:nvSpPr>
        <p:spPr>
          <a:xfrm>
            <a:off x="1572768" y="2011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“예산종합터미널에서 약 2km, 예산전자공고 옆”</a:t>
            </a:r>
            <a:endParaRPr lang="en-US" sz="1300" dirty="0"/>
          </a:p>
        </p:txBody>
      </p:sp>
      <p:sp>
        <p:nvSpPr>
          <p:cNvPr id="9" name="tag-329"/>
          <p:cNvSpPr/>
          <p:nvPr/>
        </p:nvSpPr>
        <p:spPr>
          <a:xfrm>
            <a:off x="5349240" y="166420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E8C82">
              <a:alpha val="15000"/>
            </a:srgbClr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10" name="txt-330"/>
          <p:cNvSpPr txBox="1"/>
          <p:nvPr/>
        </p:nvSpPr>
        <p:spPr>
          <a:xfrm>
            <a:off x="5349240" y="1664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기본 · 무료</a:t>
            </a:r>
            <a:endParaRPr lang="en-US" sz="1100" dirty="0"/>
          </a:p>
        </p:txBody>
      </p:sp>
      <p:sp>
        <p:nvSpPr>
          <p:cNvPr id="11" name="box-331"/>
          <p:cNvSpPr/>
          <p:nvPr/>
        </p:nvSpPr>
        <p:spPr>
          <a:xfrm>
            <a:off x="548640" y="2633472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ic-bg-332"/>
          <p:cNvSpPr/>
          <p:nvPr/>
        </p:nvSpPr>
        <p:spPr>
          <a:xfrm>
            <a:off x="749808" y="2779776"/>
            <a:ext cx="640080" cy="6400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3" name="ic-333" descr="Fa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939796"/>
            <a:ext cx="320040" cy="320040"/>
          </a:xfrm>
          <a:prstGeom prst="rect">
            <a:avLst/>
          </a:prstGeom>
        </p:spPr>
      </p:pic>
      <p:sp>
        <p:nvSpPr>
          <p:cNvPr id="14" name="txt-334"/>
          <p:cNvSpPr txBox="1"/>
          <p:nvPr/>
        </p:nvSpPr>
        <p:spPr>
          <a:xfrm>
            <a:off x="1572768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플레이스 키워드 · 소식</a:t>
            </a:r>
            <a:endParaRPr lang="en-US" sz="1600" dirty="0"/>
          </a:p>
        </p:txBody>
      </p:sp>
      <p:sp>
        <p:nvSpPr>
          <p:cNvPr id="15" name="txt-335"/>
          <p:cNvSpPr txBox="1"/>
          <p:nvPr/>
        </p:nvSpPr>
        <p:spPr>
          <a:xfrm>
            <a:off x="1572768" y="3090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터미널 근처 병원 · 관작농공단지 검진 · 예당호 근처 응급실</a:t>
            </a:r>
            <a:endParaRPr lang="en-US" sz="1300" dirty="0"/>
          </a:p>
        </p:txBody>
      </p:sp>
      <p:sp>
        <p:nvSpPr>
          <p:cNvPr id="16" name="tag-336"/>
          <p:cNvSpPr/>
          <p:nvPr/>
        </p:nvSpPr>
        <p:spPr>
          <a:xfrm>
            <a:off x="5349240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E8C82">
              <a:alpha val="15000"/>
            </a:srgbClr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17" name="txt-337"/>
          <p:cNvSpPr txBox="1"/>
          <p:nvPr/>
        </p:nvSpPr>
        <p:spPr>
          <a:xfrm>
            <a:off x="5349240" y="2743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기본 · 무료</a:t>
            </a:r>
            <a:endParaRPr lang="en-US" sz="1100" dirty="0"/>
          </a:p>
        </p:txBody>
      </p:sp>
      <p:sp>
        <p:nvSpPr>
          <p:cNvPr id="18" name="box-338"/>
          <p:cNvSpPr/>
          <p:nvPr/>
        </p:nvSpPr>
        <p:spPr>
          <a:xfrm>
            <a:off x="548640" y="3712464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9" name="ic-bg-339"/>
          <p:cNvSpPr/>
          <p:nvPr/>
        </p:nvSpPr>
        <p:spPr>
          <a:xfrm>
            <a:off x="749808" y="3858768"/>
            <a:ext cx="640080" cy="6400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0" name="ic-340" descr="FaMapSig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018788"/>
            <a:ext cx="320040" cy="320040"/>
          </a:xfrm>
          <a:prstGeom prst="rect">
            <a:avLst/>
          </a:prstGeom>
        </p:spPr>
      </p:pic>
      <p:sp>
        <p:nvSpPr>
          <p:cNvPr id="21" name="txt-341"/>
          <p:cNvSpPr txBox="1"/>
          <p:nvPr/>
        </p:nvSpPr>
        <p:spPr>
          <a:xfrm>
            <a:off x="1572768" y="38039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외부 부착물</a:t>
            </a:r>
            <a:endParaRPr lang="en-US" sz="1600" dirty="0"/>
          </a:p>
        </p:txBody>
      </p:sp>
      <p:sp>
        <p:nvSpPr>
          <p:cNvPr id="22" name="txt-342"/>
          <p:cNvSpPr txBox="1"/>
          <p:nvPr/>
        </p:nvSpPr>
        <p:spPr>
          <a:xfrm>
            <a:off x="1572768" y="41696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신례원역 · 터미널 · 정류장 · 농공단지 출입구에 거리 안내 + QR</a:t>
            </a:r>
            <a:endParaRPr lang="en-US" sz="1300" dirty="0"/>
          </a:p>
        </p:txBody>
      </p:sp>
      <p:sp>
        <p:nvSpPr>
          <p:cNvPr id="23" name="tag-343"/>
          <p:cNvSpPr/>
          <p:nvPr/>
        </p:nvSpPr>
        <p:spPr>
          <a:xfrm>
            <a:off x="5349240" y="382219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2563B">
              <a:alpha val="15000"/>
            </a:srgbClr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24" name="txt-344"/>
          <p:cNvSpPr txBox="1"/>
          <p:nvPr/>
        </p:nvSpPr>
        <p:spPr>
          <a:xfrm>
            <a:off x="5349240" y="38221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확장 · 실사 후 견적</a:t>
            </a:r>
            <a:endParaRPr lang="en-US" sz="1100" dirty="0"/>
          </a:p>
        </p:txBody>
      </p:sp>
      <p:sp>
        <p:nvSpPr>
          <p:cNvPr id="25" name="box-345"/>
          <p:cNvSpPr/>
          <p:nvPr/>
        </p:nvSpPr>
        <p:spPr>
          <a:xfrm>
            <a:off x="548640" y="4791456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6" name="ic-bg-346"/>
          <p:cNvSpPr/>
          <p:nvPr/>
        </p:nvSpPr>
        <p:spPr>
          <a:xfrm>
            <a:off x="749808" y="4937760"/>
            <a:ext cx="640080" cy="6400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7" name="ic-347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5097780"/>
            <a:ext cx="320040" cy="320040"/>
          </a:xfrm>
          <a:prstGeom prst="rect">
            <a:avLst/>
          </a:prstGeom>
        </p:spPr>
      </p:pic>
      <p:sp>
        <p:nvSpPr>
          <p:cNvPr id="28" name="txt-348"/>
          <p:cNvSpPr txBox="1"/>
          <p:nvPr/>
        </p:nvSpPr>
        <p:spPr>
          <a:xfrm>
            <a:off x="1572768" y="4882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거점 안내카드</a:t>
            </a:r>
            <a:endParaRPr lang="en-US" sz="1600" dirty="0"/>
          </a:p>
        </p:txBody>
      </p:sp>
      <p:sp>
        <p:nvSpPr>
          <p:cNvPr id="29" name="txt-349"/>
          <p:cNvSpPr txBox="1"/>
          <p:nvPr/>
        </p:nvSpPr>
        <p:spPr>
          <a:xfrm>
            <a:off x="1572768" y="52486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예당호 · 덕산온천 · 수덕사 관광안내소에 ‘가까운 24시간 응급 진료’ 카드</a:t>
            </a:r>
            <a:endParaRPr lang="en-US" sz="1300" dirty="0"/>
          </a:p>
        </p:txBody>
      </p:sp>
      <p:sp>
        <p:nvSpPr>
          <p:cNvPr id="30" name="tag-350"/>
          <p:cNvSpPr/>
          <p:nvPr/>
        </p:nvSpPr>
        <p:spPr>
          <a:xfrm>
            <a:off x="5349240" y="490118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2563B">
              <a:alpha val="15000"/>
            </a:srgbClr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31" name="txt-351"/>
          <p:cNvSpPr txBox="1"/>
          <p:nvPr/>
        </p:nvSpPr>
        <p:spPr>
          <a:xfrm>
            <a:off x="5349240" y="4901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확장 · 실사 후 견적</a:t>
            </a:r>
            <a:endParaRPr lang="en-US" sz="1100" dirty="0"/>
          </a:p>
        </p:txBody>
      </p:sp>
      <p:sp>
        <p:nvSpPr>
          <p:cNvPr id="32" name="txt-352"/>
          <p:cNvSpPr txBox="1"/>
          <p:nvPr/>
        </p:nvSpPr>
        <p:spPr>
          <a:xfrm>
            <a:off x="7726680" y="155448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부착물 예시 (신례원역)</a:t>
            </a:r>
            <a:endParaRPr lang="en-US" sz="1300" dirty="0"/>
          </a:p>
        </p:txBody>
      </p:sp>
      <p:sp>
        <p:nvSpPr>
          <p:cNvPr id="33" name="sign-353"/>
          <p:cNvSpPr/>
          <p:nvPr/>
        </p:nvSpPr>
        <p:spPr>
          <a:xfrm>
            <a:off x="7726680" y="1965960"/>
            <a:ext cx="3916375" cy="388620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40">
                <a:alpha val="25000"/>
              </a:srgbClr>
            </a:outerShdw>
          </a:effectLst>
        </p:spPr>
      </p:sp>
      <p:sp>
        <p:nvSpPr>
          <p:cNvPr id="34" name="txt-354"/>
          <p:cNvSpPr txBox="1"/>
          <p:nvPr/>
        </p:nvSpPr>
        <p:spPr>
          <a:xfrm>
            <a:off x="8046720" y="224028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여기서 약 2km</a:t>
            </a:r>
            <a:endParaRPr lang="en-US" sz="1600" dirty="0"/>
          </a:p>
        </p:txBody>
      </p:sp>
      <p:sp>
        <p:nvSpPr>
          <p:cNvPr id="35" name="txt-355"/>
          <p:cNvSpPr txBox="1"/>
          <p:nvPr/>
        </p:nvSpPr>
        <p:spPr>
          <a:xfrm>
            <a:off x="8046720" y="2697480"/>
            <a:ext cx="3276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예산명지병원</a:t>
            </a:r>
            <a:endParaRPr lang="en-US" sz="3000" dirty="0"/>
          </a:p>
        </p:txBody>
      </p:sp>
      <p:sp>
        <p:nvSpPr>
          <p:cNvPr id="36" name="txt-356"/>
          <p:cNvSpPr txBox="1"/>
          <p:nvPr/>
        </p:nvSpPr>
        <p:spPr>
          <a:xfrm>
            <a:off x="8046720" y="333756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24시간 응급 진료 · 직업환경의학과</a:t>
            </a:r>
            <a:endParaRPr lang="en-US" sz="1400" dirty="0"/>
          </a:p>
        </p:txBody>
      </p:sp>
      <p:sp>
        <p:nvSpPr>
          <p:cNvPr id="37" name="div-357"/>
          <p:cNvSpPr/>
          <p:nvPr/>
        </p:nvSpPr>
        <p:spPr>
          <a:xfrm>
            <a:off x="8046720" y="3931920"/>
            <a:ext cx="3276295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8" name="qrbg-358"/>
          <p:cNvSpPr/>
          <p:nvPr/>
        </p:nvSpPr>
        <p:spPr>
          <a:xfrm>
            <a:off x="8046720" y="4160520"/>
            <a:ext cx="109728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9" name="qr-359" descr="QR 코드 자리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251960"/>
            <a:ext cx="914400" cy="914400"/>
          </a:xfrm>
          <a:prstGeom prst="rect">
            <a:avLst/>
          </a:prstGeom>
        </p:spPr>
      </p:pic>
      <p:sp>
        <p:nvSpPr>
          <p:cNvPr id="40" name="txt-360"/>
          <p:cNvSpPr txBox="1"/>
          <p:nvPr/>
        </p:nvSpPr>
        <p:spPr>
          <a:xfrm>
            <a:off x="9326880" y="4160520"/>
            <a:ext cx="1996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네이버 · 티맵에서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‘예산명지병원’ 검색</a:t>
            </a:r>
            <a:endParaRPr lang="en-US" sz="1400" dirty="0"/>
          </a:p>
        </p:txBody>
      </p:sp>
      <p:sp>
        <p:nvSpPr>
          <p:cNvPr id="41" name="chip-361"/>
          <p:cNvSpPr/>
          <p:nvPr/>
        </p:nvSpPr>
        <p:spPr>
          <a:xfrm>
            <a:off x="9326880" y="4937760"/>
            <a:ext cx="384048" cy="384048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42" name="txt-362"/>
          <p:cNvSpPr txBox="1"/>
          <p:nvPr/>
        </p:nvSpPr>
        <p:spPr>
          <a:xfrm>
            <a:off x="93268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</a:t>
            </a:r>
            <a:endParaRPr lang="en-US" sz="1100" dirty="0"/>
          </a:p>
        </p:txBody>
      </p:sp>
      <p:sp>
        <p:nvSpPr>
          <p:cNvPr id="43" name="chip-363"/>
          <p:cNvSpPr/>
          <p:nvPr/>
        </p:nvSpPr>
        <p:spPr>
          <a:xfrm>
            <a:off x="9829800" y="4937760"/>
            <a:ext cx="384048" cy="384048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4" name="txt-364"/>
          <p:cNvSpPr txBox="1"/>
          <p:nvPr/>
        </p:nvSpPr>
        <p:spPr>
          <a:xfrm>
            <a:off x="9829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</a:t>
            </a:r>
            <a:endParaRPr lang="en-US" sz="1100" dirty="0"/>
          </a:p>
        </p:txBody>
      </p:sp>
      <p:sp>
        <p:nvSpPr>
          <p:cNvPr id="45" name="txt-365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부착물 · 안내카드는 의료광고 사전심의와 옥외광고물법상 허가 · 신고를 거쳐 설치합니다. 시안은 이해를 돕기 위한 예시입니다.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규정 준수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의료광고 규정 안에서 바로 시작할 수 있습니다</a:t>
            </a:r>
            <a:endParaRPr lang="en-US" sz="2800" dirty="0"/>
          </a:p>
        </p:txBody>
      </p:sp>
      <p:sp>
        <p:nvSpPr>
          <p:cNvPr id="4" name="box-366"/>
          <p:cNvSpPr/>
          <p:nvPr/>
        </p:nvSpPr>
        <p:spPr>
          <a:xfrm>
            <a:off x="548640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367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68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7" name="txt-369"/>
          <p:cNvSpPr txBox="1"/>
          <p:nvPr/>
        </p:nvSpPr>
        <p:spPr>
          <a:xfrm>
            <a:off x="1874520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심의 없이 게시 가능</a:t>
            </a:r>
            <a:endParaRPr lang="en-US" sz="2100" dirty="0"/>
          </a:p>
        </p:txBody>
      </p:sp>
      <p:sp>
        <p:nvSpPr>
          <p:cNvPr id="8" name="list-370"/>
          <p:cNvSpPr txBox="1"/>
          <p:nvPr/>
        </p:nvSpPr>
        <p:spPr>
          <a:xfrm>
            <a:off x="960120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병원명 · 주소 · 전화번호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진료과목 · 진료시간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의료진 성명 · 면허 종류</a:t>
            </a:r>
            <a:endParaRPr lang="en-US" sz="1600" dirty="0"/>
          </a:p>
        </p:txBody>
      </p:sp>
      <p:sp>
        <p:nvSpPr>
          <p:cNvPr id="9" name="txt-371"/>
          <p:cNvSpPr txBox="1"/>
          <p:nvPr/>
        </p:nvSpPr>
        <p:spPr>
          <a:xfrm>
            <a:off x="960120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지도 정보 세팅은 대부분 이 범위</a:t>
            </a:r>
            <a:endParaRPr lang="en-US" sz="1600" dirty="0"/>
          </a:p>
        </p:txBody>
      </p:sp>
      <p:sp>
        <p:nvSpPr>
          <p:cNvPr id="10" name="box-372"/>
          <p:cNvSpPr/>
          <p:nvPr/>
        </p:nvSpPr>
        <p:spPr>
          <a:xfrm>
            <a:off x="6324448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373"/>
          <p:cNvSpPr/>
          <p:nvPr/>
        </p:nvSpPr>
        <p:spPr>
          <a:xfrm>
            <a:off x="669020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374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88" y="2057400"/>
            <a:ext cx="365760" cy="365760"/>
          </a:xfrm>
          <a:prstGeom prst="rect">
            <a:avLst/>
          </a:prstGeom>
        </p:spPr>
      </p:pic>
      <p:sp>
        <p:nvSpPr>
          <p:cNvPr id="13" name="txt-375"/>
          <p:cNvSpPr txBox="1"/>
          <p:nvPr/>
        </p:nvSpPr>
        <p:spPr>
          <a:xfrm>
            <a:off x="7650328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사전심의 후 게시</a:t>
            </a:r>
            <a:endParaRPr lang="en-US" sz="2100" dirty="0"/>
          </a:p>
        </p:txBody>
      </p:sp>
      <p:sp>
        <p:nvSpPr>
          <p:cNvPr id="14" name="list-376"/>
          <p:cNvSpPr txBox="1"/>
          <p:nvPr/>
        </p:nvSpPr>
        <p:spPr>
          <a:xfrm>
            <a:off x="6735928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홍보 문구가 들어간 소식 · 이벤트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검색 광고 문안과 연결 페이지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효과 · 순위를 내세우는 표현</a:t>
            </a:r>
            <a:endParaRPr lang="en-US" sz="1600" dirty="0"/>
          </a:p>
        </p:txBody>
      </p:sp>
      <p:sp>
        <p:nvSpPr>
          <p:cNvPr id="15" name="txt-377"/>
          <p:cNvSpPr txBox="1"/>
          <p:nvPr/>
        </p:nvSpPr>
        <p:spPr>
          <a:xfrm>
            <a:off x="6735928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병원 명의 계정으로 심의 신청</a:t>
            </a:r>
            <a:endParaRPr lang="en-US" sz="1600" dirty="0"/>
          </a:p>
        </p:txBody>
      </p:sp>
      <p:sp>
        <p:nvSpPr>
          <p:cNvPr id="16" name="txt-37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근거: 의료법 제56 · 57조, 대한의사협회 의료광고심의위원회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진행 일정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4주 안에 세팅을 마치고 2개월차부터 월간 관리로 전환합니다</a:t>
            </a:r>
            <a:endParaRPr lang="en-US" sz="2800" dirty="0"/>
          </a:p>
        </p:txBody>
      </p:sp>
      <p:sp>
        <p:nvSpPr>
          <p:cNvPr id="4" name="line-379"/>
          <p:cNvSpPr/>
          <p:nvPr/>
        </p:nvSpPr>
        <p:spPr>
          <a:xfrm>
            <a:off x="1935442" y="2514600"/>
            <a:ext cx="8320811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node-380"/>
          <p:cNvSpPr/>
          <p:nvPr/>
        </p:nvSpPr>
        <p:spPr>
          <a:xfrm>
            <a:off x="1642834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xt-381"/>
          <p:cNvSpPr txBox="1"/>
          <p:nvPr/>
        </p:nvSpPr>
        <p:spPr>
          <a:xfrm>
            <a:off x="164283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-382"/>
          <p:cNvSpPr txBox="1"/>
          <p:nvPr/>
        </p:nvSpPr>
        <p:spPr>
          <a:xfrm>
            <a:off x="655282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1주차</a:t>
            </a:r>
            <a:endParaRPr lang="en-US" sz="1800" dirty="0"/>
          </a:p>
        </p:txBody>
      </p:sp>
      <p:sp>
        <p:nvSpPr>
          <p:cNvPr id="8" name="box-383"/>
          <p:cNvSpPr/>
          <p:nvPr/>
        </p:nvSpPr>
        <p:spPr>
          <a:xfrm>
            <a:off x="701002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384"/>
          <p:cNvSpPr txBox="1"/>
          <p:nvPr/>
        </p:nvSpPr>
        <p:spPr>
          <a:xfrm>
            <a:off x="883882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현황 진단</a:t>
            </a:r>
            <a:endParaRPr lang="en-US" sz="1800" dirty="0"/>
          </a:p>
        </p:txBody>
      </p:sp>
      <p:sp>
        <p:nvSpPr>
          <p:cNvPr id="10" name="txt-385"/>
          <p:cNvSpPr txBox="1"/>
          <p:nvPr/>
        </p:nvSpPr>
        <p:spPr>
          <a:xfrm>
            <a:off x="883882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3대 지도의 현재 정보 · 순위 · 리뷰 점검표</a:t>
            </a:r>
            <a:endParaRPr lang="en-US" sz="1400" dirty="0"/>
          </a:p>
        </p:txBody>
      </p:sp>
      <p:sp>
        <p:nvSpPr>
          <p:cNvPr id="11" name="node-386"/>
          <p:cNvSpPr/>
          <p:nvPr/>
        </p:nvSpPr>
        <p:spPr>
          <a:xfrm>
            <a:off x="4416438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xt-387"/>
          <p:cNvSpPr txBox="1"/>
          <p:nvPr/>
        </p:nvSpPr>
        <p:spPr>
          <a:xfrm>
            <a:off x="441643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-388"/>
          <p:cNvSpPr txBox="1"/>
          <p:nvPr/>
        </p:nvSpPr>
        <p:spPr>
          <a:xfrm>
            <a:off x="3428886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2주차</a:t>
            </a:r>
            <a:endParaRPr lang="en-US" sz="1800" dirty="0"/>
          </a:p>
        </p:txBody>
      </p:sp>
      <p:sp>
        <p:nvSpPr>
          <p:cNvPr id="14" name="box-389"/>
          <p:cNvSpPr/>
          <p:nvPr/>
        </p:nvSpPr>
        <p:spPr>
          <a:xfrm>
            <a:off x="3474606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-390"/>
          <p:cNvSpPr txBox="1"/>
          <p:nvPr/>
        </p:nvSpPr>
        <p:spPr>
          <a:xfrm>
            <a:off x="3657486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권한 확보</a:t>
            </a:r>
            <a:endParaRPr lang="en-US" sz="1800" dirty="0"/>
          </a:p>
        </p:txBody>
      </p:sp>
      <p:sp>
        <p:nvSpPr>
          <p:cNvPr id="16" name="txt-391"/>
          <p:cNvSpPr txBox="1"/>
          <p:nvPr/>
        </p:nvSpPr>
        <p:spPr>
          <a:xfrm>
            <a:off x="3657486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명의 관리 권한 등록, 기준 정보표 확정</a:t>
            </a:r>
            <a:endParaRPr lang="en-US" sz="1400" dirty="0"/>
          </a:p>
        </p:txBody>
      </p:sp>
      <p:sp>
        <p:nvSpPr>
          <p:cNvPr id="17" name="node-392"/>
          <p:cNvSpPr/>
          <p:nvPr/>
        </p:nvSpPr>
        <p:spPr>
          <a:xfrm>
            <a:off x="7190042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xt-393"/>
          <p:cNvSpPr txBox="1"/>
          <p:nvPr/>
        </p:nvSpPr>
        <p:spPr>
          <a:xfrm>
            <a:off x="719004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xt-394"/>
          <p:cNvSpPr txBox="1"/>
          <p:nvPr/>
        </p:nvSpPr>
        <p:spPr>
          <a:xfrm>
            <a:off x="620249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3–4주차</a:t>
            </a:r>
            <a:endParaRPr lang="en-US" sz="1800" dirty="0"/>
          </a:p>
        </p:txBody>
      </p:sp>
      <p:sp>
        <p:nvSpPr>
          <p:cNvPr id="20" name="box-395"/>
          <p:cNvSpPr/>
          <p:nvPr/>
        </p:nvSpPr>
        <p:spPr>
          <a:xfrm>
            <a:off x="6248210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396"/>
          <p:cNvSpPr txBox="1"/>
          <p:nvPr/>
        </p:nvSpPr>
        <p:spPr>
          <a:xfrm>
            <a:off x="643109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세팅 완료</a:t>
            </a:r>
            <a:endParaRPr lang="en-US" sz="1800" dirty="0"/>
          </a:p>
        </p:txBody>
      </p:sp>
      <p:sp>
        <p:nvSpPr>
          <p:cNvPr id="22" name="txt-397"/>
          <p:cNvSpPr txBox="1"/>
          <p:nvPr/>
        </p:nvSpPr>
        <p:spPr>
          <a:xfrm>
            <a:off x="643109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 · 사진 · 연결 정비, 오류 정보 수정</a:t>
            </a:r>
            <a:endParaRPr lang="en-US" sz="1400" dirty="0"/>
          </a:p>
        </p:txBody>
      </p:sp>
      <p:sp>
        <p:nvSpPr>
          <p:cNvPr id="23" name="node-398"/>
          <p:cNvSpPr/>
          <p:nvPr/>
        </p:nvSpPr>
        <p:spPr>
          <a:xfrm>
            <a:off x="9963645" y="2221992"/>
            <a:ext cx="585216" cy="58521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4" name="txt-399"/>
          <p:cNvSpPr txBox="1"/>
          <p:nvPr/>
        </p:nvSpPr>
        <p:spPr>
          <a:xfrm>
            <a:off x="9963645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xt-400"/>
          <p:cNvSpPr txBox="1"/>
          <p:nvPr/>
        </p:nvSpPr>
        <p:spPr>
          <a:xfrm>
            <a:off x="8976093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2개월차~</a:t>
            </a:r>
            <a:endParaRPr lang="en-US" sz="1800" dirty="0"/>
          </a:p>
        </p:txBody>
      </p:sp>
      <p:sp>
        <p:nvSpPr>
          <p:cNvPr id="26" name="box-401"/>
          <p:cNvSpPr/>
          <p:nvPr/>
        </p:nvSpPr>
        <p:spPr>
          <a:xfrm>
            <a:off x="9021813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-402"/>
          <p:cNvSpPr txBox="1"/>
          <p:nvPr/>
        </p:nvSpPr>
        <p:spPr>
          <a:xfrm>
            <a:off x="9204693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월간 관리</a:t>
            </a:r>
            <a:endParaRPr lang="en-US" sz="1800" dirty="0"/>
          </a:p>
        </p:txBody>
      </p:sp>
      <p:sp>
        <p:nvSpPr>
          <p:cNvPr id="28" name="txt-403"/>
          <p:cNvSpPr txBox="1"/>
          <p:nvPr/>
        </p:nvSpPr>
        <p:spPr>
          <a:xfrm>
            <a:off x="9204693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소식 · 리뷰 답글 · 정보 갱신, 월간 리포트</a:t>
            </a:r>
            <a:endParaRPr lang="en-US" sz="1400" dirty="0"/>
          </a:p>
        </p:txBody>
      </p:sp>
      <p:sp>
        <p:nvSpPr>
          <p:cNvPr id="29" name="txt-404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선택 옵션(영수증 리뷰)은 세팅이 끝나는 3주차부터 함께 시작할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비용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 세팅과 월간 관리는 무료로 제공합니다</a:t>
            </a:r>
            <a:endParaRPr lang="en-US" sz="2800" dirty="0"/>
          </a:p>
        </p:txBody>
      </p:sp>
      <p:graphicFrame>
        <p:nvGraphicFramePr>
          <p:cNvPr id="17" name="table-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73752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비용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정보 · 사진 · 예약/톡톡 · 소식 · 리뷰 답글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카카오맵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소유권 등록 · 정보 정비 · 카카오톡 채널 연결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티맵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장소 정보 · 응급실 입구 좌표 · 정보 통일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월간 리포트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노출 순위 · 전화 · 길찾기 · 리뷰 현황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영수증 리뷰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실제 내원 고객 리뷰 참여 활성화(QR · 안내물)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별도 협의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확장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외부 부착물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랜드마크 앵커 부착물 · 거점 안내카드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실사 후 견적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ox-406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-407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 정보 등록 자체도 각 플랫폼에서 무료입니다. 병원 부담 비용은 선택 옵션 · 확장 제안을 진행하실 때만 발생합니다.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성과 관리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성과는 지도에서 일어나는 행동으로 매월 확인합니다</a:t>
            </a:r>
            <a:endParaRPr lang="en-US" sz="2800" dirty="0"/>
          </a:p>
        </p:txBody>
      </p:sp>
      <p:sp>
        <p:nvSpPr>
          <p:cNvPr id="4" name="box-408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409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410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411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노출 순위</a:t>
            </a:r>
            <a:endParaRPr lang="en-US" sz="2000" dirty="0"/>
          </a:p>
        </p:txBody>
      </p:sp>
      <p:sp>
        <p:nvSpPr>
          <p:cNvPr id="8" name="txt-412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‘예산 병원’, ‘예산 응급실’, ‘예산 검진’ 지도 순위</a:t>
            </a:r>
            <a:endParaRPr lang="en-US" sz="1500" dirty="0"/>
          </a:p>
        </p:txBody>
      </p:sp>
      <p:sp>
        <p:nvSpPr>
          <p:cNvPr id="9" name="box-413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414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415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416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전화 · 길찾기</a:t>
            </a:r>
            <a:endParaRPr lang="en-US" sz="2000" dirty="0"/>
          </a:p>
        </p:txBody>
      </p:sp>
      <p:sp>
        <p:nvSpPr>
          <p:cNvPr id="13" name="txt-417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지도에서 바로 전화 · 길찾기를 누른 횟수</a:t>
            </a:r>
            <a:endParaRPr lang="en-US" sz="1500" dirty="0"/>
          </a:p>
        </p:txBody>
      </p:sp>
      <p:sp>
        <p:nvSpPr>
          <p:cNvPr id="14" name="box-418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419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420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421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수 · 내용</a:t>
            </a:r>
            <a:endParaRPr lang="en-US" sz="2000" dirty="0"/>
          </a:p>
        </p:txBody>
      </p:sp>
      <p:sp>
        <p:nvSpPr>
          <p:cNvPr id="18" name="txt-422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· 응급 · 수술 경험이 담긴 리뷰 증가</a:t>
            </a:r>
            <a:endParaRPr lang="en-US" sz="1500" dirty="0"/>
          </a:p>
        </p:txBody>
      </p:sp>
      <p:sp>
        <p:nvSpPr>
          <p:cNvPr id="19" name="box-423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424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425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426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내원 경로</a:t>
            </a:r>
            <a:endParaRPr lang="en-US" sz="2000" dirty="0"/>
          </a:p>
        </p:txBody>
      </p:sp>
      <p:sp>
        <p:nvSpPr>
          <p:cNvPr id="23" name="txt-427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‘어떻게 알고 오셨나요’ 중 지도 · 검색 비중</a:t>
            </a:r>
            <a:endParaRPr lang="en-US" sz="1500" dirty="0"/>
          </a:p>
        </p:txBody>
      </p:sp>
      <p:sp>
        <p:nvSpPr>
          <p:cNvPr id="24" name="txt-428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첫 리포트에서 세팅 전 기준값을 함께 드려, 이후 변화를 같은 기준으로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준비 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시작을 위해 병원에서 준비해 주실 것</a:t>
            </a:r>
            <a:endParaRPr lang="en-US" sz="2800" dirty="0"/>
          </a:p>
        </p:txBody>
      </p:sp>
      <p:sp>
        <p:nvSpPr>
          <p:cNvPr id="4" name="box-429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430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431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432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사업자등록증 · 개설허가증 사본</a:t>
            </a:r>
            <a:endParaRPr lang="en-US" sz="1800" dirty="0"/>
          </a:p>
        </p:txBody>
      </p:sp>
      <p:sp>
        <p:nvSpPr>
          <p:cNvPr id="8" name="txt-433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카카오맵 등 지도 소유권 등록 심사용</a:t>
            </a:r>
            <a:endParaRPr lang="en-US" sz="1500" dirty="0"/>
          </a:p>
        </p:txBody>
      </p:sp>
      <p:sp>
        <p:nvSpPr>
          <p:cNvPr id="9" name="box-434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435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436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437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지도 관리 권한 공유</a:t>
            </a:r>
            <a:endParaRPr lang="en-US" sz="1800" dirty="0"/>
          </a:p>
        </p:txBody>
      </p:sp>
      <p:sp>
        <p:nvSpPr>
          <p:cNvPr id="13" name="txt-438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스마트플레이스 · 카카오비즈니스 · 티맵 장소 관리</a:t>
            </a:r>
            <a:endParaRPr lang="en-US" sz="1500" dirty="0"/>
          </a:p>
        </p:txBody>
      </p:sp>
      <p:sp>
        <p:nvSpPr>
          <p:cNvPr id="14" name="box-439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440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441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442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의료광고 심의 신청 계정</a:t>
            </a:r>
            <a:endParaRPr lang="en-US" sz="1800" dirty="0"/>
          </a:p>
        </p:txBody>
      </p:sp>
      <p:sp>
        <p:nvSpPr>
          <p:cNvPr id="18" name="txt-443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홍보 문구가 들어간 소식의 사전심의용</a:t>
            </a:r>
            <a:endParaRPr lang="en-US" sz="1500" dirty="0"/>
          </a:p>
        </p:txBody>
      </p:sp>
      <p:sp>
        <p:nvSpPr>
          <p:cNvPr id="19" name="box-444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0" name="ic-bg-445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446" descr="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447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기준 정보 확인</a:t>
            </a:r>
            <a:endParaRPr lang="en-US" sz="1800" dirty="0"/>
          </a:p>
        </p:txBody>
      </p:sp>
      <p:sp>
        <p:nvSpPr>
          <p:cNvPr id="23" name="txt-448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진료시간, 응급실 운영, 검진 항목 · 문의처, 의료진 정보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범위와 일정을 확정하는 대로 바로 현황 진단을 시작하겠습니다.</a:t>
            </a:r>
            <a:endParaRPr lang="en-US" sz="1800" dirty="0"/>
          </a:p>
        </p:txBody>
      </p:sp>
      <p:sp>
        <p:nvSpPr>
          <p:cNvPr id="4" name="step-449"/>
          <p:cNvSpPr/>
          <p:nvPr/>
        </p:nvSpPr>
        <p:spPr>
          <a:xfrm>
            <a:off x="54864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-450"/>
          <p:cNvSpPr txBox="1"/>
          <p:nvPr/>
        </p:nvSpPr>
        <p:spPr>
          <a:xfrm>
            <a:off x="54864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범위 확정</a:t>
            </a:r>
            <a:endParaRPr lang="en-US" sz="1400" dirty="0"/>
          </a:p>
        </p:txBody>
      </p:sp>
      <p:sp>
        <p:nvSpPr>
          <p:cNvPr id="6" name="step-451"/>
          <p:cNvSpPr/>
          <p:nvPr/>
        </p:nvSpPr>
        <p:spPr>
          <a:xfrm>
            <a:off x="324612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xt-452"/>
          <p:cNvSpPr txBox="1"/>
          <p:nvPr/>
        </p:nvSpPr>
        <p:spPr>
          <a:xfrm>
            <a:off x="324612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권한 · 서류 전달</a:t>
            </a:r>
            <a:endParaRPr lang="en-US" sz="1400" dirty="0"/>
          </a:p>
        </p:txBody>
      </p:sp>
      <p:sp>
        <p:nvSpPr>
          <p:cNvPr id="8" name="step-453"/>
          <p:cNvSpPr/>
          <p:nvPr/>
        </p:nvSpPr>
        <p:spPr>
          <a:xfrm>
            <a:off x="594360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-454"/>
          <p:cNvSpPr txBox="1"/>
          <p:nvPr/>
        </p:nvSpPr>
        <p:spPr>
          <a:xfrm>
            <a:off x="594360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1주차 현황 진단 시작</a:t>
            </a:r>
            <a:endParaRPr lang="en-US" sz="1400" dirty="0"/>
          </a:p>
        </p:txBody>
      </p:sp>
      <p:sp>
        <p:nvSpPr>
          <p:cNvPr id="10" name="txt-455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리드컴퍼니</a:t>
            </a:r>
            <a:endParaRPr lang="en-US" sz="1400" dirty="0"/>
          </a:p>
        </p:txBody>
      </p:sp>
      <p:pic>
        <p:nvPicPr>
          <p:cNvPr id="11" name="pin-456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esan Map Proposal v2">
  <a:themeElements>
    <a:clrScheme name="Yesan Map Proposal v2">
      <a:dk1>
        <a:srgbClr val="1C2629"/>
      </a:dk1>
      <a:lt1>
        <a:srgbClr val="FFFFFF"/>
      </a:lt1>
      <a:dk2>
        <a:srgbClr val="0F3B40"/>
      </a:dk2>
      <a:lt2>
        <a:srgbClr val="EDF3F2"/>
      </a:lt2>
      <a:accent1>
        <a:srgbClr val="1E8C82"/>
      </a:accent1>
      <a:accent2>
        <a:srgbClr val="E2563B"/>
      </a:accent2>
      <a:accent3>
        <a:srgbClr val="03C75A"/>
      </a:accent3>
      <a:accent4>
        <a:srgbClr val="F5C400"/>
      </a:accent4>
      <a:accent5>
        <a:srgbClr val="3B6EF0"/>
      </a:accent5>
      <a:accent6>
        <a:srgbClr val="7C8C90"/>
      </a:accent6>
      <a:hlink>
        <a:srgbClr val="1E8C82"/>
      </a:hlink>
      <a:folHlink>
        <a:srgbClr val="0F3B40"/>
      </a:folHlink>
    </a:clrScheme>
    <a:fontScheme name="Yesan Map Proposal v2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리드컴퍼니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예산명지병원 지도 기반 로컬 마케팅 제안서</dc:title>
  <dc:subject>PptxGenJS Presentation</dc:subject>
  <dc:creator>리드컴퍼니</dc:creator>
  <cp:lastModifiedBy>리드컴퍼니</cp:lastModifiedBy>
  <cp:revision>1</cp:revision>
  <dcterms:created xsi:type="dcterms:W3CDTF">2026-10-14T05:13:25Z</dcterms:created>
  <dcterms:modified xsi:type="dcterms:W3CDTF">2026-10-14T05:13:25Z</dcterms:modified>
</cp:coreProperties>
</file>