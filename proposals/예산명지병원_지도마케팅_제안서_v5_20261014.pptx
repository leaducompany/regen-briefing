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charts/chart1.xml" ContentType="application/vnd.openxmlformats-officedocument.drawingml.chart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slideMasters/slideMaster17.xml" ContentType="application/vnd.openxmlformats-officedocument.presentationml.slideMaster+xml"/>
  <Override PartName="/ppt/slides/slide17.xml" ContentType="application/vnd.openxmlformats-officedocument.presentationml.slide+xml"/>
  <Override PartName="/ppt/slideMasters/slideMaster18.xml" ContentType="application/vnd.openxmlformats-officedocument.presentationml.slideMaster+xml"/>
  <Override PartName="/ppt/slides/slide18.xml" ContentType="application/vnd.openxmlformats-officedocument.presentationml.slide+xml"/>
  <Override PartName="/ppt/slideMasters/slideMaster19.xml" ContentType="application/vnd.openxmlformats-officedocument.presentationml.slideMaster+xml"/>
  <Override PartName="/ppt/slides/slide19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</p:sldIdLst>
  <p:notesMasterIdLst>
    <p:notesMasterId r:id="rId21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표지" id="{a6b3b609-2e0d-c6dd-8c6f-1b64ad54b1e3}">
          <p14:sldIdLst>
            <p14:sldId id="256"/>
            <p14:sldId id="257"/>
          </p14:sldIdLst>
        </p14:section>
        <p14:section name="요약" id="{3a992cbb-413f-32d2-9336-179592c62538}">
          <p14:sldIdLst>
            <p14:sldId id="258"/>
          </p14:sldIdLst>
        </p14:section>
        <p14:section name="현황" id="{2fff5d9f-b7ce-d084-844a-90ad45ac31eb}">
          <p14:sldIdLst>
            <p14:sldId id="259"/>
            <p14:sldId id="260"/>
          </p14:sldIdLst>
        </p14:section>
        <p14:section name="전략" id="{2ed117ec-9a99-c0ce-59c6-aaf137a3ef38}">
          <p14:sldIdLst>
            <p14:sldId id="261"/>
            <p14:sldId id="262"/>
          </p14:sldIdLst>
        </p14:section>
        <p14:section name="제안" id="{e4420a91-ab26-bef5-5f0a-d14715e3aa02}">
          <p14:sldIdLst>
            <p14:sldId id="263"/>
            <p14:sldId id="264"/>
            <p14:sldId id="265"/>
            <p14:sldId id="266"/>
            <p14:sldId id="267"/>
            <p14:sldId id="268"/>
            <p14:sldId id="269"/>
          </p14:sldIdLst>
        </p14:section>
        <p14:section name="일정 · 비용" id="{f542f7b4-8c7b-2326-c2ec-c944b7906ee5}">
          <p14:sldIdLst>
            <p14:sldId id="270"/>
            <p14:sldId id="271"/>
            <p14:sldId id="272"/>
          </p14:sldIdLst>
        </p14:section>
        <p14:section name="진행 요청" id="{4b1ba295-f976-cb4b-7be5-0aae3e59e402}">
          <p14:sldIdLst>
            <p14:sldId id="273"/>
            <p14:sldId id="274"/>
          </p14:sldIdLst>
        </p14:section>
      </p14:sectionLst>
    </p:ex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slide" Target="slides/slide18.xml"/><Relationship Id="rId20" Type="http://schemas.openxmlformats.org/officeDocument/2006/relationships/slide" Target="slides/slide19.xml"/><Relationship Id="rId21" Type="http://schemas.openxmlformats.org/officeDocument/2006/relationships/notesMaster" Target="notesMasters/notesMaster1.xml"/><Relationship Id="rId22" Type="http://schemas.openxmlformats.org/officeDocument/2006/relationships/presProps" Target="presProps.xml"/><Relationship Id="rId23" Type="http://schemas.openxmlformats.org/officeDocument/2006/relationships/viewProps" Target="viewProps.xml"/><Relationship Id="rId24" Type="http://schemas.openxmlformats.org/officeDocument/2006/relationships/theme" Target="theme/theme1.xml"/><Relationship Id="rId25" Type="http://schemas.openxmlformats.org/officeDocument/2006/relationships/tableStyles" Target="tableStyles.xml"/></Relationships>
</file>

<file path=ppt/charts/_rels/chart1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1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title>
      <c:tx>
        <c:rich>
          <a:bodyPr/>
          <a:lstStyle/>
          <a:p>
            <a:pPr>
              <a:defRPr sz="1300" b="0" i="0" u="none" strike="noStrike">
                <a:solidFill>
                  <a:srgbClr val="0F3B40"/>
                </a:solidFill>
                <a:latin typeface="+mn-lt"/>
              </a:defRPr>
            </a:pPr>
            <a:r>
              <a:rPr sz="1300" b="0" i="0" u="none" strike="noStrike">
                <a:solidFill>
                  <a:srgbClr val="0F3B40"/>
                </a:solidFill>
                <a:latin typeface="+mn-lt"/>
              </a:rPr>
              <a:t>안드로이드 지도 앱 이용자 점유율 (2025.6, 중복 포함)</a:t>
            </a:r>
          </a:p>
        </c:rich>
      </c:tx>
      <c:layout/>
      <c:overlay val="0"/>
    </c:title>
    <c:autoTitleDeleted val="0"/>
    <c:plotArea>
      <c:layout/>
      <c:barChart>
        <c:barDir val="bar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이용자 점유율</c:v>
                </c:pt>
              </c:strCache>
            </c:strRef>
          </c:tx>
          <c:spPr>
            <a:solidFill>
              <a:srgbClr val="03C75A"/>
            </a:solidFill>
            <a:effectLst/>
          </c:spPr>
          <c:invertIfNegative val="0"/>
          <c:dLbls>
            <c:numFmt formatCode="0.0&quot;%&quot;" sourceLinked="0"/>
            <c:txPr>
              <a:bodyPr/>
              <a:lstStyle/>
              <a:p>
                <a:pPr>
                  <a:defRPr b="1" i="0" strike="noStrike" sz="1600" u="none">
                    <a:solidFill>
                      <a:srgbClr val="1C2629"/>
                    </a:solidFill>
                    <a:latin typeface="+mn-lt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dPt>
            <c:idx val="0"/>
            <c:invertIfNegative val="0"/>
            <c:bubble3D val="0"/>
            <c:spPr>
              <a:solidFill>
                <a:srgbClr val="03C75A"/>
              </a:solidFill>
              <a:effectLst/>
            </c:spPr>
          </c:dPt>
          <c:dPt>
            <c:idx val="1"/>
            <c:invertIfNegative val="0"/>
            <c:bubble3D val="0"/>
            <c:spPr>
              <a:solidFill>
                <a:srgbClr val="3B6EF0"/>
              </a:solidFill>
              <a:effectLst/>
            </c:spPr>
          </c:dPt>
          <c:dPt>
            <c:idx val="2"/>
            <c:invertIfNegative val="0"/>
            <c:bubble3D val="0"/>
            <c:spPr>
              <a:solidFill>
                <a:srgbClr val="F5C400"/>
              </a:solidFill>
              <a:effectLst/>
            </c:spPr>
          </c:dPt>
          <c:cat>
            <c:multiLvlStrRef>
              <c:f>Sheet1!$A$2:$A$4</c:f>
              <c:multiLvlStrCache>
                <c:ptCount val="3"/>
                <c:lvl>
                  <c:pt idx="0">
                    <c:v>네이버지도</c:v>
                  </c:pt>
                  <c:pt idx="1">
                    <c:v>티맵</c:v>
                  </c:pt>
                  <c:pt idx="2">
                    <c:v>카카오맵</c:v>
                  </c:pt>
                </c:lvl>
              </c:multiLvlStrCache>
            </c:multiLvlStrRef>
          </c:cat>
          <c:val>
            <c:numRef>
              <c:f>Sheet1!$B$2:$B$4</c:f>
              <c:numCache>
                <c:formatCode>General</c:formatCode>
                <c:ptCount val="3"/>
                <c:pt idx="0">
                  <c:v>69.4</c:v>
                </c:pt>
                <c:pt idx="1">
                  <c:v>42.2</c:v>
                </c:pt>
                <c:pt idx="2">
                  <c:v>30.8</c:v>
                </c:pt>
              </c:numCache>
            </c:numRef>
          </c:val>
        </c:ser>
        <c:dLbls>
          <c:numFmt formatCode="0.0&quot;%&quot;" sourceLinked="0"/>
          <c:txPr>
            <a:bodyPr/>
            <a:lstStyle/>
            <a:p>
              <a:pPr>
                <a:defRPr b="1" i="0" strike="noStrike" sz="1600" u="none">
                  <a:solidFill>
                    <a:srgbClr val="1C2629"/>
                  </a:solidFill>
                  <a:latin typeface="+mn-lt"/>
                </a:defRPr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60"/>
        <c:overlap val="0"/>
        <c:axId val="2094734554"/>
        <c:axId val="2094734552"/>
        <c:axId val="2094734556"/>
      </c:barChart>
      <c:catAx>
        <c:axId val="2094734554"/>
        <c:scaling>
          <c:orientation val="maxMin"/>
        </c:scaling>
        <c:delete val="0"/>
        <c:axPos val="l"/>
        <c:numFmt formatCode="General" sourceLinked="1"/>
        <c:majorTickMark val="out"/>
        <c:minorTickMark val="none"/>
        <c:tickLblPos val="nextTo"/>
        <c:spPr>
          <a:ln w="12700" cap="flat">
            <a:noFill/>
            <a:prstDash val="solid"/>
            <a:round/>
          </a:ln>
        </c:spPr>
        <c:txPr>
          <a:bodyPr/>
          <a:lstStyle/>
          <a:p>
            <a:pPr>
              <a:defRPr sz="1500" b="0" i="0" u="none" strike="noStrike">
                <a:solidFill>
                  <a:srgbClr val="1C2629"/>
                </a:solidFill>
                <a:latin typeface="+mn-lt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  <c:max val="85"/>
          <c:min val="0"/>
        </c:scaling>
        <c:delete val="1"/>
        <c:axPos val="b"/>
        <c:numFmt formatCode="General" sourceLinked="0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000000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_rels/notesSlide1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7.xml"/>
		</Relationships>
</file>

<file path=ppt/notesSlides/_rels/notesSlide1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8.xml"/>
		</Relationships>
</file>

<file path=ppt/notesSlides/_rels/notesSlide1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9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ARK">
    <p:bg>
      <p:bgPr>
        <a:solidFill>
          <a:schemeClr val="tx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1737360"/>
            <a:ext cx="6949440" cy="201168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4000" b="1" dirty="0">
                <a:solidFill>
                  <a:schemeClr val="bg1"/>
                </a:solidFill>
              </a:defRPr>
            </a:lvl1pPr>
          </a:lstStyle>
          <a:p>
            <a:pPr algn="l" indent="0" marL="0">
              <a:buNone/>
            </a:pPr>
            <a:endParaRPr lang="en-US" sz="4000" dirty="0"/>
          </a:p>
        </p:txBody>
      </p:sp>
      <p:sp>
        <p:nvSpPr>
          <p:cNvPr id="3" name="Text 0"/>
          <p:cNvSpPr/>
          <p:nvPr>
            <p:ph idx="101" type="body" hasCustomPrompt="1"/>
          </p:nvPr>
        </p:nvSpPr>
        <p:spPr>
          <a:xfrm>
            <a:off x="548640" y="3931920"/>
            <a:ext cx="6949440" cy="91440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1800" dirty="0">
                <a:solidFill>
                  <a:schemeClr val="bg2"/>
                </a:solidFill>
              </a:defRPr>
            </a:lvl1pPr>
          </a:lstStyle>
          <a:p>
            <a:pPr algn="l" indent="0" marL="0">
              <a:buNone/>
            </a:pPr>
            <a:endParaRPr lang="en-US" sz="1800" dirty="0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LIGHT">
    <p:bg>
      <p:bgPr>
        <a:solidFill>
          <a:schemeClr val="bg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body" hasCustomPrompt="1"/>
          </p:nvPr>
        </p:nvSpPr>
        <p:spPr>
          <a:xfrm>
            <a:off x="548640" y="320040"/>
            <a:ext cx="7315200" cy="32004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1200" b="1" dirty="0">
                <a:solidFill>
                  <a:schemeClr val="accent1"/>
                </a:solidFill>
              </a:defRPr>
            </a:lvl1pPr>
          </a:lstStyle>
          <a:p>
            <a:pPr algn="l" indent="0" marL="0">
              <a:buNone/>
            </a:pPr>
            <a:endParaRPr lang="en-US" sz="1200" dirty="0"/>
          </a:p>
        </p:txBody>
      </p:sp>
      <p:sp>
        <p:nvSpPr>
          <p:cNvPr id="3" name="Text 0"/>
          <p:cNvSpPr/>
          <p:nvPr>
            <p:ph idx="101" type="title" hasCustomPrompt="1"/>
          </p:nvPr>
        </p:nvSpPr>
        <p:spPr>
          <a:xfrm>
            <a:off x="548640" y="640080"/>
            <a:ext cx="11094415" cy="68580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2800" b="1" dirty="0">
                <a:solidFill>
                  <a:schemeClr val="tx2"/>
                </a:solidFill>
              </a:defRPr>
            </a:lvl1pPr>
          </a:lstStyle>
          <a:p>
            <a:pPr algn="l" indent="0" marL="0">
              <a:buNone/>
            </a:pPr>
            <a:endParaRPr lang="en-US" sz="2800" dirty="0"/>
          </a:p>
        </p:txBody>
      </p:sp>
      <p:sp>
        <p:nvSpPr>
          <p:cNvPr id="4" name="Text 0"/>
          <p:cNvSpPr/>
          <p:nvPr/>
        </p:nvSpPr>
        <p:spPr>
          <a:xfrm>
            <a:off x="548640" y="6419088"/>
            <a:ext cx="7315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chemeClr val="accent6"/>
                </a:solidFill>
              </a:rPr>
              <a:t>예산명지병원 지도 기반 로컬 마케팅 제안  |  리드유컴퍼니</a:t>
            </a:r>
            <a:endParaRPr lang="en-US" sz="10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94415" y="6419088"/>
            <a:ext cx="548640" cy="256032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6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1003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94415" y="6419088"/>
            <a:ext cx="548640" cy="256032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6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null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png"/><Relationship Id="rId2" Type="http://schemas.openxmlformats.org/officeDocument/2006/relationships/image" Target="../media/image-3-2.png"/><Relationship Id="rId3" Type="http://schemas.openxmlformats.org/officeDocument/2006/relationships/image" Target="../media/image-3-3.png"/><Relationship Id="rId4" Type="http://schemas.openxmlformats.org/officeDocument/2006/relationships/slideLayout" Target="../slideLayouts/slideLayout3.xml"/><Relationship Id="rId5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png"/><Relationship Id="rId2" Type="http://schemas.openxmlformats.org/officeDocument/2006/relationships/image" Target="../media/image-4-2.png"/><Relationship Id="rId3" Type="http://schemas.openxmlformats.org/officeDocument/2006/relationships/image" Target="../media/image-4-3.png"/><Relationship Id="rId4" Type="http://schemas.openxmlformats.org/officeDocument/2006/relationships/image" Target="../media/image-4-4.png"/><Relationship Id="rId5" Type="http://schemas.openxmlformats.org/officeDocument/2006/relationships/slideLayout" Target="../slideLayouts/slideLayout3.xml"/><Relationship Id="rId6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1.xml"/><Relationship Id="rId2" Type="http://schemas.openxmlformats.org/officeDocument/2006/relationships/slideLayout" Target="../slideLayouts/slideLayout3.xml"/><Relationship Id="rId3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-1.png"/><Relationship Id="rId2" Type="http://schemas.openxmlformats.org/officeDocument/2006/relationships/image" Target="../media/image-6-2.png"/><Relationship Id="rId3" Type="http://schemas.openxmlformats.org/officeDocument/2006/relationships/image" Target="../media/image-6-3.png"/><Relationship Id="rId4" Type="http://schemas.openxmlformats.org/officeDocument/2006/relationships/slideLayout" Target="../slideLayouts/slideLayout3.xml"/><Relationship Id="rId5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7-1.png"/><Relationship Id="rId2" Type="http://schemas.openxmlformats.org/officeDocument/2006/relationships/image" Target="../media/image-7-2.png"/><Relationship Id="rId3" Type="http://schemas.openxmlformats.org/officeDocument/2006/relationships/image" Target="../media/image-7-3.png"/><Relationship Id="rId4" Type="http://schemas.openxmlformats.org/officeDocument/2006/relationships/slideLayout" Target="../slideLayouts/slideLayout3.xml"/><Relationship Id="rId5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9-1.png"/><Relationship Id="rId2" Type="http://schemas.openxmlformats.org/officeDocument/2006/relationships/image" Target="../media/image-9-2.png"/><Relationship Id="rId3" Type="http://schemas.openxmlformats.org/officeDocument/2006/relationships/image" Target="../media/image-9-3.png"/><Relationship Id="rId4" Type="http://schemas.openxmlformats.org/officeDocument/2006/relationships/image" Target="../media/image-9-4.png"/><Relationship Id="rId5" Type="http://schemas.openxmlformats.org/officeDocument/2006/relationships/slideLayout" Target="../slideLayouts/slideLayout3.xml"/><Relationship Id="rId6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0-1.png"/><Relationship Id="rId2" Type="http://schemas.openxmlformats.org/officeDocument/2006/relationships/image" Target="../media/image-10-2.png"/><Relationship Id="rId3" Type="http://schemas.openxmlformats.org/officeDocument/2006/relationships/image" Target="../media/image-10-3.png"/><Relationship Id="rId4" Type="http://schemas.openxmlformats.org/officeDocument/2006/relationships/slideLayout" Target="../slideLayouts/slideLayout3.xml"/><Relationship Id="rId5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1-1.png"/><Relationship Id="rId2" Type="http://schemas.openxmlformats.org/officeDocument/2006/relationships/image" Target="../media/image-11-2.png"/><Relationship Id="rId3" Type="http://schemas.openxmlformats.org/officeDocument/2006/relationships/image" Target="../media/image-11-3.png"/><Relationship Id="rId4" Type="http://schemas.openxmlformats.org/officeDocument/2006/relationships/image" Target="../media/image-11-4.png"/><Relationship Id="rId5" Type="http://schemas.openxmlformats.org/officeDocument/2006/relationships/image" Target="../media/image-11-5.png"/><Relationship Id="rId6" Type="http://schemas.openxmlformats.org/officeDocument/2006/relationships/image" Target="../media/image-11-6.png"/><Relationship Id="rId7" Type="http://schemas.openxmlformats.org/officeDocument/2006/relationships/image" Target="../media/image-11-7.png"/><Relationship Id="rId8" Type="http://schemas.openxmlformats.org/officeDocument/2006/relationships/image" Target="../media/image-11-8.png"/><Relationship Id="rId9" Type="http://schemas.openxmlformats.org/officeDocument/2006/relationships/slideLayout" Target="../slideLayouts/slideLayout3.xml"/><Relationship Id="rId10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2-1.png"/><Relationship Id="rId2" Type="http://schemas.openxmlformats.org/officeDocument/2006/relationships/slideLayout" Target="../slideLayouts/slideLayout3.xml"/><Relationship Id="rId3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3-1.png"/><Relationship Id="rId2" Type="http://schemas.openxmlformats.org/officeDocument/2006/relationships/image" Target="../media/image-13-2.png"/><Relationship Id="rId3" Type="http://schemas.openxmlformats.org/officeDocument/2006/relationships/image" Target="../media/image-13-3.png"/><Relationship Id="rId4" Type="http://schemas.openxmlformats.org/officeDocument/2006/relationships/image" Target="../media/image-13-4.png"/><Relationship Id="rId5" Type="http://schemas.openxmlformats.org/officeDocument/2006/relationships/image" Target="../media/image-13-5.png"/><Relationship Id="rId6" Type="http://schemas.openxmlformats.org/officeDocument/2006/relationships/slideLayout" Target="../slideLayouts/slideLayout3.xml"/><Relationship Id="rId7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4-1.png"/><Relationship Id="rId2" Type="http://schemas.openxmlformats.org/officeDocument/2006/relationships/image" Target="../media/image-14-2.png"/><Relationship Id="rId3" Type="http://schemas.openxmlformats.org/officeDocument/2006/relationships/slideLayout" Target="../slideLayouts/slideLayout3.xml"/><Relationship Id="rId4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6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7-1.png"/><Relationship Id="rId2" Type="http://schemas.openxmlformats.org/officeDocument/2006/relationships/image" Target="../media/image-17-2.png"/><Relationship Id="rId3" Type="http://schemas.openxmlformats.org/officeDocument/2006/relationships/image" Target="../media/image-17-3.png"/><Relationship Id="rId4" Type="http://schemas.openxmlformats.org/officeDocument/2006/relationships/image" Target="../media/image-17-4.png"/><Relationship Id="rId5" Type="http://schemas.openxmlformats.org/officeDocument/2006/relationships/slideLayout" Target="../slideLayouts/slideLayout3.xml"/><Relationship Id="rId6" Type="http://schemas.openxmlformats.org/officeDocument/2006/relationships/notesSlide" Target="../notesSlides/notesSlide17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8-1.png"/><Relationship Id="rId2" Type="http://schemas.openxmlformats.org/officeDocument/2006/relationships/image" Target="../media/image-18-2.png"/><Relationship Id="rId3" Type="http://schemas.openxmlformats.org/officeDocument/2006/relationships/image" Target="../media/image-18-3.png"/><Relationship Id="rId4" Type="http://schemas.openxmlformats.org/officeDocument/2006/relationships/image" Target="../media/image-18-4.png"/><Relationship Id="rId5" Type="http://schemas.openxmlformats.org/officeDocument/2006/relationships/slideLayout" Target="../slideLayouts/slideLayout3.xml"/><Relationship Id="rId6" Type="http://schemas.openxmlformats.org/officeDocument/2006/relationships/notesSlide" Target="../notesSlides/notesSlide18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9-1.pn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19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1737360"/>
            <a:ext cx="6949440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algn="l" indent="0" marL="0">
              <a:buNone/>
            </a:pPr>
            <a:r>
              <a:rPr lang="en-US" sz="4000" b="1" dirty="0">
                <a:solidFill>
                  <a:schemeClr val="bg1"/>
                </a:solidFill>
              </a:rPr>
              <a:t>예산명지병원</a:t>
            </a:r>
            <a:endParaRPr lang="en-US" sz="4000" dirty="0"/>
          </a:p>
          <a:p>
            <a:pPr algn="l" indent="0" marL="0">
              <a:buNone/>
            </a:pPr>
            <a:r>
              <a:rPr lang="en-US" sz="4000" b="1" dirty="0">
                <a:solidFill>
                  <a:schemeClr val="bg1"/>
                </a:solidFill>
              </a:rPr>
              <a:t>지도 기반 로컬 마케팅 제안서</a:t>
            </a:r>
            <a:endParaRPr lang="en-US" sz="4000" dirty="0"/>
          </a:p>
        </p:txBody>
      </p:sp>
      <p:sp>
        <p:nvSpPr>
          <p:cNvPr id="3" name="Text 0"/>
          <p:cNvSpPr/>
          <p:nvPr>
            <p:ph idx="101" type="body" hasCustomPrompt="1"/>
          </p:nvPr>
        </p:nvSpPr>
        <p:spPr>
          <a:xfrm>
            <a:off x="548640" y="3931920"/>
            <a:ext cx="694944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800" dirty="0">
                <a:solidFill>
                  <a:schemeClr val="bg2"/>
                </a:solidFill>
              </a:rPr>
              <a:t>네이버 플레이스 · 카카오맵 · 티맵 세팅 및 운영 관리</a:t>
            </a:r>
            <a:endParaRPr lang="en-US" sz="1800" dirty="0"/>
          </a:p>
        </p:txBody>
      </p:sp>
      <p:sp>
        <p:nvSpPr>
          <p:cNvPr id="4" name="txt-1"/>
          <p:cNvSpPr txBox="1"/>
          <p:nvPr/>
        </p:nvSpPr>
        <p:spPr>
          <a:xfrm>
            <a:off x="548640" y="5943600"/>
            <a:ext cx="5486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bg2"/>
                </a:solidFill>
              </a:rPr>
              <a:t>리드유컴퍼니   |   2026. 10</a:t>
            </a:r>
            <a:endParaRPr lang="en-US" sz="1400" dirty="0"/>
          </a:p>
        </p:txBody>
      </p:sp>
      <p:sp>
        <p:nvSpPr>
          <p:cNvPr id="5" name="halo-2"/>
          <p:cNvSpPr/>
          <p:nvPr/>
        </p:nvSpPr>
        <p:spPr>
          <a:xfrm>
            <a:off x="8001000" y="1097280"/>
            <a:ext cx="3657600" cy="3657600"/>
          </a:xfrm>
          <a:prstGeom prst="ellipse">
            <a:avLst/>
          </a:prstGeom>
          <a:solidFill>
            <a:schemeClr val="accent1">
              <a:alpha val="30000"/>
            </a:schemeClr>
          </a:solidFill>
          <a:ln w="12700">
            <a:solidFill>
              <a:schemeClr val="accent1">
                <a:alpha val="30000"/>
              </a:schemeClr>
            </a:solidFill>
            <a:prstDash val="solid"/>
          </a:ln>
        </p:spPr>
      </p:sp>
      <p:sp>
        <p:nvSpPr>
          <p:cNvPr id="6" name="halo-3"/>
          <p:cNvSpPr/>
          <p:nvPr/>
        </p:nvSpPr>
        <p:spPr>
          <a:xfrm>
            <a:off x="8549640" y="1645920"/>
            <a:ext cx="2560320" cy="2560320"/>
          </a:xfrm>
          <a:prstGeom prst="ellipse">
            <a:avLst/>
          </a:prstGeom>
          <a:solidFill>
            <a:schemeClr val="accent1">
              <a:alpha val="60000"/>
            </a:schemeClr>
          </a:solidFill>
          <a:ln w="12700">
            <a:solidFill>
              <a:schemeClr val="accent1">
                <a:alpha val="60000"/>
              </a:schemeClr>
            </a:solidFill>
            <a:prstDash val="solid"/>
          </a:ln>
        </p:spPr>
      </p:sp>
      <p:pic>
        <p:nvPicPr>
          <p:cNvPr id="7" name="pin-4" descr="지도 핀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281160" y="2103120"/>
            <a:ext cx="1097280" cy="1463040"/>
          </a:xfrm>
          <a:prstGeom prst="rect">
            <a:avLst/>
          </a:prstGeom>
        </p:spPr>
      </p:pic>
      <p:sp>
        <p:nvSpPr>
          <p:cNvPr id="8" name="chip-5"/>
          <p:cNvSpPr/>
          <p:nvPr/>
        </p:nvSpPr>
        <p:spPr>
          <a:xfrm>
            <a:off x="7726680" y="4160520"/>
            <a:ext cx="731520" cy="731520"/>
          </a:xfrm>
          <a:prstGeom prst="ellipse">
            <a:avLst/>
          </a:prstGeom>
          <a:solidFill>
            <a:srgbClr val="03C75A"/>
          </a:solidFill>
          <a:ln w="25400">
            <a:solidFill>
              <a:schemeClr val="bg1"/>
            </a:solidFill>
            <a:prstDash val="solid"/>
          </a:ln>
        </p:spPr>
      </p:sp>
      <p:sp>
        <p:nvSpPr>
          <p:cNvPr id="9" name="txt-6"/>
          <p:cNvSpPr txBox="1"/>
          <p:nvPr/>
        </p:nvSpPr>
        <p:spPr>
          <a:xfrm>
            <a:off x="7726680" y="4160520"/>
            <a:ext cx="7315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chemeClr val="bg1"/>
                </a:solidFill>
              </a:rPr>
              <a:t>N</a:t>
            </a:r>
            <a:endParaRPr lang="en-US" sz="2200" dirty="0"/>
          </a:p>
        </p:txBody>
      </p:sp>
      <p:sp>
        <p:nvSpPr>
          <p:cNvPr id="10" name="chip-7"/>
          <p:cNvSpPr/>
          <p:nvPr/>
        </p:nvSpPr>
        <p:spPr>
          <a:xfrm>
            <a:off x="9372600" y="4709160"/>
            <a:ext cx="731520" cy="731520"/>
          </a:xfrm>
          <a:prstGeom prst="ellipse">
            <a:avLst/>
          </a:prstGeom>
          <a:solidFill>
            <a:srgbClr val="F5C400"/>
          </a:solidFill>
          <a:ln w="25400">
            <a:solidFill>
              <a:schemeClr val="bg1"/>
            </a:solidFill>
            <a:prstDash val="solid"/>
          </a:ln>
        </p:spPr>
      </p:sp>
      <p:sp>
        <p:nvSpPr>
          <p:cNvPr id="11" name="txt-8"/>
          <p:cNvSpPr txBox="1"/>
          <p:nvPr/>
        </p:nvSpPr>
        <p:spPr>
          <a:xfrm>
            <a:off x="9372600" y="4709160"/>
            <a:ext cx="7315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chemeClr val="tx1"/>
                </a:solidFill>
              </a:rPr>
              <a:t>K</a:t>
            </a:r>
            <a:endParaRPr lang="en-US" sz="2200" dirty="0"/>
          </a:p>
        </p:txBody>
      </p:sp>
      <p:sp>
        <p:nvSpPr>
          <p:cNvPr id="12" name="chip-9"/>
          <p:cNvSpPr/>
          <p:nvPr/>
        </p:nvSpPr>
        <p:spPr>
          <a:xfrm>
            <a:off x="11018520" y="4160520"/>
            <a:ext cx="731520" cy="731520"/>
          </a:xfrm>
          <a:prstGeom prst="ellipse">
            <a:avLst/>
          </a:prstGeom>
          <a:solidFill>
            <a:srgbClr val="3B6EF0"/>
          </a:solidFill>
          <a:ln w="25400">
            <a:solidFill>
              <a:schemeClr val="bg1"/>
            </a:solidFill>
            <a:prstDash val="solid"/>
          </a:ln>
        </p:spPr>
      </p:sp>
      <p:sp>
        <p:nvSpPr>
          <p:cNvPr id="13" name="txt-10"/>
          <p:cNvSpPr txBox="1"/>
          <p:nvPr/>
        </p:nvSpPr>
        <p:spPr>
          <a:xfrm>
            <a:off x="11018520" y="4160520"/>
            <a:ext cx="7315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chemeClr val="bg1"/>
                </a:solidFill>
              </a:rPr>
              <a:t>T</a:t>
            </a:r>
            <a:endParaRPr lang="en-US" sz="22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body" hasCustomPrompt="1"/>
          </p:nvPr>
        </p:nvSpPr>
        <p:spPr>
          <a:xfrm>
            <a:off x="548640" y="320040"/>
            <a:ext cx="7315200" cy="320040"/>
          </a:xfrm>
          <a:prstGeom prst="rect">
            <a:avLst/>
          </a:prstGeom>
          <a:noFill/>
          <a:ln/>
        </p:spPr>
        <p:txBody>
          <a:bodyPr wrap="square" lIns="0" tIns="0" rIns="0" bIns="0" rtlCol="0"/>
          <a:lstStyle/>
          <a:p>
            <a:pPr algn="l" indent="0" marL="0">
              <a:buNone/>
            </a:pPr>
            <a:r>
              <a:rPr lang="en-US" sz="1200" b="1" dirty="0">
                <a:solidFill>
                  <a:schemeClr val="accent1"/>
                </a:solidFill>
              </a:rPr>
              <a:t>CONTENTS</a:t>
            </a:r>
            <a:endParaRPr lang="en-US" sz="1200" dirty="0"/>
          </a:p>
        </p:txBody>
      </p:sp>
      <p:sp>
        <p:nvSpPr>
          <p:cNvPr id="3" name="Text 0"/>
          <p:cNvSpPr/>
          <p:nvPr>
            <p:ph idx="101" type="title" hasCustomPrompt="1"/>
          </p:nvPr>
        </p:nvSpPr>
        <p:spPr>
          <a:xfrm>
            <a:off x="548640" y="640080"/>
            <a:ext cx="11094415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chemeClr val="tx2"/>
                </a:solidFill>
              </a:rPr>
              <a:t>목차</a:t>
            </a:r>
            <a:endParaRPr lang="en-US" sz="2800" dirty="0"/>
          </a:p>
        </p:txBody>
      </p:sp>
      <p:sp>
        <p:nvSpPr>
          <p:cNvPr id="4" name="box-11"/>
          <p:cNvSpPr/>
          <p:nvPr/>
        </p:nvSpPr>
        <p:spPr>
          <a:xfrm>
            <a:off x="548640" y="1737360"/>
            <a:ext cx="1999427" cy="3566160"/>
          </a:xfrm>
          <a:prstGeom prst="roundRect">
            <a:avLst>
              <a:gd name="adj" fmla="val 6403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5" name="txt-12"/>
          <p:cNvSpPr txBox="1"/>
          <p:nvPr/>
        </p:nvSpPr>
        <p:spPr>
          <a:xfrm>
            <a:off x="822960" y="2011680"/>
            <a:ext cx="1450787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4000" b="1" dirty="0">
                <a:solidFill>
                  <a:schemeClr val="accent1"/>
                </a:solidFill>
              </a:rPr>
              <a:t>01</a:t>
            </a:r>
            <a:endParaRPr lang="en-US" sz="4000" dirty="0"/>
          </a:p>
        </p:txBody>
      </p:sp>
      <p:sp>
        <p:nvSpPr>
          <p:cNvPr id="6" name="txt-13"/>
          <p:cNvSpPr txBox="1"/>
          <p:nvPr/>
        </p:nvSpPr>
        <p:spPr>
          <a:xfrm>
            <a:off x="822960" y="3108960"/>
            <a:ext cx="1450787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000" b="1" dirty="0">
                <a:solidFill>
                  <a:schemeClr val="tx2"/>
                </a:solidFill>
              </a:rPr>
              <a:t>지역 현황</a:t>
            </a:r>
            <a:endParaRPr lang="en-US" sz="2000" dirty="0"/>
          </a:p>
        </p:txBody>
      </p:sp>
      <p:sp>
        <p:nvSpPr>
          <p:cNvPr id="7" name="txt-14"/>
          <p:cNvSpPr txBox="1"/>
          <p:nvPr/>
        </p:nvSpPr>
        <p:spPr>
          <a:xfrm>
            <a:off x="822960" y="3657600"/>
            <a:ext cx="1450787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예산의 환자 · 지도 앱 이용</a:t>
            </a:r>
            <a:endParaRPr lang="en-US" sz="1400" dirty="0"/>
          </a:p>
        </p:txBody>
      </p:sp>
      <p:sp>
        <p:nvSpPr>
          <p:cNvPr id="8" name="box-15"/>
          <p:cNvSpPr/>
          <p:nvPr/>
        </p:nvSpPr>
        <p:spPr>
          <a:xfrm>
            <a:off x="2822387" y="1737360"/>
            <a:ext cx="1999427" cy="3566160"/>
          </a:xfrm>
          <a:prstGeom prst="roundRect">
            <a:avLst>
              <a:gd name="adj" fmla="val 6403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9" name="txt-16"/>
          <p:cNvSpPr txBox="1"/>
          <p:nvPr/>
        </p:nvSpPr>
        <p:spPr>
          <a:xfrm>
            <a:off x="3096707" y="2011680"/>
            <a:ext cx="1450787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4000" b="1" dirty="0">
                <a:solidFill>
                  <a:schemeClr val="accent1"/>
                </a:solidFill>
              </a:rPr>
              <a:t>02</a:t>
            </a:r>
            <a:endParaRPr lang="en-US" sz="4000" dirty="0"/>
          </a:p>
        </p:txBody>
      </p:sp>
      <p:sp>
        <p:nvSpPr>
          <p:cNvPr id="10" name="txt-17"/>
          <p:cNvSpPr txBox="1"/>
          <p:nvPr/>
        </p:nvSpPr>
        <p:spPr>
          <a:xfrm>
            <a:off x="3096707" y="3108960"/>
            <a:ext cx="1450787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000" b="1" dirty="0">
                <a:solidFill>
                  <a:schemeClr val="tx2"/>
                </a:solidFill>
              </a:rPr>
              <a:t>전략</a:t>
            </a:r>
            <a:endParaRPr lang="en-US" sz="2000" dirty="0"/>
          </a:p>
        </p:txBody>
      </p:sp>
      <p:sp>
        <p:nvSpPr>
          <p:cNvPr id="11" name="txt-18"/>
          <p:cNvSpPr txBox="1"/>
          <p:nvPr/>
        </p:nvSpPr>
        <p:spPr>
          <a:xfrm>
            <a:off x="3096707" y="3657600"/>
            <a:ext cx="1450787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강점 · 타깃별 메시지</a:t>
            </a:r>
            <a:endParaRPr lang="en-US" sz="1400" dirty="0"/>
          </a:p>
        </p:txBody>
      </p:sp>
      <p:sp>
        <p:nvSpPr>
          <p:cNvPr id="12" name="box-19"/>
          <p:cNvSpPr/>
          <p:nvPr/>
        </p:nvSpPr>
        <p:spPr>
          <a:xfrm>
            <a:off x="5096134" y="1737360"/>
            <a:ext cx="1999427" cy="3566160"/>
          </a:xfrm>
          <a:prstGeom prst="roundRect">
            <a:avLst>
              <a:gd name="adj" fmla="val 6403"/>
            </a:avLst>
          </a:prstGeom>
          <a:solidFill>
            <a:schemeClr val="tx2"/>
          </a:solidFill>
          <a:ln w="12700">
            <a:solidFill>
              <a:schemeClr val="tx2"/>
            </a:solidFill>
            <a:prstDash val="solid"/>
          </a:ln>
        </p:spPr>
      </p:sp>
      <p:sp>
        <p:nvSpPr>
          <p:cNvPr id="13" name="txt-20"/>
          <p:cNvSpPr txBox="1"/>
          <p:nvPr/>
        </p:nvSpPr>
        <p:spPr>
          <a:xfrm>
            <a:off x="5370454" y="2011680"/>
            <a:ext cx="1450787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4000" b="1" dirty="0">
                <a:solidFill>
                  <a:schemeClr val="accent4"/>
                </a:solidFill>
              </a:rPr>
              <a:t>03</a:t>
            </a:r>
            <a:endParaRPr lang="en-US" sz="4000" dirty="0"/>
          </a:p>
        </p:txBody>
      </p:sp>
      <p:sp>
        <p:nvSpPr>
          <p:cNvPr id="14" name="txt-21"/>
          <p:cNvSpPr txBox="1"/>
          <p:nvPr/>
        </p:nvSpPr>
        <p:spPr>
          <a:xfrm>
            <a:off x="5370454" y="3108960"/>
            <a:ext cx="1450787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000" b="1" dirty="0">
                <a:solidFill>
                  <a:schemeClr val="bg1"/>
                </a:solidFill>
              </a:rPr>
              <a:t>제안 내용</a:t>
            </a:r>
            <a:endParaRPr lang="en-US" sz="2000" dirty="0"/>
          </a:p>
        </p:txBody>
      </p:sp>
      <p:sp>
        <p:nvSpPr>
          <p:cNvPr id="15" name="txt-22"/>
          <p:cNvSpPr txBox="1"/>
          <p:nvPr/>
        </p:nvSpPr>
        <p:spPr>
          <a:xfrm>
            <a:off x="5370454" y="3657600"/>
            <a:ext cx="1450787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bg2"/>
                </a:solidFill>
              </a:rPr>
              <a:t>3대 지도 세팅 · 관리, 옵션, 확장</a:t>
            </a:r>
            <a:endParaRPr lang="en-US" sz="1400" dirty="0"/>
          </a:p>
        </p:txBody>
      </p:sp>
      <p:sp>
        <p:nvSpPr>
          <p:cNvPr id="16" name="box-23"/>
          <p:cNvSpPr/>
          <p:nvPr/>
        </p:nvSpPr>
        <p:spPr>
          <a:xfrm>
            <a:off x="7369881" y="1737360"/>
            <a:ext cx="1999427" cy="3566160"/>
          </a:xfrm>
          <a:prstGeom prst="roundRect">
            <a:avLst>
              <a:gd name="adj" fmla="val 6403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17" name="txt-24"/>
          <p:cNvSpPr txBox="1"/>
          <p:nvPr/>
        </p:nvSpPr>
        <p:spPr>
          <a:xfrm>
            <a:off x="7644201" y="2011680"/>
            <a:ext cx="1450787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4000" b="1" dirty="0">
                <a:solidFill>
                  <a:schemeClr val="accent1"/>
                </a:solidFill>
              </a:rPr>
              <a:t>04</a:t>
            </a:r>
            <a:endParaRPr lang="en-US" sz="4000" dirty="0"/>
          </a:p>
        </p:txBody>
      </p:sp>
      <p:sp>
        <p:nvSpPr>
          <p:cNvPr id="18" name="txt-25"/>
          <p:cNvSpPr txBox="1"/>
          <p:nvPr/>
        </p:nvSpPr>
        <p:spPr>
          <a:xfrm>
            <a:off x="7644201" y="3108960"/>
            <a:ext cx="1450787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000" b="1" dirty="0">
                <a:solidFill>
                  <a:schemeClr val="tx2"/>
                </a:solidFill>
              </a:rPr>
              <a:t>일정 · 비용</a:t>
            </a:r>
            <a:endParaRPr lang="en-US" sz="2000" dirty="0"/>
          </a:p>
        </p:txBody>
      </p:sp>
      <p:sp>
        <p:nvSpPr>
          <p:cNvPr id="19" name="txt-26"/>
          <p:cNvSpPr txBox="1"/>
          <p:nvPr/>
        </p:nvSpPr>
        <p:spPr>
          <a:xfrm>
            <a:off x="7644201" y="3657600"/>
            <a:ext cx="1450787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진행 일정 · 비용 · 성과 관리</a:t>
            </a:r>
            <a:endParaRPr lang="en-US" sz="1400" dirty="0"/>
          </a:p>
        </p:txBody>
      </p:sp>
      <p:sp>
        <p:nvSpPr>
          <p:cNvPr id="20" name="box-27"/>
          <p:cNvSpPr/>
          <p:nvPr/>
        </p:nvSpPr>
        <p:spPr>
          <a:xfrm>
            <a:off x="9643628" y="1737360"/>
            <a:ext cx="1999427" cy="3566160"/>
          </a:xfrm>
          <a:prstGeom prst="roundRect">
            <a:avLst>
              <a:gd name="adj" fmla="val 6403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21" name="txt-28"/>
          <p:cNvSpPr txBox="1"/>
          <p:nvPr/>
        </p:nvSpPr>
        <p:spPr>
          <a:xfrm>
            <a:off x="9917948" y="2011680"/>
            <a:ext cx="1450787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4000" b="1" dirty="0">
                <a:solidFill>
                  <a:schemeClr val="accent1"/>
                </a:solidFill>
              </a:rPr>
              <a:t>05</a:t>
            </a:r>
            <a:endParaRPr lang="en-US" sz="4000" dirty="0"/>
          </a:p>
        </p:txBody>
      </p:sp>
      <p:sp>
        <p:nvSpPr>
          <p:cNvPr id="22" name="txt-29"/>
          <p:cNvSpPr txBox="1"/>
          <p:nvPr/>
        </p:nvSpPr>
        <p:spPr>
          <a:xfrm>
            <a:off x="9917948" y="3108960"/>
            <a:ext cx="1450787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000" b="1" dirty="0">
                <a:solidFill>
                  <a:schemeClr val="tx2"/>
                </a:solidFill>
              </a:rPr>
              <a:t>진행 요청</a:t>
            </a:r>
            <a:endParaRPr lang="en-US" sz="2000" dirty="0"/>
          </a:p>
        </p:txBody>
      </p:sp>
      <p:sp>
        <p:nvSpPr>
          <p:cNvPr id="23" name="txt-30"/>
          <p:cNvSpPr txBox="1"/>
          <p:nvPr/>
        </p:nvSpPr>
        <p:spPr>
          <a:xfrm>
            <a:off x="9917948" y="3657600"/>
            <a:ext cx="1450787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병원 준비 사항</a:t>
            </a:r>
            <a:endParaRPr lang="en-US" sz="1400" dirty="0"/>
          </a:p>
        </p:txBody>
      </p:sp>
      <p:sp>
        <p:nvSpPr>
          <p:cNvPr id="24" name="txt-31"/>
          <p:cNvSpPr txBox="1"/>
          <p:nvPr/>
        </p:nvSpPr>
        <p:spPr>
          <a:xfrm>
            <a:off x="548640" y="5577840"/>
            <a:ext cx="11094415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b="1" dirty="0">
                <a:solidFill>
                  <a:schemeClr val="tx2"/>
                </a:solidFill>
              </a:rPr>
              <a:t>핵심은 03 제안 내용입니다. 3대 지도 세팅 · 관리는 무료로 제공합니다.</a:t>
            </a:r>
            <a:endParaRPr lang="en-US" sz="15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94415" y="6419088"/>
            <a:ext cx="548640" cy="256032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6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2</a:t>
            </a:fld>
            <a:endParaRPr lang="en-US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body" hasCustomPrompt="1"/>
          </p:nvPr>
        </p:nvSpPr>
        <p:spPr>
          <a:xfrm>
            <a:off x="548640" y="320040"/>
            <a:ext cx="7315200" cy="320040"/>
          </a:xfrm>
          <a:prstGeom prst="rect">
            <a:avLst/>
          </a:prstGeom>
          <a:noFill/>
          <a:ln/>
        </p:spPr>
        <p:txBody>
          <a:bodyPr wrap="square" lIns="0" tIns="0" rIns="0" bIns="0" rtlCol="0"/>
          <a:lstStyle/>
          <a:p>
            <a:pPr algn="l" indent="0" marL="0">
              <a:buNone/>
            </a:pPr>
            <a:r>
              <a:rPr lang="en-US" sz="1200" b="1" dirty="0">
                <a:solidFill>
                  <a:schemeClr val="accent1"/>
                </a:solidFill>
              </a:rPr>
              <a:t>제안 요약</a:t>
            </a:r>
            <a:endParaRPr lang="en-US" sz="1200" dirty="0"/>
          </a:p>
        </p:txBody>
      </p:sp>
      <p:sp>
        <p:nvSpPr>
          <p:cNvPr id="3" name="Text 0"/>
          <p:cNvSpPr/>
          <p:nvPr>
            <p:ph idx="101" type="title" hasCustomPrompt="1"/>
          </p:nvPr>
        </p:nvSpPr>
        <p:spPr>
          <a:xfrm>
            <a:off x="548640" y="640080"/>
            <a:ext cx="11094415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chemeClr val="tx2"/>
                </a:solidFill>
              </a:rPr>
              <a:t>환자가 병원을 찾는 지도 앱에서, 예산명지가 먼저 보이게 합니다</a:t>
            </a:r>
            <a:endParaRPr lang="en-US" sz="2800" dirty="0"/>
          </a:p>
        </p:txBody>
      </p:sp>
      <p:sp>
        <p:nvSpPr>
          <p:cNvPr id="4" name="box-32"/>
          <p:cNvSpPr/>
          <p:nvPr/>
        </p:nvSpPr>
        <p:spPr>
          <a:xfrm>
            <a:off x="548640" y="1600200"/>
            <a:ext cx="4663440" cy="4343400"/>
          </a:xfrm>
          <a:prstGeom prst="roundRect">
            <a:avLst>
              <a:gd name="adj" fmla="val 2947"/>
            </a:avLst>
          </a:prstGeom>
          <a:solidFill>
            <a:schemeClr val="tx2"/>
          </a:solidFill>
          <a:ln w="12700">
            <a:solidFill>
              <a:schemeClr val="tx2"/>
            </a:solidFill>
            <a:prstDash val="solid"/>
          </a:ln>
        </p:spPr>
      </p:sp>
      <p:sp>
        <p:nvSpPr>
          <p:cNvPr id="5" name="txt-33"/>
          <p:cNvSpPr txBox="1"/>
          <p:nvPr/>
        </p:nvSpPr>
        <p:spPr>
          <a:xfrm>
            <a:off x="960120" y="1874520"/>
            <a:ext cx="38404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b="1" dirty="0">
                <a:solidFill>
                  <a:schemeClr val="bg2"/>
                </a:solidFill>
              </a:rPr>
              <a:t>기본 서비스</a:t>
            </a:r>
            <a:endParaRPr lang="en-US" sz="1600" dirty="0"/>
          </a:p>
        </p:txBody>
      </p:sp>
      <p:sp>
        <p:nvSpPr>
          <p:cNvPr id="6" name="txt-34"/>
          <p:cNvSpPr txBox="1"/>
          <p:nvPr/>
        </p:nvSpPr>
        <p:spPr>
          <a:xfrm>
            <a:off x="960120" y="2240280"/>
            <a:ext cx="384048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7200" b="1" dirty="0">
                <a:solidFill>
                  <a:schemeClr val="bg1"/>
                </a:solidFill>
              </a:rPr>
              <a:t>0원</a:t>
            </a:r>
            <a:endParaRPr lang="en-US" sz="7200" dirty="0"/>
          </a:p>
        </p:txBody>
      </p:sp>
      <p:sp>
        <p:nvSpPr>
          <p:cNvPr id="7" name="txt-35"/>
          <p:cNvSpPr txBox="1"/>
          <p:nvPr/>
        </p:nvSpPr>
        <p:spPr>
          <a:xfrm>
            <a:off x="960120" y="3611880"/>
            <a:ext cx="384048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dirty="0">
                <a:solidFill>
                  <a:schemeClr val="bg1"/>
                </a:solidFill>
              </a:rPr>
              <a:t>네이버 플레이스 · 카카오맵 · 티맵</a:t>
            </a:r>
            <a:endParaRPr lang="en-US" sz="1600" dirty="0"/>
          </a:p>
          <a:p>
            <a:pPr indent="0" marL="0">
              <a:buNone/>
            </a:pPr>
            <a:r>
              <a:rPr lang="en-US" sz="1600" dirty="0">
                <a:solidFill>
                  <a:schemeClr val="bg1"/>
                </a:solidFill>
              </a:rPr>
              <a:t>3대 지도 세팅 및 월간 관리를 무료로 제공합니다.</a:t>
            </a:r>
            <a:endParaRPr lang="en-US" sz="1600" dirty="0"/>
          </a:p>
        </p:txBody>
      </p:sp>
      <p:sp>
        <p:nvSpPr>
          <p:cNvPr id="8" name="chip-36"/>
          <p:cNvSpPr/>
          <p:nvPr/>
        </p:nvSpPr>
        <p:spPr>
          <a:xfrm>
            <a:off x="960120" y="4937760"/>
            <a:ext cx="640080" cy="640080"/>
          </a:xfrm>
          <a:prstGeom prst="ellipse">
            <a:avLst/>
          </a:prstGeom>
          <a:solidFill>
            <a:srgbClr val="03C75A"/>
          </a:solidFill>
          <a:ln w="12700">
            <a:solidFill>
              <a:srgbClr val="03C75A"/>
            </a:solidFill>
            <a:prstDash val="solid"/>
          </a:ln>
        </p:spPr>
      </p:sp>
      <p:sp>
        <p:nvSpPr>
          <p:cNvPr id="9" name="txt-37"/>
          <p:cNvSpPr txBox="1"/>
          <p:nvPr/>
        </p:nvSpPr>
        <p:spPr>
          <a:xfrm>
            <a:off x="960120" y="4937760"/>
            <a:ext cx="640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chemeClr val="bg1"/>
                </a:solidFill>
              </a:rPr>
              <a:t>N</a:t>
            </a:r>
            <a:endParaRPr lang="en-US" sz="1800" dirty="0"/>
          </a:p>
        </p:txBody>
      </p:sp>
      <p:sp>
        <p:nvSpPr>
          <p:cNvPr id="10" name="chip-38"/>
          <p:cNvSpPr/>
          <p:nvPr/>
        </p:nvSpPr>
        <p:spPr>
          <a:xfrm>
            <a:off x="1828800" y="4937760"/>
            <a:ext cx="640080" cy="640080"/>
          </a:xfrm>
          <a:prstGeom prst="ellipse">
            <a:avLst/>
          </a:prstGeom>
          <a:solidFill>
            <a:srgbClr val="F5C400"/>
          </a:solidFill>
          <a:ln w="12700">
            <a:solidFill>
              <a:srgbClr val="F5C400"/>
            </a:solidFill>
            <a:prstDash val="solid"/>
          </a:ln>
        </p:spPr>
      </p:sp>
      <p:sp>
        <p:nvSpPr>
          <p:cNvPr id="11" name="txt-39"/>
          <p:cNvSpPr txBox="1"/>
          <p:nvPr/>
        </p:nvSpPr>
        <p:spPr>
          <a:xfrm>
            <a:off x="1828800" y="4937760"/>
            <a:ext cx="640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chemeClr val="tx1"/>
                </a:solidFill>
              </a:rPr>
              <a:t>K</a:t>
            </a:r>
            <a:endParaRPr lang="en-US" sz="1800" dirty="0"/>
          </a:p>
        </p:txBody>
      </p:sp>
      <p:sp>
        <p:nvSpPr>
          <p:cNvPr id="12" name="chip-40"/>
          <p:cNvSpPr/>
          <p:nvPr/>
        </p:nvSpPr>
        <p:spPr>
          <a:xfrm>
            <a:off x="2697480" y="4937760"/>
            <a:ext cx="640080" cy="640080"/>
          </a:xfrm>
          <a:prstGeom prst="ellipse">
            <a:avLst/>
          </a:prstGeom>
          <a:solidFill>
            <a:srgbClr val="3B6EF0"/>
          </a:solidFill>
          <a:ln w="12700">
            <a:solidFill>
              <a:srgbClr val="3B6EF0"/>
            </a:solidFill>
            <a:prstDash val="solid"/>
          </a:ln>
        </p:spPr>
      </p:sp>
      <p:sp>
        <p:nvSpPr>
          <p:cNvPr id="13" name="txt-41"/>
          <p:cNvSpPr txBox="1"/>
          <p:nvPr/>
        </p:nvSpPr>
        <p:spPr>
          <a:xfrm>
            <a:off x="2697480" y="4937760"/>
            <a:ext cx="640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chemeClr val="bg1"/>
                </a:solidFill>
              </a:rPr>
              <a:t>T</a:t>
            </a:r>
            <a:endParaRPr lang="en-US" sz="1800" dirty="0"/>
          </a:p>
        </p:txBody>
      </p:sp>
      <p:sp>
        <p:nvSpPr>
          <p:cNvPr id="14" name="ic-bg-42"/>
          <p:cNvSpPr/>
          <p:nvPr/>
        </p:nvSpPr>
        <p:spPr>
          <a:xfrm>
            <a:off x="5760720" y="1783080"/>
            <a:ext cx="777240" cy="777240"/>
          </a:xfrm>
          <a:prstGeom prst="ellipse">
            <a:avLst/>
          </a:prstGeom>
          <a:solidFill>
            <a:srgbClr val="1E8C82"/>
          </a:solidFill>
          <a:ln w="12700">
            <a:solidFill>
              <a:srgbClr val="1E8C82"/>
            </a:solidFill>
            <a:prstDash val="solid"/>
          </a:ln>
        </p:spPr>
      </p:sp>
      <p:pic>
        <p:nvPicPr>
          <p:cNvPr id="15" name="ic-43" descr="FaMapMarkerAlt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955030" y="1977390"/>
            <a:ext cx="388620" cy="388620"/>
          </a:xfrm>
          <a:prstGeom prst="rect">
            <a:avLst/>
          </a:prstGeom>
        </p:spPr>
      </p:pic>
      <p:sp>
        <p:nvSpPr>
          <p:cNvPr id="16" name="txt-44"/>
          <p:cNvSpPr txBox="1"/>
          <p:nvPr/>
        </p:nvSpPr>
        <p:spPr>
          <a:xfrm>
            <a:off x="6812280" y="1737360"/>
            <a:ext cx="4830775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900" b="1" dirty="0">
                <a:solidFill>
                  <a:schemeClr val="tx2"/>
                </a:solidFill>
              </a:rPr>
              <a:t>3대 지도 세팅</a:t>
            </a:r>
            <a:endParaRPr lang="en-US" sz="1900" dirty="0"/>
          </a:p>
        </p:txBody>
      </p:sp>
      <p:sp>
        <p:nvSpPr>
          <p:cNvPr id="17" name="txt-45"/>
          <p:cNvSpPr txBox="1"/>
          <p:nvPr/>
        </p:nvSpPr>
        <p:spPr>
          <a:xfrm>
            <a:off x="6812280" y="2194560"/>
            <a:ext cx="4830775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dirty="0">
                <a:solidFill>
                  <a:schemeClr val="tx1"/>
                </a:solidFill>
              </a:rPr>
              <a:t>진료과·진료시간·24시간 응급·위치·사진을 세 지도에 똑같이, 정확하게 정비</a:t>
            </a:r>
            <a:endParaRPr lang="en-US" sz="1500" dirty="0"/>
          </a:p>
        </p:txBody>
      </p:sp>
      <p:sp>
        <p:nvSpPr>
          <p:cNvPr id="18" name="ic-bg-46"/>
          <p:cNvSpPr/>
          <p:nvPr/>
        </p:nvSpPr>
        <p:spPr>
          <a:xfrm>
            <a:off x="5760720" y="3246120"/>
            <a:ext cx="777240" cy="777240"/>
          </a:xfrm>
          <a:prstGeom prst="ellipse">
            <a:avLst/>
          </a:prstGeom>
          <a:solidFill>
            <a:srgbClr val="1E8C82"/>
          </a:solidFill>
          <a:ln w="12700">
            <a:solidFill>
              <a:srgbClr val="1E8C82"/>
            </a:solidFill>
            <a:prstDash val="solid"/>
          </a:ln>
        </p:spPr>
      </p:sp>
      <p:pic>
        <p:nvPicPr>
          <p:cNvPr id="19" name="ic-47" descr="FaSyncAlt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955030" y="3440430"/>
            <a:ext cx="388620" cy="388620"/>
          </a:xfrm>
          <a:prstGeom prst="rect">
            <a:avLst/>
          </a:prstGeom>
        </p:spPr>
      </p:pic>
      <p:sp>
        <p:nvSpPr>
          <p:cNvPr id="20" name="txt-48"/>
          <p:cNvSpPr txBox="1"/>
          <p:nvPr/>
        </p:nvSpPr>
        <p:spPr>
          <a:xfrm>
            <a:off x="6812280" y="3200400"/>
            <a:ext cx="4830775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900" b="1" dirty="0">
                <a:solidFill>
                  <a:schemeClr val="tx2"/>
                </a:solidFill>
              </a:rPr>
              <a:t>월간 운영 관리</a:t>
            </a:r>
            <a:endParaRPr lang="en-US" sz="1900" dirty="0"/>
          </a:p>
        </p:txBody>
      </p:sp>
      <p:sp>
        <p:nvSpPr>
          <p:cNvPr id="21" name="txt-49"/>
          <p:cNvSpPr txBox="1"/>
          <p:nvPr/>
        </p:nvSpPr>
        <p:spPr>
          <a:xfrm>
            <a:off x="6812280" y="3657600"/>
            <a:ext cx="4830775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dirty="0">
                <a:solidFill>
                  <a:schemeClr val="tx1"/>
                </a:solidFill>
              </a:rPr>
              <a:t>정보 갱신, 소식 발행, 리뷰 답글, 월간 성과 리포트</a:t>
            </a:r>
            <a:endParaRPr lang="en-US" sz="1500" dirty="0"/>
          </a:p>
        </p:txBody>
      </p:sp>
      <p:sp>
        <p:nvSpPr>
          <p:cNvPr id="22" name="ic-bg-50"/>
          <p:cNvSpPr/>
          <p:nvPr/>
        </p:nvSpPr>
        <p:spPr>
          <a:xfrm>
            <a:off x="5760720" y="4709160"/>
            <a:ext cx="777240" cy="777240"/>
          </a:xfrm>
          <a:prstGeom prst="ellipse">
            <a:avLst/>
          </a:prstGeom>
          <a:solidFill>
            <a:srgbClr val="E2563B"/>
          </a:solidFill>
          <a:ln w="12700">
            <a:solidFill>
              <a:srgbClr val="E2563B"/>
            </a:solidFill>
            <a:prstDash val="solid"/>
          </a:ln>
        </p:spPr>
      </p:sp>
      <p:pic>
        <p:nvPicPr>
          <p:cNvPr id="23" name="ic-51" descr="FaStar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955030" y="4903470"/>
            <a:ext cx="388620" cy="388620"/>
          </a:xfrm>
          <a:prstGeom prst="rect">
            <a:avLst/>
          </a:prstGeom>
        </p:spPr>
      </p:pic>
      <p:sp>
        <p:nvSpPr>
          <p:cNvPr id="24" name="txt-52"/>
          <p:cNvSpPr txBox="1"/>
          <p:nvPr/>
        </p:nvSpPr>
        <p:spPr>
          <a:xfrm>
            <a:off x="6812280" y="4663440"/>
            <a:ext cx="4830775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900" b="1" dirty="0">
                <a:solidFill>
                  <a:schemeClr val="tx2"/>
                </a:solidFill>
              </a:rPr>
              <a:t>선택 옵션 · 리뷰</a:t>
            </a:r>
            <a:endParaRPr lang="en-US" sz="1900" dirty="0"/>
          </a:p>
        </p:txBody>
      </p:sp>
      <p:sp>
        <p:nvSpPr>
          <p:cNvPr id="25" name="txt-53"/>
          <p:cNvSpPr txBox="1"/>
          <p:nvPr/>
        </p:nvSpPr>
        <p:spPr>
          <a:xfrm>
            <a:off x="6812280" y="5120640"/>
            <a:ext cx="4830775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dirty="0">
                <a:solidFill>
                  <a:schemeClr val="tx1"/>
                </a:solidFill>
              </a:rPr>
              <a:t>필요 시 네이버 플레이스 영수증 리뷰 참여 활성화로 타깃 검색 강화</a:t>
            </a:r>
            <a:endParaRPr lang="en-US" sz="15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94415" y="6419088"/>
            <a:ext cx="548640" cy="256032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6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3</a:t>
            </a:fld>
            <a:endParaRPr lang="en-US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body" hasCustomPrompt="1"/>
          </p:nvPr>
        </p:nvSpPr>
        <p:spPr>
          <a:xfrm>
            <a:off x="548640" y="320040"/>
            <a:ext cx="7315200" cy="320040"/>
          </a:xfrm>
          <a:prstGeom prst="rect">
            <a:avLst/>
          </a:prstGeom>
          <a:noFill/>
          <a:ln/>
        </p:spPr>
        <p:txBody>
          <a:bodyPr wrap="square" lIns="0" tIns="0" rIns="0" bIns="0" rtlCol="0"/>
          <a:lstStyle/>
          <a:p>
            <a:pPr algn="l" indent="0" marL="0">
              <a:buNone/>
            </a:pPr>
            <a:r>
              <a:rPr lang="en-US" sz="1200" b="1" dirty="0">
                <a:solidFill>
                  <a:schemeClr val="accent1"/>
                </a:solidFill>
              </a:rPr>
              <a:t>01  지역 현황</a:t>
            </a:r>
            <a:endParaRPr lang="en-US" sz="1200" dirty="0"/>
          </a:p>
        </p:txBody>
      </p:sp>
      <p:sp>
        <p:nvSpPr>
          <p:cNvPr id="3" name="Text 0"/>
          <p:cNvSpPr/>
          <p:nvPr>
            <p:ph idx="101" type="title" hasCustomPrompt="1"/>
          </p:nvPr>
        </p:nvSpPr>
        <p:spPr>
          <a:xfrm>
            <a:off x="548640" y="640080"/>
            <a:ext cx="11094415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chemeClr val="tx2"/>
                </a:solidFill>
              </a:rPr>
              <a:t>예산에서는 주민 · 근로자 · 관광객 세 집단이 병원을 찾습니다</a:t>
            </a:r>
            <a:endParaRPr lang="en-US" sz="2800" dirty="0"/>
          </a:p>
        </p:txBody>
      </p:sp>
      <p:sp>
        <p:nvSpPr>
          <p:cNvPr id="4" name="box-54"/>
          <p:cNvSpPr/>
          <p:nvPr/>
        </p:nvSpPr>
        <p:spPr>
          <a:xfrm>
            <a:off x="548640" y="1645920"/>
            <a:ext cx="2567864" cy="3383280"/>
          </a:xfrm>
          <a:prstGeom prst="roundRect">
            <a:avLst>
              <a:gd name="adj" fmla="val 4985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5" name="ic-bg-55"/>
          <p:cNvSpPr/>
          <p:nvPr/>
        </p:nvSpPr>
        <p:spPr>
          <a:xfrm>
            <a:off x="868680" y="1920240"/>
            <a:ext cx="685800" cy="685800"/>
          </a:xfrm>
          <a:prstGeom prst="ellipse">
            <a:avLst/>
          </a:prstGeom>
          <a:solidFill>
            <a:srgbClr val="1E8C82"/>
          </a:solidFill>
          <a:ln w="12700">
            <a:solidFill>
              <a:srgbClr val="1E8C82"/>
            </a:solidFill>
            <a:prstDash val="solid"/>
          </a:ln>
        </p:spPr>
      </p:sp>
      <p:pic>
        <p:nvPicPr>
          <p:cNvPr id="6" name="ic-56" descr="FaHome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40130" y="2091690"/>
            <a:ext cx="342900" cy="342900"/>
          </a:xfrm>
          <a:prstGeom prst="rect">
            <a:avLst/>
          </a:prstGeom>
        </p:spPr>
      </p:pic>
      <p:sp>
        <p:nvSpPr>
          <p:cNvPr id="7" name="txt-57"/>
          <p:cNvSpPr txBox="1"/>
          <p:nvPr/>
        </p:nvSpPr>
        <p:spPr>
          <a:xfrm>
            <a:off x="868680" y="2788920"/>
            <a:ext cx="2019224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000" b="1" dirty="0">
                <a:solidFill>
                  <a:schemeClr val="tx2"/>
                </a:solidFill>
              </a:rPr>
              <a:t>78,318명</a:t>
            </a:r>
            <a:endParaRPr lang="en-US" sz="3000" dirty="0"/>
          </a:p>
        </p:txBody>
      </p:sp>
      <p:sp>
        <p:nvSpPr>
          <p:cNvPr id="8" name="txt-58"/>
          <p:cNvSpPr txBox="1"/>
          <p:nvPr/>
        </p:nvSpPr>
        <p:spPr>
          <a:xfrm>
            <a:off x="868680" y="3520440"/>
            <a:ext cx="201922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b="1" dirty="0">
                <a:solidFill>
                  <a:schemeClr val="accent1"/>
                </a:solidFill>
              </a:rPr>
              <a:t>예산군 인구</a:t>
            </a:r>
            <a:endParaRPr lang="en-US" sz="1500" dirty="0"/>
          </a:p>
        </p:txBody>
      </p:sp>
      <p:sp>
        <p:nvSpPr>
          <p:cNvPr id="9" name="txt-59"/>
          <p:cNvSpPr txBox="1"/>
          <p:nvPr/>
        </p:nvSpPr>
        <p:spPr>
          <a:xfrm>
            <a:off x="868680" y="3931920"/>
            <a:ext cx="2019224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65세 이상 36.7% (2026.6)</a:t>
            </a:r>
            <a:endParaRPr lang="en-US" sz="1400" dirty="0"/>
          </a:p>
        </p:txBody>
      </p:sp>
      <p:sp>
        <p:nvSpPr>
          <p:cNvPr id="10" name="box-60"/>
          <p:cNvSpPr/>
          <p:nvPr/>
        </p:nvSpPr>
        <p:spPr>
          <a:xfrm>
            <a:off x="3390824" y="1645920"/>
            <a:ext cx="2567864" cy="3383280"/>
          </a:xfrm>
          <a:prstGeom prst="roundRect">
            <a:avLst>
              <a:gd name="adj" fmla="val 4985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11" name="ic-bg-61"/>
          <p:cNvSpPr/>
          <p:nvPr/>
        </p:nvSpPr>
        <p:spPr>
          <a:xfrm>
            <a:off x="3710864" y="1920240"/>
            <a:ext cx="685800" cy="685800"/>
          </a:xfrm>
          <a:prstGeom prst="ellipse">
            <a:avLst/>
          </a:prstGeom>
          <a:solidFill>
            <a:srgbClr val="E2563B"/>
          </a:solidFill>
          <a:ln w="12700">
            <a:solidFill>
              <a:srgbClr val="E2563B"/>
            </a:solidFill>
            <a:prstDash val="solid"/>
          </a:ln>
        </p:spPr>
      </p:sp>
      <p:pic>
        <p:nvPicPr>
          <p:cNvPr id="12" name="ic-62" descr="FaIndustry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882314" y="2091690"/>
            <a:ext cx="342900" cy="342900"/>
          </a:xfrm>
          <a:prstGeom prst="rect">
            <a:avLst/>
          </a:prstGeom>
        </p:spPr>
      </p:pic>
      <p:sp>
        <p:nvSpPr>
          <p:cNvPr id="13" name="txt-63"/>
          <p:cNvSpPr txBox="1"/>
          <p:nvPr/>
        </p:nvSpPr>
        <p:spPr>
          <a:xfrm>
            <a:off x="3710864" y="2788920"/>
            <a:ext cx="2019224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000" b="1" dirty="0">
                <a:solidFill>
                  <a:schemeClr val="tx2"/>
                </a:solidFill>
              </a:rPr>
              <a:t>81개 기업</a:t>
            </a:r>
            <a:endParaRPr lang="en-US" sz="3000" dirty="0"/>
          </a:p>
        </p:txBody>
      </p:sp>
      <p:sp>
        <p:nvSpPr>
          <p:cNvPr id="14" name="txt-64"/>
          <p:cNvSpPr txBox="1"/>
          <p:nvPr/>
        </p:nvSpPr>
        <p:spPr>
          <a:xfrm>
            <a:off x="3710864" y="3520440"/>
            <a:ext cx="201922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b="1" dirty="0">
                <a:solidFill>
                  <a:schemeClr val="accent1"/>
                </a:solidFill>
              </a:rPr>
              <a:t>민선8기 유치 기업</a:t>
            </a:r>
            <a:endParaRPr lang="en-US" sz="1500" dirty="0"/>
          </a:p>
        </p:txBody>
      </p:sp>
      <p:sp>
        <p:nvSpPr>
          <p:cNvPr id="15" name="txt-65"/>
          <p:cNvSpPr txBox="1"/>
          <p:nvPr/>
        </p:nvSpPr>
        <p:spPr>
          <a:xfrm>
            <a:off x="3710864" y="3931920"/>
            <a:ext cx="2019224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일자리 1,489개, 산업단지 4곳 조성·확장</a:t>
            </a:r>
            <a:endParaRPr lang="en-US" sz="1400" dirty="0"/>
          </a:p>
        </p:txBody>
      </p:sp>
      <p:sp>
        <p:nvSpPr>
          <p:cNvPr id="16" name="box-66"/>
          <p:cNvSpPr/>
          <p:nvPr/>
        </p:nvSpPr>
        <p:spPr>
          <a:xfrm>
            <a:off x="6233008" y="1645920"/>
            <a:ext cx="2567864" cy="3383280"/>
          </a:xfrm>
          <a:prstGeom prst="roundRect">
            <a:avLst>
              <a:gd name="adj" fmla="val 4985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17" name="ic-bg-67"/>
          <p:cNvSpPr/>
          <p:nvPr/>
        </p:nvSpPr>
        <p:spPr>
          <a:xfrm>
            <a:off x="6553048" y="1920240"/>
            <a:ext cx="685800" cy="685800"/>
          </a:xfrm>
          <a:prstGeom prst="ellipse">
            <a:avLst/>
          </a:prstGeom>
          <a:solidFill>
            <a:srgbClr val="3B6EF0"/>
          </a:solidFill>
          <a:ln w="12700">
            <a:solidFill>
              <a:srgbClr val="3B6EF0"/>
            </a:solidFill>
            <a:prstDash val="solid"/>
          </a:ln>
        </p:spPr>
      </p:sp>
      <p:pic>
        <p:nvPicPr>
          <p:cNvPr id="18" name="ic-68" descr="FaCar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724498" y="2091690"/>
            <a:ext cx="342900" cy="342900"/>
          </a:xfrm>
          <a:prstGeom prst="rect">
            <a:avLst/>
          </a:prstGeom>
        </p:spPr>
      </p:pic>
      <p:sp>
        <p:nvSpPr>
          <p:cNvPr id="19" name="txt-69"/>
          <p:cNvSpPr txBox="1"/>
          <p:nvPr/>
        </p:nvSpPr>
        <p:spPr>
          <a:xfrm>
            <a:off x="6553048" y="2788920"/>
            <a:ext cx="2019224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000" b="1" dirty="0">
                <a:solidFill>
                  <a:schemeClr val="tx2"/>
                </a:solidFill>
              </a:rPr>
              <a:t>1,000만 명</a:t>
            </a:r>
            <a:endParaRPr lang="en-US" sz="3000" dirty="0"/>
          </a:p>
        </p:txBody>
      </p:sp>
      <p:sp>
        <p:nvSpPr>
          <p:cNvPr id="20" name="txt-70"/>
          <p:cNvSpPr txBox="1"/>
          <p:nvPr/>
        </p:nvSpPr>
        <p:spPr>
          <a:xfrm>
            <a:off x="6553048" y="3520440"/>
            <a:ext cx="201922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b="1" dirty="0">
                <a:solidFill>
                  <a:schemeClr val="accent1"/>
                </a:solidFill>
              </a:rPr>
              <a:t>예당호 출렁다리 누적</a:t>
            </a:r>
            <a:endParaRPr lang="en-US" sz="1500" dirty="0"/>
          </a:p>
        </p:txBody>
      </p:sp>
      <p:sp>
        <p:nvSpPr>
          <p:cNvPr id="21" name="txt-71"/>
          <p:cNvSpPr txBox="1"/>
          <p:nvPr/>
        </p:nvSpPr>
        <p:spPr>
          <a:xfrm>
            <a:off x="6553048" y="3931920"/>
            <a:ext cx="2019224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2026.6 돌파, 연 100만–200만 명</a:t>
            </a:r>
            <a:endParaRPr lang="en-US" sz="1400" dirty="0"/>
          </a:p>
        </p:txBody>
      </p:sp>
      <p:sp>
        <p:nvSpPr>
          <p:cNvPr id="22" name="box-72"/>
          <p:cNvSpPr/>
          <p:nvPr/>
        </p:nvSpPr>
        <p:spPr>
          <a:xfrm>
            <a:off x="9075191" y="1645920"/>
            <a:ext cx="2567864" cy="3383280"/>
          </a:xfrm>
          <a:prstGeom prst="roundRect">
            <a:avLst>
              <a:gd name="adj" fmla="val 4985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23" name="ic-bg-73"/>
          <p:cNvSpPr/>
          <p:nvPr/>
        </p:nvSpPr>
        <p:spPr>
          <a:xfrm>
            <a:off x="9395231" y="1920240"/>
            <a:ext cx="685800" cy="685800"/>
          </a:xfrm>
          <a:prstGeom prst="ellipse">
            <a:avLst/>
          </a:prstGeom>
          <a:solidFill>
            <a:srgbClr val="1E8C82"/>
          </a:solidFill>
          <a:ln w="12700">
            <a:solidFill>
              <a:srgbClr val="1E8C82"/>
            </a:solidFill>
            <a:prstDash val="solid"/>
          </a:ln>
        </p:spPr>
      </p:sp>
      <p:pic>
        <p:nvPicPr>
          <p:cNvPr id="24" name="ic-74" descr="FaUsers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566681" y="2091690"/>
            <a:ext cx="342900" cy="342900"/>
          </a:xfrm>
          <a:prstGeom prst="rect">
            <a:avLst/>
          </a:prstGeom>
        </p:spPr>
      </p:pic>
      <p:sp>
        <p:nvSpPr>
          <p:cNvPr id="25" name="txt-75"/>
          <p:cNvSpPr txBox="1"/>
          <p:nvPr/>
        </p:nvSpPr>
        <p:spPr>
          <a:xfrm>
            <a:off x="9395231" y="2788920"/>
            <a:ext cx="2019224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000" b="1" dirty="0">
                <a:solidFill>
                  <a:schemeClr val="tx2"/>
                </a:solidFill>
              </a:rPr>
              <a:t>600만 명</a:t>
            </a:r>
            <a:endParaRPr lang="en-US" sz="3000" dirty="0"/>
          </a:p>
        </p:txBody>
      </p:sp>
      <p:sp>
        <p:nvSpPr>
          <p:cNvPr id="26" name="txt-76"/>
          <p:cNvSpPr txBox="1"/>
          <p:nvPr/>
        </p:nvSpPr>
        <p:spPr>
          <a:xfrm>
            <a:off x="9395231" y="3520440"/>
            <a:ext cx="201922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b="1" dirty="0">
                <a:solidFill>
                  <a:schemeClr val="accent1"/>
                </a:solidFill>
              </a:rPr>
              <a:t>예산시장 방문객</a:t>
            </a:r>
            <a:endParaRPr lang="en-US" sz="1500" dirty="0"/>
          </a:p>
        </p:txBody>
      </p:sp>
      <p:sp>
        <p:nvSpPr>
          <p:cNvPr id="27" name="txt-77"/>
          <p:cNvSpPr txBox="1"/>
          <p:nvPr/>
        </p:nvSpPr>
        <p:spPr>
          <a:xfrm>
            <a:off x="9395231" y="3931920"/>
            <a:ext cx="2019224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2023.1 재개장 후 2024.6까지</a:t>
            </a:r>
            <a:endParaRPr lang="en-US" sz="1400" dirty="0"/>
          </a:p>
        </p:txBody>
      </p:sp>
      <p:sp>
        <p:nvSpPr>
          <p:cNvPr id="28" name="txt-78"/>
          <p:cNvSpPr txBox="1"/>
          <p:nvPr/>
        </p:nvSpPr>
        <p:spPr>
          <a:xfrm>
            <a:off x="548640" y="5257800"/>
            <a:ext cx="11094415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dirty="0">
                <a:solidFill>
                  <a:schemeClr val="tx2"/>
                </a:solidFill>
              </a:rPr>
              <a:t>세 집단 모두 처음 찾는 병원은 스마트폰 지도 앱에서 고릅니다. 지역 밖에서 오는 근로자·관광객일수록 지도 정보가 곧 병원의 첫인상입니다.</a:t>
            </a:r>
            <a:endParaRPr lang="en-US" sz="1600" dirty="0"/>
          </a:p>
        </p:txBody>
      </p:sp>
      <p:sp>
        <p:nvSpPr>
          <p:cNvPr id="29" name="txt-79"/>
          <p:cNvSpPr txBox="1"/>
          <p:nvPr/>
        </p:nvSpPr>
        <p:spPr>
          <a:xfrm>
            <a:off x="548640" y="6053328"/>
            <a:ext cx="11094415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dirty="0">
                <a:solidFill>
                  <a:schemeClr val="accent6"/>
                </a:solidFill>
              </a:rPr>
              <a:t>출처: 행정안전부 주민등록 인구통계(k-calc 집계), 예산군 발표(뉴스프리존 2026.7 / 2026.6), 서울신문(2025.4)</a:t>
            </a:r>
            <a:endParaRPr lang="en-US" sz="10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94415" y="6419088"/>
            <a:ext cx="548640" cy="256032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6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4</a:t>
            </a:fld>
            <a:endParaRPr lang="en-US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body" hasCustomPrompt="1"/>
          </p:nvPr>
        </p:nvSpPr>
        <p:spPr>
          <a:xfrm>
            <a:off x="548640" y="320040"/>
            <a:ext cx="7315200" cy="320040"/>
          </a:xfrm>
          <a:prstGeom prst="rect">
            <a:avLst/>
          </a:prstGeom>
          <a:noFill/>
          <a:ln/>
        </p:spPr>
        <p:txBody>
          <a:bodyPr wrap="square" lIns="0" tIns="0" rIns="0" bIns="0" rtlCol="0"/>
          <a:lstStyle/>
          <a:p>
            <a:pPr algn="l" indent="0" marL="0">
              <a:buNone/>
            </a:pPr>
            <a:r>
              <a:rPr lang="en-US" sz="1200" b="1" dirty="0">
                <a:solidFill>
                  <a:schemeClr val="accent1"/>
                </a:solidFill>
              </a:rPr>
              <a:t>01  지도 앱 이용</a:t>
            </a:r>
            <a:endParaRPr lang="en-US" sz="1200" dirty="0"/>
          </a:p>
        </p:txBody>
      </p:sp>
      <p:sp>
        <p:nvSpPr>
          <p:cNvPr id="3" name="Text 0"/>
          <p:cNvSpPr/>
          <p:nvPr>
            <p:ph idx="101" type="title" hasCustomPrompt="1"/>
          </p:nvPr>
        </p:nvSpPr>
        <p:spPr>
          <a:xfrm>
            <a:off x="548640" y="640080"/>
            <a:ext cx="11094415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chemeClr val="tx2"/>
                </a:solidFill>
              </a:rPr>
              <a:t>지도 앱 이용은 네이버 · 티맵 · 카카오맵 세 곳에 모여 있습니다</a:t>
            </a:r>
            <a:endParaRPr lang="en-US" sz="2800" dirty="0"/>
          </a:p>
        </p:txBody>
      </p:sp>
      <p:sp>
        <p:nvSpPr>
          <p:cNvPr id="4" name="box-80"/>
          <p:cNvSpPr/>
          <p:nvPr/>
        </p:nvSpPr>
        <p:spPr>
          <a:xfrm>
            <a:off x="548640" y="1554480"/>
            <a:ext cx="6400800" cy="4343400"/>
          </a:xfrm>
          <a:prstGeom prst="roundRect">
            <a:avLst>
              <a:gd name="adj" fmla="val 2947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graphicFrame>
        <p:nvGraphicFramePr>
          <p:cNvPr id="5" name="chart-81" descr=""/>
          <p:cNvGraphicFramePr/>
          <p:nvPr/>
        </p:nvGraphicFramePr>
        <p:xfrm>
          <a:off x="731520" y="1691640"/>
          <a:ext cx="6035040" cy="406908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6" name="chip-82"/>
          <p:cNvSpPr/>
          <p:nvPr/>
        </p:nvSpPr>
        <p:spPr>
          <a:xfrm>
            <a:off x="7269480" y="1645920"/>
            <a:ext cx="548640" cy="548640"/>
          </a:xfrm>
          <a:prstGeom prst="ellipse">
            <a:avLst/>
          </a:prstGeom>
          <a:solidFill>
            <a:srgbClr val="03C75A"/>
          </a:solidFill>
          <a:ln w="12700">
            <a:solidFill>
              <a:srgbClr val="03C75A"/>
            </a:solidFill>
            <a:prstDash val="solid"/>
          </a:ln>
        </p:spPr>
      </p:sp>
      <p:sp>
        <p:nvSpPr>
          <p:cNvPr id="7" name="txt-83"/>
          <p:cNvSpPr txBox="1"/>
          <p:nvPr/>
        </p:nvSpPr>
        <p:spPr>
          <a:xfrm>
            <a:off x="7269480" y="1645920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chemeClr val="bg1"/>
                </a:solidFill>
              </a:rPr>
              <a:t>N</a:t>
            </a:r>
            <a:endParaRPr lang="en-US" sz="1500" dirty="0"/>
          </a:p>
        </p:txBody>
      </p:sp>
      <p:sp>
        <p:nvSpPr>
          <p:cNvPr id="8" name="txt-84"/>
          <p:cNvSpPr txBox="1"/>
          <p:nvPr/>
        </p:nvSpPr>
        <p:spPr>
          <a:xfrm>
            <a:off x="8001000" y="1691640"/>
            <a:ext cx="35661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b="1" dirty="0">
                <a:solidFill>
                  <a:schemeClr val="tx2"/>
                </a:solidFill>
              </a:rPr>
              <a:t>네이버 플레이스</a:t>
            </a:r>
            <a:endParaRPr lang="en-US" sz="1800" dirty="0"/>
          </a:p>
        </p:txBody>
      </p:sp>
      <p:sp>
        <p:nvSpPr>
          <p:cNvPr id="9" name="txt-85"/>
          <p:cNvSpPr txBox="1"/>
          <p:nvPr/>
        </p:nvSpPr>
        <p:spPr>
          <a:xfrm>
            <a:off x="8001000" y="2148840"/>
            <a:ext cx="35661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검색과 지도가 한 화면. 주민·근로자·검진 담당자의 기본 채널</a:t>
            </a:r>
            <a:endParaRPr lang="en-US" sz="1400" dirty="0"/>
          </a:p>
        </p:txBody>
      </p:sp>
      <p:sp>
        <p:nvSpPr>
          <p:cNvPr id="10" name="chip-86"/>
          <p:cNvSpPr/>
          <p:nvPr/>
        </p:nvSpPr>
        <p:spPr>
          <a:xfrm>
            <a:off x="7269480" y="3063240"/>
            <a:ext cx="548640" cy="548640"/>
          </a:xfrm>
          <a:prstGeom prst="ellipse">
            <a:avLst/>
          </a:prstGeom>
          <a:solidFill>
            <a:srgbClr val="3B6EF0"/>
          </a:solidFill>
          <a:ln w="12700">
            <a:solidFill>
              <a:srgbClr val="3B6EF0"/>
            </a:solidFill>
            <a:prstDash val="solid"/>
          </a:ln>
        </p:spPr>
      </p:sp>
      <p:sp>
        <p:nvSpPr>
          <p:cNvPr id="11" name="txt-87"/>
          <p:cNvSpPr txBox="1"/>
          <p:nvPr/>
        </p:nvSpPr>
        <p:spPr>
          <a:xfrm>
            <a:off x="7269480" y="3063240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chemeClr val="bg1"/>
                </a:solidFill>
              </a:rPr>
              <a:t>T</a:t>
            </a:r>
            <a:endParaRPr lang="en-US" sz="1500" dirty="0"/>
          </a:p>
        </p:txBody>
      </p:sp>
      <p:sp>
        <p:nvSpPr>
          <p:cNvPr id="12" name="txt-88"/>
          <p:cNvSpPr txBox="1"/>
          <p:nvPr/>
        </p:nvSpPr>
        <p:spPr>
          <a:xfrm>
            <a:off x="8001000" y="3108960"/>
            <a:ext cx="35661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b="1" dirty="0">
                <a:solidFill>
                  <a:schemeClr val="tx2"/>
                </a:solidFill>
              </a:rPr>
              <a:t>티맵</a:t>
            </a:r>
            <a:endParaRPr lang="en-US" sz="1800" dirty="0"/>
          </a:p>
        </p:txBody>
      </p:sp>
      <p:sp>
        <p:nvSpPr>
          <p:cNvPr id="13" name="txt-89"/>
          <p:cNvSpPr txBox="1"/>
          <p:nvPr/>
        </p:nvSpPr>
        <p:spPr>
          <a:xfrm>
            <a:off x="8001000" y="3566160"/>
            <a:ext cx="35661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운전자 중심. 차로 오는 관광객·타지역 환자가 목적지를 찍는 곳</a:t>
            </a:r>
            <a:endParaRPr lang="en-US" sz="1400" dirty="0"/>
          </a:p>
        </p:txBody>
      </p:sp>
      <p:sp>
        <p:nvSpPr>
          <p:cNvPr id="14" name="chip-90"/>
          <p:cNvSpPr/>
          <p:nvPr/>
        </p:nvSpPr>
        <p:spPr>
          <a:xfrm>
            <a:off x="7269480" y="4480560"/>
            <a:ext cx="548640" cy="548640"/>
          </a:xfrm>
          <a:prstGeom prst="ellipse">
            <a:avLst/>
          </a:prstGeom>
          <a:solidFill>
            <a:srgbClr val="F5C400"/>
          </a:solidFill>
          <a:ln w="12700">
            <a:solidFill>
              <a:srgbClr val="F5C400"/>
            </a:solidFill>
            <a:prstDash val="solid"/>
          </a:ln>
        </p:spPr>
      </p:sp>
      <p:sp>
        <p:nvSpPr>
          <p:cNvPr id="15" name="txt-91"/>
          <p:cNvSpPr txBox="1"/>
          <p:nvPr/>
        </p:nvSpPr>
        <p:spPr>
          <a:xfrm>
            <a:off x="7269480" y="4480560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chemeClr val="tx1"/>
                </a:solidFill>
              </a:rPr>
              <a:t>K</a:t>
            </a:r>
            <a:endParaRPr lang="en-US" sz="1500" dirty="0"/>
          </a:p>
        </p:txBody>
      </p:sp>
      <p:sp>
        <p:nvSpPr>
          <p:cNvPr id="16" name="txt-92"/>
          <p:cNvSpPr txBox="1"/>
          <p:nvPr/>
        </p:nvSpPr>
        <p:spPr>
          <a:xfrm>
            <a:off x="8001000" y="4526280"/>
            <a:ext cx="35661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b="1" dirty="0">
                <a:solidFill>
                  <a:schemeClr val="tx2"/>
                </a:solidFill>
              </a:rPr>
              <a:t>카카오맵</a:t>
            </a:r>
            <a:endParaRPr lang="en-US" sz="1800" dirty="0"/>
          </a:p>
        </p:txBody>
      </p:sp>
      <p:sp>
        <p:nvSpPr>
          <p:cNvPr id="17" name="txt-93"/>
          <p:cNvSpPr txBox="1"/>
          <p:nvPr/>
        </p:nvSpPr>
        <p:spPr>
          <a:xfrm>
            <a:off x="8001000" y="4983480"/>
            <a:ext cx="35661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카카오톡과 연결. 내포신도시 젊은 가구, 카톡 채널 상담</a:t>
            </a:r>
            <a:endParaRPr lang="en-US" sz="1400" dirty="0"/>
          </a:p>
        </p:txBody>
      </p:sp>
      <p:sp>
        <p:nvSpPr>
          <p:cNvPr id="18" name="txt-94"/>
          <p:cNvSpPr txBox="1"/>
          <p:nvPr/>
        </p:nvSpPr>
        <p:spPr>
          <a:xfrm>
            <a:off x="548640" y="6053328"/>
            <a:ext cx="11094415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dirty="0">
                <a:solidFill>
                  <a:schemeClr val="accent6"/>
                </a:solidFill>
              </a:rPr>
              <a:t>출처: 모바일인덱스(포인트데일리 2025.7). 월간 사용자 네이버지도 2,880만·카카오맵 1,256만(모바일인덱스, 전자신문 2026.2)</a:t>
            </a:r>
            <a:endParaRPr lang="en-US" sz="10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94415" y="6419088"/>
            <a:ext cx="548640" cy="256032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6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5</a:t>
            </a:fld>
            <a:endParaRPr lang="en-US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body" hasCustomPrompt="1"/>
          </p:nvPr>
        </p:nvSpPr>
        <p:spPr>
          <a:xfrm>
            <a:off x="548640" y="320040"/>
            <a:ext cx="7315200" cy="320040"/>
          </a:xfrm>
          <a:prstGeom prst="rect">
            <a:avLst/>
          </a:prstGeom>
          <a:noFill/>
          <a:ln/>
        </p:spPr>
        <p:txBody>
          <a:bodyPr wrap="square" lIns="0" tIns="0" rIns="0" bIns="0" rtlCol="0"/>
          <a:lstStyle/>
          <a:p>
            <a:pPr algn="l" indent="0" marL="0">
              <a:buNone/>
            </a:pPr>
            <a:r>
              <a:rPr lang="en-US" sz="1200" b="1" dirty="0">
                <a:solidFill>
                  <a:schemeClr val="accent1"/>
                </a:solidFill>
              </a:rPr>
              <a:t>02  예산명지의 강점</a:t>
            </a:r>
            <a:endParaRPr lang="en-US" sz="1200" dirty="0"/>
          </a:p>
        </p:txBody>
      </p:sp>
      <p:sp>
        <p:nvSpPr>
          <p:cNvPr id="3" name="Text 0"/>
          <p:cNvSpPr/>
          <p:nvPr>
            <p:ph idx="101" type="title" hasCustomPrompt="1"/>
          </p:nvPr>
        </p:nvSpPr>
        <p:spPr>
          <a:xfrm>
            <a:off x="548640" y="640080"/>
            <a:ext cx="11094415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chemeClr val="tx2"/>
                </a:solidFill>
              </a:rPr>
              <a:t>지도에 보여줘야 할 강점은 세 가지입니다</a:t>
            </a:r>
            <a:endParaRPr lang="en-US" sz="2800" dirty="0"/>
          </a:p>
        </p:txBody>
      </p:sp>
      <p:sp>
        <p:nvSpPr>
          <p:cNvPr id="4" name="box-95"/>
          <p:cNvSpPr/>
          <p:nvPr/>
        </p:nvSpPr>
        <p:spPr>
          <a:xfrm>
            <a:off x="548640" y="1645920"/>
            <a:ext cx="3454298" cy="4114800"/>
          </a:xfrm>
          <a:prstGeom prst="roundRect">
            <a:avLst>
              <a:gd name="adj" fmla="val 3706"/>
            </a:avLst>
          </a:prstGeom>
          <a:solidFill>
            <a:schemeClr val="bg1"/>
          </a:solidFill>
          <a:ln w="12700">
            <a:solidFill>
              <a:schemeClr val="bg1"/>
            </a:solidFill>
            <a:prstDash val="solid"/>
          </a:ln>
          <a:effectLst>
            <a:outerShdw sx="100000" sy="100000" kx="0" ky="0" algn="bl" rotWithShape="0" blurRad="101600" dist="25400" dir="5400000">
              <a:srgbClr val="0F3B40">
                <a:alpha val="12000"/>
              </a:srgbClr>
            </a:outerShdw>
          </a:effectLst>
        </p:spPr>
      </p:sp>
      <p:sp>
        <p:nvSpPr>
          <p:cNvPr id="5" name="ic-bg-96"/>
          <p:cNvSpPr/>
          <p:nvPr/>
        </p:nvSpPr>
        <p:spPr>
          <a:xfrm>
            <a:off x="1727149" y="2011680"/>
            <a:ext cx="1097280" cy="1097280"/>
          </a:xfrm>
          <a:prstGeom prst="ellipse">
            <a:avLst/>
          </a:prstGeom>
          <a:solidFill>
            <a:srgbClr val="1E8C82"/>
          </a:solidFill>
          <a:ln w="12700">
            <a:solidFill>
              <a:srgbClr val="1E8C82"/>
            </a:solidFill>
            <a:prstDash val="solid"/>
          </a:ln>
        </p:spPr>
      </p:sp>
      <p:pic>
        <p:nvPicPr>
          <p:cNvPr id="6" name="ic-97" descr="FaUserMd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2001469" y="2286000"/>
            <a:ext cx="548640" cy="548640"/>
          </a:xfrm>
          <a:prstGeom prst="rect">
            <a:avLst/>
          </a:prstGeom>
        </p:spPr>
      </p:pic>
      <p:sp>
        <p:nvSpPr>
          <p:cNvPr id="7" name="txt-98"/>
          <p:cNvSpPr txBox="1"/>
          <p:nvPr/>
        </p:nvSpPr>
        <p:spPr>
          <a:xfrm>
            <a:off x="822960" y="3337560"/>
            <a:ext cx="2905658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2100" b="1" dirty="0">
                <a:solidFill>
                  <a:schemeClr val="tx2"/>
                </a:solidFill>
              </a:rPr>
              <a:t>직업환경의학과</a:t>
            </a:r>
            <a:endParaRPr lang="en-US" sz="2100" dirty="0"/>
          </a:p>
        </p:txBody>
      </p:sp>
      <p:sp>
        <p:nvSpPr>
          <p:cNvPr id="8" name="txt-99"/>
          <p:cNvSpPr txBox="1"/>
          <p:nvPr/>
        </p:nvSpPr>
        <p:spPr>
          <a:xfrm>
            <a:off x="914400" y="3977640"/>
            <a:ext cx="2722778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dirty="0">
                <a:solidFill>
                  <a:schemeClr val="tx1"/>
                </a:solidFill>
              </a:rPr>
              <a:t>근로자 검진·진료·재활. 산업단지 기업과 근로자에게 가장 분명한 차별점</a:t>
            </a:r>
            <a:endParaRPr lang="en-US" sz="1500" dirty="0"/>
          </a:p>
        </p:txBody>
      </p:sp>
      <p:sp>
        <p:nvSpPr>
          <p:cNvPr id="9" name="box-100"/>
          <p:cNvSpPr/>
          <p:nvPr/>
        </p:nvSpPr>
        <p:spPr>
          <a:xfrm>
            <a:off x="4368698" y="1645920"/>
            <a:ext cx="3454298" cy="4114800"/>
          </a:xfrm>
          <a:prstGeom prst="roundRect">
            <a:avLst>
              <a:gd name="adj" fmla="val 3706"/>
            </a:avLst>
          </a:prstGeom>
          <a:solidFill>
            <a:schemeClr val="bg1"/>
          </a:solidFill>
          <a:ln w="12700">
            <a:solidFill>
              <a:schemeClr val="bg1"/>
            </a:solidFill>
            <a:prstDash val="solid"/>
          </a:ln>
          <a:effectLst>
            <a:outerShdw sx="100000" sy="100000" kx="0" ky="0" algn="bl" rotWithShape="0" blurRad="101600" dist="25400" dir="5400000">
              <a:srgbClr val="0F3B40">
                <a:alpha val="12000"/>
              </a:srgbClr>
            </a:outerShdw>
          </a:effectLst>
        </p:spPr>
      </p:sp>
      <p:sp>
        <p:nvSpPr>
          <p:cNvPr id="10" name="ic-bg-101"/>
          <p:cNvSpPr/>
          <p:nvPr/>
        </p:nvSpPr>
        <p:spPr>
          <a:xfrm>
            <a:off x="5547208" y="2011680"/>
            <a:ext cx="1097280" cy="1097280"/>
          </a:xfrm>
          <a:prstGeom prst="ellipse">
            <a:avLst/>
          </a:prstGeom>
          <a:solidFill>
            <a:srgbClr val="E2563B"/>
          </a:solidFill>
          <a:ln w="12700">
            <a:solidFill>
              <a:srgbClr val="E2563B"/>
            </a:solidFill>
            <a:prstDash val="solid"/>
          </a:ln>
        </p:spPr>
      </p:sp>
      <p:pic>
        <p:nvPicPr>
          <p:cNvPr id="11" name="ic-102" descr="FaAmbulance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821528" y="2286000"/>
            <a:ext cx="548640" cy="548640"/>
          </a:xfrm>
          <a:prstGeom prst="rect">
            <a:avLst/>
          </a:prstGeom>
        </p:spPr>
      </p:pic>
      <p:sp>
        <p:nvSpPr>
          <p:cNvPr id="12" name="txt-103"/>
          <p:cNvSpPr txBox="1"/>
          <p:nvPr/>
        </p:nvSpPr>
        <p:spPr>
          <a:xfrm>
            <a:off x="4643018" y="3337560"/>
            <a:ext cx="2905658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2100" b="1" dirty="0">
                <a:solidFill>
                  <a:schemeClr val="tx2"/>
                </a:solidFill>
              </a:rPr>
              <a:t>24시간 응급 진료</a:t>
            </a:r>
            <a:endParaRPr lang="en-US" sz="2100" dirty="0"/>
          </a:p>
        </p:txBody>
      </p:sp>
      <p:sp>
        <p:nvSpPr>
          <p:cNvPr id="13" name="txt-104"/>
          <p:cNvSpPr txBox="1"/>
          <p:nvPr/>
        </p:nvSpPr>
        <p:spPr>
          <a:xfrm>
            <a:off x="4734458" y="3977640"/>
            <a:ext cx="2722778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dirty="0">
                <a:solidFill>
                  <a:schemeClr val="tx1"/>
                </a:solidFill>
              </a:rPr>
              <a:t>야간·주말 ‘근처 응급실’을 찾는 주민·관광객에게 위치·입구·연락처를 정확히</a:t>
            </a:r>
            <a:endParaRPr lang="en-US" sz="1500" dirty="0"/>
          </a:p>
        </p:txBody>
      </p:sp>
      <p:sp>
        <p:nvSpPr>
          <p:cNvPr id="14" name="box-105"/>
          <p:cNvSpPr/>
          <p:nvPr/>
        </p:nvSpPr>
        <p:spPr>
          <a:xfrm>
            <a:off x="8188757" y="1645920"/>
            <a:ext cx="3454298" cy="4114800"/>
          </a:xfrm>
          <a:prstGeom prst="roundRect">
            <a:avLst>
              <a:gd name="adj" fmla="val 3706"/>
            </a:avLst>
          </a:prstGeom>
          <a:solidFill>
            <a:schemeClr val="bg1"/>
          </a:solidFill>
          <a:ln w="12700">
            <a:solidFill>
              <a:schemeClr val="bg1"/>
            </a:solidFill>
            <a:prstDash val="solid"/>
          </a:ln>
          <a:effectLst>
            <a:outerShdw sx="100000" sy="100000" kx="0" ky="0" algn="bl" rotWithShape="0" blurRad="101600" dist="25400" dir="5400000">
              <a:srgbClr val="0F3B40">
                <a:alpha val="12000"/>
              </a:srgbClr>
            </a:outerShdw>
          </a:effectLst>
        </p:spPr>
      </p:sp>
      <p:sp>
        <p:nvSpPr>
          <p:cNvPr id="15" name="ic-bg-106"/>
          <p:cNvSpPr/>
          <p:nvPr/>
        </p:nvSpPr>
        <p:spPr>
          <a:xfrm>
            <a:off x="9367266" y="2011680"/>
            <a:ext cx="1097280" cy="1097280"/>
          </a:xfrm>
          <a:prstGeom prst="ellipse">
            <a:avLst/>
          </a:prstGeom>
          <a:solidFill>
            <a:srgbClr val="1E8C82"/>
          </a:solidFill>
          <a:ln w="12700">
            <a:solidFill>
              <a:srgbClr val="1E8C82"/>
            </a:solidFill>
            <a:prstDash val="solid"/>
          </a:ln>
        </p:spPr>
      </p:sp>
      <p:pic>
        <p:nvPicPr>
          <p:cNvPr id="16" name="ic-107" descr="FaHospital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641586" y="2286000"/>
            <a:ext cx="548640" cy="548640"/>
          </a:xfrm>
          <a:prstGeom prst="rect">
            <a:avLst/>
          </a:prstGeom>
        </p:spPr>
      </p:pic>
      <p:sp>
        <p:nvSpPr>
          <p:cNvPr id="17" name="txt-108"/>
          <p:cNvSpPr txBox="1"/>
          <p:nvPr/>
        </p:nvSpPr>
        <p:spPr>
          <a:xfrm>
            <a:off x="8463077" y="3337560"/>
            <a:ext cx="2905658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2100" b="1" dirty="0">
                <a:solidFill>
                  <a:schemeClr val="tx2"/>
                </a:solidFill>
              </a:rPr>
              <a:t>수술 · 재활까지 한 곳</a:t>
            </a:r>
            <a:endParaRPr lang="en-US" sz="2100" dirty="0"/>
          </a:p>
        </p:txBody>
      </p:sp>
      <p:sp>
        <p:nvSpPr>
          <p:cNvPr id="18" name="txt-109"/>
          <p:cNvSpPr txBox="1"/>
          <p:nvPr/>
        </p:nvSpPr>
        <p:spPr>
          <a:xfrm>
            <a:off x="8554517" y="3977640"/>
            <a:ext cx="2722778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dirty="0">
                <a:solidFill>
                  <a:schemeClr val="tx1"/>
                </a:solidFill>
              </a:rPr>
              <a:t>외과·정형외과·신경외과·재활의학과 등 9개 진료과의 원스톱 진료</a:t>
            </a:r>
            <a:endParaRPr lang="en-US" sz="15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94415" y="6419088"/>
            <a:ext cx="548640" cy="256032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6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6</a:t>
            </a:fld>
            <a:endParaRPr lang="en-US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body" hasCustomPrompt="1"/>
          </p:nvPr>
        </p:nvSpPr>
        <p:spPr>
          <a:xfrm>
            <a:off x="548640" y="320040"/>
            <a:ext cx="7315200" cy="320040"/>
          </a:xfrm>
          <a:prstGeom prst="rect">
            <a:avLst/>
          </a:prstGeom>
          <a:noFill/>
          <a:ln/>
        </p:spPr>
        <p:txBody>
          <a:bodyPr wrap="square" lIns="0" tIns="0" rIns="0" bIns="0" rtlCol="0"/>
          <a:lstStyle/>
          <a:p>
            <a:pPr algn="l" indent="0" marL="0">
              <a:buNone/>
            </a:pPr>
            <a:r>
              <a:rPr lang="en-US" sz="1200" b="1" dirty="0">
                <a:solidFill>
                  <a:schemeClr val="accent1"/>
                </a:solidFill>
              </a:rPr>
              <a:t>02  타깃 전략</a:t>
            </a:r>
            <a:endParaRPr lang="en-US" sz="1200" dirty="0"/>
          </a:p>
        </p:txBody>
      </p:sp>
      <p:sp>
        <p:nvSpPr>
          <p:cNvPr id="3" name="Text 0"/>
          <p:cNvSpPr/>
          <p:nvPr>
            <p:ph idx="101" type="title" hasCustomPrompt="1"/>
          </p:nvPr>
        </p:nvSpPr>
        <p:spPr>
          <a:xfrm>
            <a:off x="548640" y="640080"/>
            <a:ext cx="11094415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chemeClr val="tx2"/>
                </a:solidFill>
              </a:rPr>
              <a:t>타깃마다 찾는 지도와 전할 메시지가 다릅니다</a:t>
            </a:r>
            <a:endParaRPr lang="en-US" sz="2800" dirty="0"/>
          </a:p>
        </p:txBody>
      </p:sp>
      <p:sp>
        <p:nvSpPr>
          <p:cNvPr id="4" name="box-110"/>
          <p:cNvSpPr/>
          <p:nvPr/>
        </p:nvSpPr>
        <p:spPr>
          <a:xfrm>
            <a:off x="548640" y="1600200"/>
            <a:ext cx="3454298" cy="4343400"/>
          </a:xfrm>
          <a:prstGeom prst="roundRect">
            <a:avLst>
              <a:gd name="adj" fmla="val 3706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5" name="ic-bg-111"/>
          <p:cNvSpPr/>
          <p:nvPr/>
        </p:nvSpPr>
        <p:spPr>
          <a:xfrm>
            <a:off x="868680" y="1874520"/>
            <a:ext cx="731520" cy="731520"/>
          </a:xfrm>
          <a:prstGeom prst="ellipse">
            <a:avLst/>
          </a:prstGeom>
          <a:solidFill>
            <a:srgbClr val="1E8C82"/>
          </a:solidFill>
          <a:ln w="12700">
            <a:solidFill>
              <a:srgbClr val="1E8C82"/>
            </a:solidFill>
            <a:prstDash val="solid"/>
          </a:ln>
        </p:spPr>
      </p:sp>
      <p:pic>
        <p:nvPicPr>
          <p:cNvPr id="6" name="ic-112" descr="FaHome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51560" y="2057400"/>
            <a:ext cx="365760" cy="365760"/>
          </a:xfrm>
          <a:prstGeom prst="rect">
            <a:avLst/>
          </a:prstGeom>
        </p:spPr>
      </p:pic>
      <p:sp>
        <p:nvSpPr>
          <p:cNvPr id="7" name="txt-113"/>
          <p:cNvSpPr txBox="1"/>
          <p:nvPr/>
        </p:nvSpPr>
        <p:spPr>
          <a:xfrm>
            <a:off x="1783080" y="1920240"/>
            <a:ext cx="1991258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chemeClr val="tx2"/>
                </a:solidFill>
              </a:rPr>
              <a:t>지역 주민 · 내포신도시</a:t>
            </a:r>
            <a:endParaRPr lang="en-US" sz="1900" dirty="0"/>
          </a:p>
        </p:txBody>
      </p:sp>
      <p:sp>
        <p:nvSpPr>
          <p:cNvPr id="8" name="txt-114"/>
          <p:cNvSpPr txBox="1"/>
          <p:nvPr/>
        </p:nvSpPr>
        <p:spPr>
          <a:xfrm>
            <a:off x="868680" y="2880360"/>
            <a:ext cx="281421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b="1" dirty="0">
                <a:solidFill>
                  <a:schemeClr val="accent1"/>
                </a:solidFill>
              </a:rPr>
              <a:t>찾는 상황</a:t>
            </a:r>
            <a:endParaRPr lang="en-US" sz="1200" dirty="0"/>
          </a:p>
        </p:txBody>
      </p:sp>
      <p:sp>
        <p:nvSpPr>
          <p:cNvPr id="9" name="txt-115"/>
          <p:cNvSpPr txBox="1"/>
          <p:nvPr/>
        </p:nvSpPr>
        <p:spPr>
          <a:xfrm>
            <a:off x="868680" y="3172968"/>
            <a:ext cx="2814218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dirty="0">
                <a:solidFill>
                  <a:schemeClr val="tx1"/>
                </a:solidFill>
              </a:rPr>
              <a:t>가까운 병원, 진료시간, 주말 진료</a:t>
            </a:r>
            <a:endParaRPr lang="en-US" sz="1500" dirty="0"/>
          </a:p>
        </p:txBody>
      </p:sp>
      <p:sp>
        <p:nvSpPr>
          <p:cNvPr id="10" name="txt-116"/>
          <p:cNvSpPr txBox="1"/>
          <p:nvPr/>
        </p:nvSpPr>
        <p:spPr>
          <a:xfrm>
            <a:off x="868680" y="3840480"/>
            <a:ext cx="281421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b="1" dirty="0">
                <a:solidFill>
                  <a:schemeClr val="accent1"/>
                </a:solidFill>
              </a:rPr>
              <a:t>주력 지도</a:t>
            </a:r>
            <a:endParaRPr lang="en-US" sz="1200" dirty="0"/>
          </a:p>
        </p:txBody>
      </p:sp>
      <p:sp>
        <p:nvSpPr>
          <p:cNvPr id="11" name="txt-117"/>
          <p:cNvSpPr txBox="1"/>
          <p:nvPr/>
        </p:nvSpPr>
        <p:spPr>
          <a:xfrm>
            <a:off x="868680" y="4133088"/>
            <a:ext cx="2814218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dirty="0">
                <a:solidFill>
                  <a:schemeClr val="tx1"/>
                </a:solidFill>
              </a:rPr>
              <a:t>네이버 플레이스 · 카카오맵</a:t>
            </a:r>
            <a:endParaRPr lang="en-US" sz="1500" dirty="0"/>
          </a:p>
        </p:txBody>
      </p:sp>
      <p:sp>
        <p:nvSpPr>
          <p:cNvPr id="12" name="txt-118"/>
          <p:cNvSpPr txBox="1"/>
          <p:nvPr/>
        </p:nvSpPr>
        <p:spPr>
          <a:xfrm>
            <a:off x="868680" y="4800600"/>
            <a:ext cx="281421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b="1" dirty="0">
                <a:solidFill>
                  <a:schemeClr val="accent1"/>
                </a:solidFill>
              </a:rPr>
              <a:t>전달 메시지</a:t>
            </a:r>
            <a:endParaRPr lang="en-US" sz="1200" dirty="0"/>
          </a:p>
        </p:txBody>
      </p:sp>
      <p:sp>
        <p:nvSpPr>
          <p:cNvPr id="13" name="txt-119"/>
          <p:cNvSpPr txBox="1"/>
          <p:nvPr/>
        </p:nvSpPr>
        <p:spPr>
          <a:xfrm>
            <a:off x="868680" y="5093208"/>
            <a:ext cx="2814218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dirty="0">
                <a:solidFill>
                  <a:schemeClr val="tx1"/>
                </a:solidFill>
              </a:rPr>
              <a:t>9개 진료과, 진료시간, 24시간 응급</a:t>
            </a:r>
            <a:endParaRPr lang="en-US" sz="1500" dirty="0"/>
          </a:p>
        </p:txBody>
      </p:sp>
      <p:sp>
        <p:nvSpPr>
          <p:cNvPr id="14" name="box-120"/>
          <p:cNvSpPr/>
          <p:nvPr/>
        </p:nvSpPr>
        <p:spPr>
          <a:xfrm>
            <a:off x="4368698" y="1600200"/>
            <a:ext cx="3454298" cy="4343400"/>
          </a:xfrm>
          <a:prstGeom prst="roundRect">
            <a:avLst>
              <a:gd name="adj" fmla="val 3706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15" name="ic-bg-121"/>
          <p:cNvSpPr/>
          <p:nvPr/>
        </p:nvSpPr>
        <p:spPr>
          <a:xfrm>
            <a:off x="4688738" y="1874520"/>
            <a:ext cx="731520" cy="731520"/>
          </a:xfrm>
          <a:prstGeom prst="ellipse">
            <a:avLst/>
          </a:prstGeom>
          <a:solidFill>
            <a:srgbClr val="E2563B"/>
          </a:solidFill>
          <a:ln w="12700">
            <a:solidFill>
              <a:srgbClr val="E2563B"/>
            </a:solidFill>
            <a:prstDash val="solid"/>
          </a:ln>
        </p:spPr>
      </p:sp>
      <p:pic>
        <p:nvPicPr>
          <p:cNvPr id="16" name="ic-122" descr="FaIndustry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871618" y="2057400"/>
            <a:ext cx="365760" cy="365760"/>
          </a:xfrm>
          <a:prstGeom prst="rect">
            <a:avLst/>
          </a:prstGeom>
        </p:spPr>
      </p:pic>
      <p:sp>
        <p:nvSpPr>
          <p:cNvPr id="17" name="txt-123"/>
          <p:cNvSpPr txBox="1"/>
          <p:nvPr/>
        </p:nvSpPr>
        <p:spPr>
          <a:xfrm>
            <a:off x="5603138" y="1920240"/>
            <a:ext cx="1991258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chemeClr val="tx2"/>
                </a:solidFill>
              </a:rPr>
              <a:t>산업단지 기업 · 근로자</a:t>
            </a:r>
            <a:endParaRPr lang="en-US" sz="1900" dirty="0"/>
          </a:p>
        </p:txBody>
      </p:sp>
      <p:sp>
        <p:nvSpPr>
          <p:cNvPr id="18" name="txt-124"/>
          <p:cNvSpPr txBox="1"/>
          <p:nvPr/>
        </p:nvSpPr>
        <p:spPr>
          <a:xfrm>
            <a:off x="4688738" y="2880360"/>
            <a:ext cx="281421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b="1" dirty="0">
                <a:solidFill>
                  <a:schemeClr val="accent1"/>
                </a:solidFill>
              </a:rPr>
              <a:t>찾는 상황</a:t>
            </a:r>
            <a:endParaRPr lang="en-US" sz="1200" dirty="0"/>
          </a:p>
        </p:txBody>
      </p:sp>
      <p:sp>
        <p:nvSpPr>
          <p:cNvPr id="19" name="txt-125"/>
          <p:cNvSpPr txBox="1"/>
          <p:nvPr/>
        </p:nvSpPr>
        <p:spPr>
          <a:xfrm>
            <a:off x="4688738" y="3172968"/>
            <a:ext cx="2814218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dirty="0">
                <a:solidFill>
                  <a:schemeClr val="tx1"/>
                </a:solidFill>
              </a:rPr>
              <a:t>채용·배치전·근로자 검진, 산재 진료</a:t>
            </a:r>
            <a:endParaRPr lang="en-US" sz="1500" dirty="0"/>
          </a:p>
        </p:txBody>
      </p:sp>
      <p:sp>
        <p:nvSpPr>
          <p:cNvPr id="20" name="txt-126"/>
          <p:cNvSpPr txBox="1"/>
          <p:nvPr/>
        </p:nvSpPr>
        <p:spPr>
          <a:xfrm>
            <a:off x="4688738" y="3840480"/>
            <a:ext cx="281421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b="1" dirty="0">
                <a:solidFill>
                  <a:schemeClr val="accent1"/>
                </a:solidFill>
              </a:rPr>
              <a:t>주력 지도</a:t>
            </a:r>
            <a:endParaRPr lang="en-US" sz="1200" dirty="0"/>
          </a:p>
        </p:txBody>
      </p:sp>
      <p:sp>
        <p:nvSpPr>
          <p:cNvPr id="21" name="txt-127"/>
          <p:cNvSpPr txBox="1"/>
          <p:nvPr/>
        </p:nvSpPr>
        <p:spPr>
          <a:xfrm>
            <a:off x="4688738" y="4133088"/>
            <a:ext cx="2814218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dirty="0">
                <a:solidFill>
                  <a:schemeClr val="tx1"/>
                </a:solidFill>
              </a:rPr>
              <a:t>네이버 플레이스</a:t>
            </a:r>
            <a:endParaRPr lang="en-US" sz="1500" dirty="0"/>
          </a:p>
        </p:txBody>
      </p:sp>
      <p:sp>
        <p:nvSpPr>
          <p:cNvPr id="22" name="txt-128"/>
          <p:cNvSpPr txBox="1"/>
          <p:nvPr/>
        </p:nvSpPr>
        <p:spPr>
          <a:xfrm>
            <a:off x="4688738" y="4800600"/>
            <a:ext cx="281421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b="1" dirty="0">
                <a:solidFill>
                  <a:schemeClr val="accent1"/>
                </a:solidFill>
              </a:rPr>
              <a:t>전달 메시지</a:t>
            </a:r>
            <a:endParaRPr lang="en-US" sz="1200" dirty="0"/>
          </a:p>
        </p:txBody>
      </p:sp>
      <p:sp>
        <p:nvSpPr>
          <p:cNvPr id="23" name="txt-129"/>
          <p:cNvSpPr txBox="1"/>
          <p:nvPr/>
        </p:nvSpPr>
        <p:spPr>
          <a:xfrm>
            <a:off x="4688738" y="5093208"/>
            <a:ext cx="2814218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dirty="0">
                <a:solidFill>
                  <a:schemeClr val="tx1"/>
                </a:solidFill>
              </a:rPr>
              <a:t>직업환경의학과, 검진 안내·문의</a:t>
            </a:r>
            <a:endParaRPr lang="en-US" sz="1500" dirty="0"/>
          </a:p>
        </p:txBody>
      </p:sp>
      <p:sp>
        <p:nvSpPr>
          <p:cNvPr id="24" name="box-130"/>
          <p:cNvSpPr/>
          <p:nvPr/>
        </p:nvSpPr>
        <p:spPr>
          <a:xfrm>
            <a:off x="8188757" y="1600200"/>
            <a:ext cx="3454298" cy="4343400"/>
          </a:xfrm>
          <a:prstGeom prst="roundRect">
            <a:avLst>
              <a:gd name="adj" fmla="val 3706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25" name="ic-bg-131"/>
          <p:cNvSpPr/>
          <p:nvPr/>
        </p:nvSpPr>
        <p:spPr>
          <a:xfrm>
            <a:off x="8508797" y="1874520"/>
            <a:ext cx="731520" cy="731520"/>
          </a:xfrm>
          <a:prstGeom prst="ellipse">
            <a:avLst/>
          </a:prstGeom>
          <a:solidFill>
            <a:srgbClr val="3B6EF0"/>
          </a:solidFill>
          <a:ln w="12700">
            <a:solidFill>
              <a:srgbClr val="3B6EF0"/>
            </a:solidFill>
            <a:prstDash val="solid"/>
          </a:ln>
        </p:spPr>
      </p:sp>
      <p:pic>
        <p:nvPicPr>
          <p:cNvPr id="26" name="ic-132" descr="FaCar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691677" y="2057400"/>
            <a:ext cx="365760" cy="365760"/>
          </a:xfrm>
          <a:prstGeom prst="rect">
            <a:avLst/>
          </a:prstGeom>
        </p:spPr>
      </p:pic>
      <p:sp>
        <p:nvSpPr>
          <p:cNvPr id="27" name="txt-133"/>
          <p:cNvSpPr txBox="1"/>
          <p:nvPr/>
        </p:nvSpPr>
        <p:spPr>
          <a:xfrm>
            <a:off x="9423197" y="1920240"/>
            <a:ext cx="1991258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chemeClr val="tx2"/>
                </a:solidFill>
              </a:rPr>
              <a:t>차량 관광객 · 보호자</a:t>
            </a:r>
            <a:endParaRPr lang="en-US" sz="1900" dirty="0"/>
          </a:p>
        </p:txBody>
      </p:sp>
      <p:sp>
        <p:nvSpPr>
          <p:cNvPr id="28" name="txt-134"/>
          <p:cNvSpPr txBox="1"/>
          <p:nvPr/>
        </p:nvSpPr>
        <p:spPr>
          <a:xfrm>
            <a:off x="8508797" y="2880360"/>
            <a:ext cx="281421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b="1" dirty="0">
                <a:solidFill>
                  <a:schemeClr val="accent1"/>
                </a:solidFill>
              </a:rPr>
              <a:t>찾는 상황</a:t>
            </a:r>
            <a:endParaRPr lang="en-US" sz="1200" dirty="0"/>
          </a:p>
        </p:txBody>
      </p:sp>
      <p:sp>
        <p:nvSpPr>
          <p:cNvPr id="29" name="txt-135"/>
          <p:cNvSpPr txBox="1"/>
          <p:nvPr/>
        </p:nvSpPr>
        <p:spPr>
          <a:xfrm>
            <a:off x="8508797" y="3172968"/>
            <a:ext cx="2814218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dirty="0">
                <a:solidFill>
                  <a:schemeClr val="tx1"/>
                </a:solidFill>
              </a:rPr>
              <a:t>여행 중 사고, 근처 응급실·외상 진료</a:t>
            </a:r>
            <a:endParaRPr lang="en-US" sz="1500" dirty="0"/>
          </a:p>
        </p:txBody>
      </p:sp>
      <p:sp>
        <p:nvSpPr>
          <p:cNvPr id="30" name="txt-136"/>
          <p:cNvSpPr txBox="1"/>
          <p:nvPr/>
        </p:nvSpPr>
        <p:spPr>
          <a:xfrm>
            <a:off x="8508797" y="3840480"/>
            <a:ext cx="281421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b="1" dirty="0">
                <a:solidFill>
                  <a:schemeClr val="accent1"/>
                </a:solidFill>
              </a:rPr>
              <a:t>주력 지도</a:t>
            </a:r>
            <a:endParaRPr lang="en-US" sz="1200" dirty="0"/>
          </a:p>
        </p:txBody>
      </p:sp>
      <p:sp>
        <p:nvSpPr>
          <p:cNvPr id="31" name="txt-137"/>
          <p:cNvSpPr txBox="1"/>
          <p:nvPr/>
        </p:nvSpPr>
        <p:spPr>
          <a:xfrm>
            <a:off x="8508797" y="4133088"/>
            <a:ext cx="2814218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dirty="0">
                <a:solidFill>
                  <a:schemeClr val="tx1"/>
                </a:solidFill>
              </a:rPr>
              <a:t>티맵 · 네이버 플레이스</a:t>
            </a:r>
            <a:endParaRPr lang="en-US" sz="1500" dirty="0"/>
          </a:p>
        </p:txBody>
      </p:sp>
      <p:sp>
        <p:nvSpPr>
          <p:cNvPr id="32" name="txt-138"/>
          <p:cNvSpPr txBox="1"/>
          <p:nvPr/>
        </p:nvSpPr>
        <p:spPr>
          <a:xfrm>
            <a:off x="8508797" y="4800600"/>
            <a:ext cx="281421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b="1" dirty="0">
                <a:solidFill>
                  <a:schemeClr val="accent1"/>
                </a:solidFill>
              </a:rPr>
              <a:t>전달 메시지</a:t>
            </a:r>
            <a:endParaRPr lang="en-US" sz="1200" dirty="0"/>
          </a:p>
        </p:txBody>
      </p:sp>
      <p:sp>
        <p:nvSpPr>
          <p:cNvPr id="33" name="txt-139"/>
          <p:cNvSpPr txBox="1"/>
          <p:nvPr/>
        </p:nvSpPr>
        <p:spPr>
          <a:xfrm>
            <a:off x="8508797" y="5093208"/>
            <a:ext cx="2814218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dirty="0">
                <a:solidFill>
                  <a:schemeClr val="tx1"/>
                </a:solidFill>
              </a:rPr>
              <a:t>24시간 응급, 정확한 위치·입구·주차</a:t>
            </a:r>
            <a:endParaRPr lang="en-US" sz="15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94415" y="6419088"/>
            <a:ext cx="548640" cy="256032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6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7</a:t>
            </a:fld>
            <a:endParaRPr lang="en-US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body" hasCustomPrompt="1"/>
          </p:nvPr>
        </p:nvSpPr>
        <p:spPr>
          <a:xfrm>
            <a:off x="548640" y="320040"/>
            <a:ext cx="7315200" cy="320040"/>
          </a:xfrm>
          <a:prstGeom prst="rect">
            <a:avLst/>
          </a:prstGeom>
          <a:noFill/>
          <a:ln/>
        </p:spPr>
        <p:txBody>
          <a:bodyPr wrap="square" lIns="0" tIns="0" rIns="0" bIns="0" rtlCol="0"/>
          <a:lstStyle/>
          <a:p>
            <a:pPr algn="l" indent="0" marL="0">
              <a:buNone/>
            </a:pPr>
            <a:r>
              <a:rPr lang="en-US" sz="1200" b="1" dirty="0">
                <a:solidFill>
                  <a:schemeClr val="accent1"/>
                </a:solidFill>
              </a:rPr>
              <a:t>03  제안 ①</a:t>
            </a:r>
            <a:endParaRPr lang="en-US" sz="1200" dirty="0"/>
          </a:p>
        </p:txBody>
      </p:sp>
      <p:sp>
        <p:nvSpPr>
          <p:cNvPr id="3" name="Text 0"/>
          <p:cNvSpPr/>
          <p:nvPr>
            <p:ph idx="101" type="title" hasCustomPrompt="1"/>
          </p:nvPr>
        </p:nvSpPr>
        <p:spPr>
          <a:xfrm>
            <a:off x="548640" y="640080"/>
            <a:ext cx="11094415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chemeClr val="tx2"/>
                </a:solidFill>
              </a:rPr>
              <a:t>3대 지도의 병원 정보를 한 번에 세팅합니다</a:t>
            </a:r>
            <a:endParaRPr lang="en-US" sz="2800" dirty="0"/>
          </a:p>
        </p:txBody>
      </p:sp>
      <p:sp>
        <p:nvSpPr>
          <p:cNvPr id="4" name="free-140"/>
          <p:cNvSpPr/>
          <p:nvPr/>
        </p:nvSpPr>
        <p:spPr>
          <a:xfrm>
            <a:off x="10591495" y="786384"/>
            <a:ext cx="1051560" cy="384048"/>
          </a:xfrm>
          <a:prstGeom prst="roundRect">
            <a:avLst>
              <a:gd name="adj" fmla="val 50000"/>
            </a:avLst>
          </a:prstGeom>
          <a:solidFill>
            <a:schemeClr val="accent2"/>
          </a:solidFill>
          <a:ln w="12700">
            <a:solidFill>
              <a:schemeClr val="accent2"/>
            </a:solidFill>
            <a:prstDash val="solid"/>
          </a:ln>
        </p:spPr>
      </p:sp>
      <p:sp>
        <p:nvSpPr>
          <p:cNvPr id="5" name="txt-141"/>
          <p:cNvSpPr txBox="1"/>
          <p:nvPr/>
        </p:nvSpPr>
        <p:spPr>
          <a:xfrm>
            <a:off x="10591495" y="786384"/>
            <a:ext cx="10515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chemeClr val="bg1"/>
                </a:solidFill>
              </a:rPr>
              <a:t>무료 제공</a:t>
            </a:r>
            <a:endParaRPr lang="en-US" sz="1300" dirty="0"/>
          </a:p>
        </p:txBody>
      </p:sp>
      <p:sp>
        <p:nvSpPr>
          <p:cNvPr id="6" name="box-142"/>
          <p:cNvSpPr/>
          <p:nvPr/>
        </p:nvSpPr>
        <p:spPr>
          <a:xfrm>
            <a:off x="548640" y="1600200"/>
            <a:ext cx="3454298" cy="3931920"/>
          </a:xfrm>
          <a:prstGeom prst="roundRect">
            <a:avLst>
              <a:gd name="adj" fmla="val 3706"/>
            </a:avLst>
          </a:prstGeom>
          <a:solidFill>
            <a:schemeClr val="bg1"/>
          </a:solidFill>
          <a:ln w="12700">
            <a:solidFill>
              <a:schemeClr val="bg1"/>
            </a:solidFill>
            <a:prstDash val="solid"/>
          </a:ln>
          <a:effectLst>
            <a:outerShdw sx="100000" sy="100000" kx="0" ky="0" algn="bl" rotWithShape="0" blurRad="101600" dist="25400" dir="5400000">
              <a:srgbClr val="0F3B40">
                <a:alpha val="12000"/>
              </a:srgbClr>
            </a:outerShdw>
          </a:effectLst>
        </p:spPr>
      </p:sp>
      <p:sp>
        <p:nvSpPr>
          <p:cNvPr id="7" name="chip-143"/>
          <p:cNvSpPr/>
          <p:nvPr/>
        </p:nvSpPr>
        <p:spPr>
          <a:xfrm>
            <a:off x="822960" y="1828800"/>
            <a:ext cx="640080" cy="640080"/>
          </a:xfrm>
          <a:prstGeom prst="ellipse">
            <a:avLst/>
          </a:prstGeom>
          <a:solidFill>
            <a:srgbClr val="03C75A"/>
          </a:solidFill>
          <a:ln w="12700">
            <a:solidFill>
              <a:srgbClr val="03C75A"/>
            </a:solidFill>
            <a:prstDash val="solid"/>
          </a:ln>
        </p:spPr>
      </p:sp>
      <p:sp>
        <p:nvSpPr>
          <p:cNvPr id="8" name="txt-144"/>
          <p:cNvSpPr txBox="1"/>
          <p:nvPr/>
        </p:nvSpPr>
        <p:spPr>
          <a:xfrm>
            <a:off x="822960" y="1828800"/>
            <a:ext cx="640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chemeClr val="bg1"/>
                </a:solidFill>
              </a:rPr>
              <a:t>N</a:t>
            </a:r>
            <a:endParaRPr lang="en-US" sz="1800" dirty="0"/>
          </a:p>
        </p:txBody>
      </p:sp>
      <p:sp>
        <p:nvSpPr>
          <p:cNvPr id="9" name="txt-145"/>
          <p:cNvSpPr txBox="1"/>
          <p:nvPr/>
        </p:nvSpPr>
        <p:spPr>
          <a:xfrm>
            <a:off x="1645920" y="1828800"/>
            <a:ext cx="2174138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chemeClr val="tx2"/>
                </a:solidFill>
              </a:rPr>
              <a:t>네이버 플레이스</a:t>
            </a:r>
            <a:endParaRPr lang="en-US" sz="2000" dirty="0"/>
          </a:p>
        </p:txBody>
      </p:sp>
      <p:sp>
        <p:nvSpPr>
          <p:cNvPr id="10" name="list-146"/>
          <p:cNvSpPr txBox="1"/>
          <p:nvPr/>
        </p:nvSpPr>
        <p:spPr>
          <a:xfrm>
            <a:off x="822960" y="2743200"/>
            <a:ext cx="2905658" cy="2743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1200"/>
              </a:spcAft>
              <a:buSzPct val="100000"/>
              <a:buChar char="•"/>
            </a:pPr>
            <a:r>
              <a:rPr lang="en-US" sz="1500" dirty="0">
                <a:solidFill>
                  <a:schemeClr val="tx1"/>
                </a:solidFill>
              </a:rPr>
              <a:t>진료과 · 진료시간 · 24시간 응급 표기</a:t>
            </a:r>
            <a:endParaRPr lang="en-US" sz="1500" dirty="0"/>
          </a:p>
          <a:p>
            <a:pPr marL="342900" indent="-342900">
              <a:spcAft>
                <a:spcPts val="1200"/>
              </a:spcAft>
              <a:buSzPct val="100000"/>
              <a:buChar char="•"/>
            </a:pPr>
            <a:r>
              <a:rPr lang="en-US" sz="1500" dirty="0">
                <a:solidFill>
                  <a:schemeClr val="tx1"/>
                </a:solidFill>
              </a:rPr>
              <a:t>외관 · 입구 · 주차 · 검진센터 사진</a:t>
            </a:r>
            <a:endParaRPr lang="en-US" sz="1500" dirty="0"/>
          </a:p>
          <a:p>
            <a:pPr marL="342900" indent="-342900">
              <a:spcAft>
                <a:spcPts val="1200"/>
              </a:spcAft>
              <a:buSzPct val="100000"/>
              <a:buChar char="•"/>
            </a:pPr>
            <a:r>
              <a:rPr lang="en-US" sz="1500" dirty="0">
                <a:solidFill>
                  <a:schemeClr val="tx1"/>
                </a:solidFill>
              </a:rPr>
              <a:t>예약 · 톡톡 연결, 검진 안내 소식</a:t>
            </a:r>
            <a:endParaRPr lang="en-US" sz="1500" dirty="0"/>
          </a:p>
          <a:p>
            <a:pPr marL="342900" indent="-342900">
              <a:spcAft>
                <a:spcPts val="1200"/>
              </a:spcAft>
              <a:buSzPct val="100000"/>
              <a:buChar char="•"/>
            </a:pPr>
            <a:r>
              <a:rPr lang="en-US" sz="1500" dirty="0">
                <a:solidFill>
                  <a:schemeClr val="tx1"/>
                </a:solidFill>
              </a:rPr>
              <a:t>대표 키워드 · 소개글 정비</a:t>
            </a:r>
            <a:endParaRPr lang="en-US" sz="1500" dirty="0"/>
          </a:p>
        </p:txBody>
      </p:sp>
      <p:sp>
        <p:nvSpPr>
          <p:cNvPr id="11" name="box-147"/>
          <p:cNvSpPr/>
          <p:nvPr/>
        </p:nvSpPr>
        <p:spPr>
          <a:xfrm>
            <a:off x="4368698" y="1600200"/>
            <a:ext cx="3454298" cy="3931920"/>
          </a:xfrm>
          <a:prstGeom prst="roundRect">
            <a:avLst>
              <a:gd name="adj" fmla="val 3706"/>
            </a:avLst>
          </a:prstGeom>
          <a:solidFill>
            <a:schemeClr val="bg1"/>
          </a:solidFill>
          <a:ln w="12700">
            <a:solidFill>
              <a:schemeClr val="bg1"/>
            </a:solidFill>
            <a:prstDash val="solid"/>
          </a:ln>
          <a:effectLst>
            <a:outerShdw sx="100000" sy="100000" kx="0" ky="0" algn="bl" rotWithShape="0" blurRad="101600" dist="25400" dir="5400000">
              <a:srgbClr val="0F3B40">
                <a:alpha val="12000"/>
              </a:srgbClr>
            </a:outerShdw>
          </a:effectLst>
        </p:spPr>
      </p:sp>
      <p:sp>
        <p:nvSpPr>
          <p:cNvPr id="12" name="chip-148"/>
          <p:cNvSpPr/>
          <p:nvPr/>
        </p:nvSpPr>
        <p:spPr>
          <a:xfrm>
            <a:off x="4643018" y="1828800"/>
            <a:ext cx="640080" cy="640080"/>
          </a:xfrm>
          <a:prstGeom prst="ellipse">
            <a:avLst/>
          </a:prstGeom>
          <a:solidFill>
            <a:srgbClr val="F5C400"/>
          </a:solidFill>
          <a:ln w="12700">
            <a:solidFill>
              <a:srgbClr val="F5C400"/>
            </a:solidFill>
            <a:prstDash val="solid"/>
          </a:ln>
        </p:spPr>
      </p:sp>
      <p:sp>
        <p:nvSpPr>
          <p:cNvPr id="13" name="txt-149"/>
          <p:cNvSpPr txBox="1"/>
          <p:nvPr/>
        </p:nvSpPr>
        <p:spPr>
          <a:xfrm>
            <a:off x="4643018" y="1828800"/>
            <a:ext cx="640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chemeClr val="tx1"/>
                </a:solidFill>
              </a:rPr>
              <a:t>K</a:t>
            </a:r>
            <a:endParaRPr lang="en-US" sz="1800" dirty="0"/>
          </a:p>
        </p:txBody>
      </p:sp>
      <p:sp>
        <p:nvSpPr>
          <p:cNvPr id="14" name="txt-150"/>
          <p:cNvSpPr txBox="1"/>
          <p:nvPr/>
        </p:nvSpPr>
        <p:spPr>
          <a:xfrm>
            <a:off x="5465978" y="1828800"/>
            <a:ext cx="2174138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chemeClr val="tx2"/>
                </a:solidFill>
              </a:rPr>
              <a:t>카카오맵</a:t>
            </a:r>
            <a:endParaRPr lang="en-US" sz="2000" dirty="0"/>
          </a:p>
        </p:txBody>
      </p:sp>
      <p:sp>
        <p:nvSpPr>
          <p:cNvPr id="15" name="list-151"/>
          <p:cNvSpPr txBox="1"/>
          <p:nvPr/>
        </p:nvSpPr>
        <p:spPr>
          <a:xfrm>
            <a:off x="4643018" y="2743200"/>
            <a:ext cx="2905658" cy="2743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1200"/>
              </a:spcAft>
              <a:buSzPct val="100000"/>
              <a:buChar char="•"/>
            </a:pPr>
            <a:r>
              <a:rPr lang="en-US" sz="1500" dirty="0">
                <a:solidFill>
                  <a:schemeClr val="tx1"/>
                </a:solidFill>
              </a:rPr>
              <a:t>카카오비즈니스로 병원 소유권 등록</a:t>
            </a:r>
            <a:endParaRPr lang="en-US" sz="1500" dirty="0"/>
          </a:p>
          <a:p>
            <a:pPr marL="342900" indent="-342900">
              <a:spcAft>
                <a:spcPts val="1200"/>
              </a:spcAft>
              <a:buSzPct val="100000"/>
              <a:buChar char="•"/>
            </a:pPr>
            <a:r>
              <a:rPr lang="en-US" sz="1500" dirty="0">
                <a:solidFill>
                  <a:schemeClr val="tx1"/>
                </a:solidFill>
              </a:rPr>
              <a:t>기존 등록 정보의 오류 · 중복 정리</a:t>
            </a:r>
            <a:endParaRPr lang="en-US" sz="1500" dirty="0"/>
          </a:p>
          <a:p>
            <a:pPr marL="342900" indent="-342900">
              <a:spcAft>
                <a:spcPts val="1200"/>
              </a:spcAft>
              <a:buSzPct val="100000"/>
              <a:buChar char="•"/>
            </a:pPr>
            <a:r>
              <a:rPr lang="en-US" sz="1500" dirty="0">
                <a:solidFill>
                  <a:schemeClr val="tx1"/>
                </a:solidFill>
              </a:rPr>
              <a:t>카카오톡 채널 연결(문의 창구)</a:t>
            </a:r>
            <a:endParaRPr lang="en-US" sz="1500" dirty="0"/>
          </a:p>
          <a:p>
            <a:pPr marL="342900" indent="-342900">
              <a:spcAft>
                <a:spcPts val="1200"/>
              </a:spcAft>
              <a:buSzPct val="100000"/>
              <a:buChar char="•"/>
            </a:pPr>
            <a:r>
              <a:rPr lang="en-US" sz="1500" dirty="0">
                <a:solidFill>
                  <a:schemeClr val="tx1"/>
                </a:solidFill>
              </a:rPr>
              <a:t>진료시간 · 전화 · 진료과 통일</a:t>
            </a:r>
            <a:endParaRPr lang="en-US" sz="1500" dirty="0"/>
          </a:p>
        </p:txBody>
      </p:sp>
      <p:sp>
        <p:nvSpPr>
          <p:cNvPr id="16" name="box-152"/>
          <p:cNvSpPr/>
          <p:nvPr/>
        </p:nvSpPr>
        <p:spPr>
          <a:xfrm>
            <a:off x="8188757" y="1600200"/>
            <a:ext cx="3454298" cy="3931920"/>
          </a:xfrm>
          <a:prstGeom prst="roundRect">
            <a:avLst>
              <a:gd name="adj" fmla="val 3706"/>
            </a:avLst>
          </a:prstGeom>
          <a:solidFill>
            <a:schemeClr val="bg1"/>
          </a:solidFill>
          <a:ln w="12700">
            <a:solidFill>
              <a:schemeClr val="bg1"/>
            </a:solidFill>
            <a:prstDash val="solid"/>
          </a:ln>
          <a:effectLst>
            <a:outerShdw sx="100000" sy="100000" kx="0" ky="0" algn="bl" rotWithShape="0" blurRad="101600" dist="25400" dir="5400000">
              <a:srgbClr val="0F3B40">
                <a:alpha val="12000"/>
              </a:srgbClr>
            </a:outerShdw>
          </a:effectLst>
        </p:spPr>
      </p:sp>
      <p:sp>
        <p:nvSpPr>
          <p:cNvPr id="17" name="chip-153"/>
          <p:cNvSpPr/>
          <p:nvPr/>
        </p:nvSpPr>
        <p:spPr>
          <a:xfrm>
            <a:off x="8463077" y="1828800"/>
            <a:ext cx="640080" cy="640080"/>
          </a:xfrm>
          <a:prstGeom prst="ellipse">
            <a:avLst/>
          </a:prstGeom>
          <a:solidFill>
            <a:srgbClr val="3B6EF0"/>
          </a:solidFill>
          <a:ln w="12700">
            <a:solidFill>
              <a:srgbClr val="3B6EF0"/>
            </a:solidFill>
            <a:prstDash val="solid"/>
          </a:ln>
        </p:spPr>
      </p:sp>
      <p:sp>
        <p:nvSpPr>
          <p:cNvPr id="18" name="txt-154"/>
          <p:cNvSpPr txBox="1"/>
          <p:nvPr/>
        </p:nvSpPr>
        <p:spPr>
          <a:xfrm>
            <a:off x="8463077" y="1828800"/>
            <a:ext cx="640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chemeClr val="bg1"/>
                </a:solidFill>
              </a:rPr>
              <a:t>T</a:t>
            </a:r>
            <a:endParaRPr lang="en-US" sz="1800" dirty="0"/>
          </a:p>
        </p:txBody>
      </p:sp>
      <p:sp>
        <p:nvSpPr>
          <p:cNvPr id="19" name="txt-155"/>
          <p:cNvSpPr txBox="1"/>
          <p:nvPr/>
        </p:nvSpPr>
        <p:spPr>
          <a:xfrm>
            <a:off x="9286037" y="1828800"/>
            <a:ext cx="2174138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chemeClr val="tx2"/>
                </a:solidFill>
              </a:rPr>
              <a:t>티맵</a:t>
            </a:r>
            <a:endParaRPr lang="en-US" sz="2000" dirty="0"/>
          </a:p>
        </p:txBody>
      </p:sp>
      <p:sp>
        <p:nvSpPr>
          <p:cNvPr id="20" name="list-156"/>
          <p:cNvSpPr txBox="1"/>
          <p:nvPr/>
        </p:nvSpPr>
        <p:spPr>
          <a:xfrm>
            <a:off x="8463077" y="2743200"/>
            <a:ext cx="2905658" cy="2743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1200"/>
              </a:spcAft>
              <a:buSzPct val="100000"/>
              <a:buChar char="•"/>
            </a:pPr>
            <a:r>
              <a:rPr lang="en-US" sz="1500" dirty="0">
                <a:solidFill>
                  <a:schemeClr val="tx1"/>
                </a:solidFill>
              </a:rPr>
              <a:t>장소 정보 등록 · 수정</a:t>
            </a:r>
            <a:endParaRPr lang="en-US" sz="1500" dirty="0"/>
          </a:p>
          <a:p>
            <a:pPr marL="342900" indent="-342900">
              <a:spcAft>
                <a:spcPts val="1200"/>
              </a:spcAft>
              <a:buSzPct val="100000"/>
              <a:buChar char="•"/>
            </a:pPr>
            <a:r>
              <a:rPr lang="en-US" sz="1500" dirty="0">
                <a:solidFill>
                  <a:schemeClr val="tx1"/>
                </a:solidFill>
              </a:rPr>
              <a:t>응급실 입구 기준 목적지 좌표</a:t>
            </a:r>
            <a:endParaRPr lang="en-US" sz="1500" dirty="0"/>
          </a:p>
          <a:p>
            <a:pPr marL="342900" indent="-342900">
              <a:spcAft>
                <a:spcPts val="1200"/>
              </a:spcAft>
              <a:buSzPct val="100000"/>
              <a:buChar char="•"/>
            </a:pPr>
            <a:r>
              <a:rPr lang="en-US" sz="1500" dirty="0">
                <a:solidFill>
                  <a:schemeClr val="tx1"/>
                </a:solidFill>
              </a:rPr>
              <a:t>대표 전화 · 진료시간 통일</a:t>
            </a:r>
            <a:endParaRPr lang="en-US" sz="1500" dirty="0"/>
          </a:p>
          <a:p>
            <a:pPr marL="342900" indent="-342900">
              <a:spcAft>
                <a:spcPts val="1200"/>
              </a:spcAft>
              <a:buSzPct val="100000"/>
              <a:buChar char="•"/>
            </a:pPr>
            <a:r>
              <a:rPr lang="en-US" sz="1500" dirty="0">
                <a:solidFill>
                  <a:schemeClr val="tx1"/>
                </a:solidFill>
              </a:rPr>
              <a:t>관광지 인근 ‘병원’ 검색 노출 점검</a:t>
            </a:r>
            <a:endParaRPr lang="en-US" sz="1500" dirty="0"/>
          </a:p>
        </p:txBody>
      </p:sp>
      <p:sp>
        <p:nvSpPr>
          <p:cNvPr id="21" name="txt-157"/>
          <p:cNvSpPr txBox="1"/>
          <p:nvPr/>
        </p:nvSpPr>
        <p:spPr>
          <a:xfrm>
            <a:off x="548640" y="5806440"/>
            <a:ext cx="11094415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b="1" dirty="0">
                <a:solidFill>
                  <a:schemeClr val="tx2"/>
                </a:solidFill>
              </a:rPr>
              <a:t>세 지도의 병원명 · 주소 · 전화 · 진료시간 · 진료과를 하나의 기준표로 맞춥니다.</a:t>
            </a:r>
            <a:endParaRPr lang="en-US" sz="15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94415" y="6419088"/>
            <a:ext cx="548640" cy="256032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6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8</a:t>
            </a:fld>
            <a:endParaRPr lang="en-US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body" hasCustomPrompt="1"/>
          </p:nvPr>
        </p:nvSpPr>
        <p:spPr>
          <a:xfrm>
            <a:off x="548640" y="320040"/>
            <a:ext cx="7315200" cy="320040"/>
          </a:xfrm>
          <a:prstGeom prst="rect">
            <a:avLst/>
          </a:prstGeom>
          <a:noFill/>
          <a:ln/>
        </p:spPr>
        <p:txBody>
          <a:bodyPr wrap="square" lIns="0" tIns="0" rIns="0" bIns="0" rtlCol="0"/>
          <a:lstStyle/>
          <a:p>
            <a:pPr algn="l" indent="0" marL="0">
              <a:buNone/>
            </a:pPr>
            <a:r>
              <a:rPr lang="en-US" sz="1200" b="1" dirty="0">
                <a:solidFill>
                  <a:schemeClr val="accent1"/>
                </a:solidFill>
              </a:rPr>
              <a:t>03  제안 ②</a:t>
            </a:r>
            <a:endParaRPr lang="en-US" sz="1200" dirty="0"/>
          </a:p>
        </p:txBody>
      </p:sp>
      <p:sp>
        <p:nvSpPr>
          <p:cNvPr id="3" name="Text 0"/>
          <p:cNvSpPr/>
          <p:nvPr>
            <p:ph idx="101" type="title" hasCustomPrompt="1"/>
          </p:nvPr>
        </p:nvSpPr>
        <p:spPr>
          <a:xfrm>
            <a:off x="548640" y="640080"/>
            <a:ext cx="11094415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chemeClr val="tx2"/>
                </a:solidFill>
              </a:rPr>
              <a:t>매월 정보 · 소식 · 리뷰를 관리하고 결과를 보고합니다</a:t>
            </a:r>
            <a:endParaRPr lang="en-US" sz="2800" dirty="0"/>
          </a:p>
        </p:txBody>
      </p:sp>
      <p:sp>
        <p:nvSpPr>
          <p:cNvPr id="4" name="free-158"/>
          <p:cNvSpPr/>
          <p:nvPr/>
        </p:nvSpPr>
        <p:spPr>
          <a:xfrm>
            <a:off x="10591495" y="786384"/>
            <a:ext cx="1051560" cy="384048"/>
          </a:xfrm>
          <a:prstGeom prst="roundRect">
            <a:avLst>
              <a:gd name="adj" fmla="val 50000"/>
            </a:avLst>
          </a:prstGeom>
          <a:solidFill>
            <a:schemeClr val="accent2"/>
          </a:solidFill>
          <a:ln w="12700">
            <a:solidFill>
              <a:schemeClr val="accent2"/>
            </a:solidFill>
            <a:prstDash val="solid"/>
          </a:ln>
        </p:spPr>
      </p:sp>
      <p:sp>
        <p:nvSpPr>
          <p:cNvPr id="5" name="txt-159"/>
          <p:cNvSpPr txBox="1"/>
          <p:nvPr/>
        </p:nvSpPr>
        <p:spPr>
          <a:xfrm>
            <a:off x="10591495" y="786384"/>
            <a:ext cx="10515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chemeClr val="bg1"/>
                </a:solidFill>
              </a:rPr>
              <a:t>무료 제공</a:t>
            </a:r>
            <a:endParaRPr lang="en-US" sz="1300" dirty="0"/>
          </a:p>
        </p:txBody>
      </p:sp>
      <p:sp>
        <p:nvSpPr>
          <p:cNvPr id="6" name="box-160"/>
          <p:cNvSpPr/>
          <p:nvPr/>
        </p:nvSpPr>
        <p:spPr>
          <a:xfrm>
            <a:off x="548640" y="1691640"/>
            <a:ext cx="2499284" cy="3566160"/>
          </a:xfrm>
          <a:prstGeom prst="roundRect">
            <a:avLst>
              <a:gd name="adj" fmla="val 5122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7" name="ic-bg-161"/>
          <p:cNvSpPr/>
          <p:nvPr/>
        </p:nvSpPr>
        <p:spPr>
          <a:xfrm>
            <a:off x="868680" y="1965960"/>
            <a:ext cx="731520" cy="731520"/>
          </a:xfrm>
          <a:prstGeom prst="ellipse">
            <a:avLst/>
          </a:prstGeom>
          <a:solidFill>
            <a:srgbClr val="1E8C82"/>
          </a:solidFill>
          <a:ln w="12700">
            <a:solidFill>
              <a:srgbClr val="1E8C82"/>
            </a:solidFill>
            <a:prstDash val="solid"/>
          </a:ln>
        </p:spPr>
      </p:sp>
      <p:pic>
        <p:nvPicPr>
          <p:cNvPr id="8" name="ic-162" descr="FaClipboardCheck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51560" y="2148840"/>
            <a:ext cx="365760" cy="365760"/>
          </a:xfrm>
          <a:prstGeom prst="rect">
            <a:avLst/>
          </a:prstGeom>
        </p:spPr>
      </p:pic>
      <p:sp>
        <p:nvSpPr>
          <p:cNvPr id="9" name="txt-163"/>
          <p:cNvSpPr txBox="1"/>
          <p:nvPr/>
        </p:nvSpPr>
        <p:spPr>
          <a:xfrm>
            <a:off x="2179244" y="2011680"/>
            <a:ext cx="6400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2400" b="1" dirty="0">
                <a:solidFill>
                  <a:schemeClr val="accent6"/>
                </a:solidFill>
              </a:rPr>
              <a:t>01</a:t>
            </a:r>
            <a:endParaRPr lang="en-US" sz="2400" dirty="0"/>
          </a:p>
        </p:txBody>
      </p:sp>
      <p:sp>
        <p:nvSpPr>
          <p:cNvPr id="10" name="txt-164"/>
          <p:cNvSpPr txBox="1"/>
          <p:nvPr/>
        </p:nvSpPr>
        <p:spPr>
          <a:xfrm>
            <a:off x="868680" y="2926080"/>
            <a:ext cx="1859204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000" b="1" dirty="0">
                <a:solidFill>
                  <a:schemeClr val="tx2"/>
                </a:solidFill>
              </a:rPr>
              <a:t>정보 점검</a:t>
            </a:r>
            <a:endParaRPr lang="en-US" sz="2000" dirty="0"/>
          </a:p>
        </p:txBody>
      </p:sp>
      <p:sp>
        <p:nvSpPr>
          <p:cNvPr id="11" name="txt-165"/>
          <p:cNvSpPr txBox="1"/>
          <p:nvPr/>
        </p:nvSpPr>
        <p:spPr>
          <a:xfrm>
            <a:off x="868680" y="3474720"/>
            <a:ext cx="1859204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dirty="0">
                <a:solidFill>
                  <a:schemeClr val="tx1"/>
                </a:solidFill>
              </a:rPr>
              <a:t>휴진·진료시간 변경, 신규 의료진을 3대 지도에 동시 반영</a:t>
            </a:r>
            <a:endParaRPr lang="en-US" sz="1500" dirty="0"/>
          </a:p>
        </p:txBody>
      </p:sp>
      <p:sp>
        <p:nvSpPr>
          <p:cNvPr id="12" name="arr-166"/>
          <p:cNvSpPr/>
          <p:nvPr/>
        </p:nvSpPr>
        <p:spPr>
          <a:xfrm>
            <a:off x="3121076" y="3291840"/>
            <a:ext cx="219456" cy="292608"/>
          </a:xfrm>
          <a:prstGeom prst="rightArrow">
            <a:avLst/>
          </a:prstGeom>
          <a:solidFill>
            <a:schemeClr val="accent6"/>
          </a:solidFill>
          <a:ln w="12700">
            <a:solidFill>
              <a:schemeClr val="accent6"/>
            </a:solidFill>
            <a:prstDash val="solid"/>
          </a:ln>
        </p:spPr>
      </p:sp>
      <p:sp>
        <p:nvSpPr>
          <p:cNvPr id="13" name="box-167"/>
          <p:cNvSpPr/>
          <p:nvPr/>
        </p:nvSpPr>
        <p:spPr>
          <a:xfrm>
            <a:off x="3413684" y="1691640"/>
            <a:ext cx="2499284" cy="3566160"/>
          </a:xfrm>
          <a:prstGeom prst="roundRect">
            <a:avLst>
              <a:gd name="adj" fmla="val 5122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14" name="ic-bg-168"/>
          <p:cNvSpPr/>
          <p:nvPr/>
        </p:nvSpPr>
        <p:spPr>
          <a:xfrm>
            <a:off x="3733724" y="1965960"/>
            <a:ext cx="731520" cy="731520"/>
          </a:xfrm>
          <a:prstGeom prst="ellipse">
            <a:avLst/>
          </a:prstGeom>
          <a:solidFill>
            <a:srgbClr val="1E8C82"/>
          </a:solidFill>
          <a:ln w="12700">
            <a:solidFill>
              <a:srgbClr val="1E8C82"/>
            </a:solidFill>
            <a:prstDash val="solid"/>
          </a:ln>
        </p:spPr>
      </p:sp>
      <p:pic>
        <p:nvPicPr>
          <p:cNvPr id="15" name="ic-169" descr="FaFileAlt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916604" y="2148840"/>
            <a:ext cx="365760" cy="365760"/>
          </a:xfrm>
          <a:prstGeom prst="rect">
            <a:avLst/>
          </a:prstGeom>
        </p:spPr>
      </p:pic>
      <p:sp>
        <p:nvSpPr>
          <p:cNvPr id="16" name="txt-170"/>
          <p:cNvSpPr txBox="1"/>
          <p:nvPr/>
        </p:nvSpPr>
        <p:spPr>
          <a:xfrm>
            <a:off x="5044288" y="2011680"/>
            <a:ext cx="6400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2400" b="1" dirty="0">
                <a:solidFill>
                  <a:schemeClr val="accent6"/>
                </a:solidFill>
              </a:rPr>
              <a:t>02</a:t>
            </a:r>
            <a:endParaRPr lang="en-US" sz="2400" dirty="0"/>
          </a:p>
        </p:txBody>
      </p:sp>
      <p:sp>
        <p:nvSpPr>
          <p:cNvPr id="17" name="txt-171"/>
          <p:cNvSpPr txBox="1"/>
          <p:nvPr/>
        </p:nvSpPr>
        <p:spPr>
          <a:xfrm>
            <a:off x="3733724" y="2926080"/>
            <a:ext cx="1859204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000" b="1" dirty="0">
                <a:solidFill>
                  <a:schemeClr val="tx2"/>
                </a:solidFill>
              </a:rPr>
              <a:t>소식 발행</a:t>
            </a:r>
            <a:endParaRPr lang="en-US" sz="2000" dirty="0"/>
          </a:p>
        </p:txBody>
      </p:sp>
      <p:sp>
        <p:nvSpPr>
          <p:cNvPr id="18" name="txt-172"/>
          <p:cNvSpPr txBox="1"/>
          <p:nvPr/>
        </p:nvSpPr>
        <p:spPr>
          <a:xfrm>
            <a:off x="3733724" y="3474720"/>
            <a:ext cx="1859204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dirty="0">
                <a:solidFill>
                  <a:schemeClr val="tx1"/>
                </a:solidFill>
              </a:rPr>
              <a:t>검진 일정, 명절·연휴 진료 안내를 플레이스 소식으로</a:t>
            </a:r>
            <a:endParaRPr lang="en-US" sz="1500" dirty="0"/>
          </a:p>
        </p:txBody>
      </p:sp>
      <p:sp>
        <p:nvSpPr>
          <p:cNvPr id="19" name="arr-173"/>
          <p:cNvSpPr/>
          <p:nvPr/>
        </p:nvSpPr>
        <p:spPr>
          <a:xfrm>
            <a:off x="5986120" y="3291840"/>
            <a:ext cx="219456" cy="292608"/>
          </a:xfrm>
          <a:prstGeom prst="rightArrow">
            <a:avLst/>
          </a:prstGeom>
          <a:solidFill>
            <a:schemeClr val="accent6"/>
          </a:solidFill>
          <a:ln w="12700">
            <a:solidFill>
              <a:schemeClr val="accent6"/>
            </a:solidFill>
            <a:prstDash val="solid"/>
          </a:ln>
        </p:spPr>
      </p:sp>
      <p:sp>
        <p:nvSpPr>
          <p:cNvPr id="20" name="box-174"/>
          <p:cNvSpPr/>
          <p:nvPr/>
        </p:nvSpPr>
        <p:spPr>
          <a:xfrm>
            <a:off x="6278728" y="1691640"/>
            <a:ext cx="2499284" cy="3566160"/>
          </a:xfrm>
          <a:prstGeom prst="roundRect">
            <a:avLst>
              <a:gd name="adj" fmla="val 5122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21" name="ic-bg-175"/>
          <p:cNvSpPr/>
          <p:nvPr/>
        </p:nvSpPr>
        <p:spPr>
          <a:xfrm>
            <a:off x="6598768" y="1965960"/>
            <a:ext cx="731520" cy="731520"/>
          </a:xfrm>
          <a:prstGeom prst="ellipse">
            <a:avLst/>
          </a:prstGeom>
          <a:solidFill>
            <a:srgbClr val="1E8C82"/>
          </a:solidFill>
          <a:ln w="12700">
            <a:solidFill>
              <a:srgbClr val="1E8C82"/>
            </a:solidFill>
            <a:prstDash val="solid"/>
          </a:ln>
        </p:spPr>
      </p:sp>
      <p:pic>
        <p:nvPicPr>
          <p:cNvPr id="22" name="ic-176" descr="FaComments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781648" y="2148840"/>
            <a:ext cx="365760" cy="365760"/>
          </a:xfrm>
          <a:prstGeom prst="rect">
            <a:avLst/>
          </a:prstGeom>
        </p:spPr>
      </p:pic>
      <p:sp>
        <p:nvSpPr>
          <p:cNvPr id="23" name="txt-177"/>
          <p:cNvSpPr txBox="1"/>
          <p:nvPr/>
        </p:nvSpPr>
        <p:spPr>
          <a:xfrm>
            <a:off x="7909331" y="2011680"/>
            <a:ext cx="6400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2400" b="1" dirty="0">
                <a:solidFill>
                  <a:schemeClr val="accent6"/>
                </a:solidFill>
              </a:rPr>
              <a:t>03</a:t>
            </a:r>
            <a:endParaRPr lang="en-US" sz="2400" dirty="0"/>
          </a:p>
        </p:txBody>
      </p:sp>
      <p:sp>
        <p:nvSpPr>
          <p:cNvPr id="24" name="txt-178"/>
          <p:cNvSpPr txBox="1"/>
          <p:nvPr/>
        </p:nvSpPr>
        <p:spPr>
          <a:xfrm>
            <a:off x="6598768" y="2926080"/>
            <a:ext cx="1859204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000" b="1" dirty="0">
                <a:solidFill>
                  <a:schemeClr val="tx2"/>
                </a:solidFill>
              </a:rPr>
              <a:t>리뷰 답글</a:t>
            </a:r>
            <a:endParaRPr lang="en-US" sz="2000" dirty="0"/>
          </a:p>
        </p:txBody>
      </p:sp>
      <p:sp>
        <p:nvSpPr>
          <p:cNvPr id="25" name="txt-179"/>
          <p:cNvSpPr txBox="1"/>
          <p:nvPr/>
        </p:nvSpPr>
        <p:spPr>
          <a:xfrm>
            <a:off x="6598768" y="3474720"/>
            <a:ext cx="1859204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dirty="0">
                <a:solidFill>
                  <a:schemeClr val="tx1"/>
                </a:solidFill>
              </a:rPr>
              <a:t>네이버·카카오 리뷰에 병원 명의 답글, 불만 리뷰는 협의 후 대응</a:t>
            </a:r>
            <a:endParaRPr lang="en-US" sz="1500" dirty="0"/>
          </a:p>
        </p:txBody>
      </p:sp>
      <p:sp>
        <p:nvSpPr>
          <p:cNvPr id="26" name="arr-180"/>
          <p:cNvSpPr/>
          <p:nvPr/>
        </p:nvSpPr>
        <p:spPr>
          <a:xfrm>
            <a:off x="8851163" y="3291840"/>
            <a:ext cx="219456" cy="292608"/>
          </a:xfrm>
          <a:prstGeom prst="rightArrow">
            <a:avLst/>
          </a:prstGeom>
          <a:solidFill>
            <a:schemeClr val="accent6"/>
          </a:solidFill>
          <a:ln w="12700">
            <a:solidFill>
              <a:schemeClr val="accent6"/>
            </a:solidFill>
            <a:prstDash val="solid"/>
          </a:ln>
        </p:spPr>
      </p:sp>
      <p:sp>
        <p:nvSpPr>
          <p:cNvPr id="27" name="box-181"/>
          <p:cNvSpPr/>
          <p:nvPr/>
        </p:nvSpPr>
        <p:spPr>
          <a:xfrm>
            <a:off x="9143771" y="1691640"/>
            <a:ext cx="2499284" cy="3566160"/>
          </a:xfrm>
          <a:prstGeom prst="roundRect">
            <a:avLst>
              <a:gd name="adj" fmla="val 5122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28" name="ic-bg-182"/>
          <p:cNvSpPr/>
          <p:nvPr/>
        </p:nvSpPr>
        <p:spPr>
          <a:xfrm>
            <a:off x="9463811" y="1965960"/>
            <a:ext cx="731520" cy="731520"/>
          </a:xfrm>
          <a:prstGeom prst="ellipse">
            <a:avLst/>
          </a:prstGeom>
          <a:solidFill>
            <a:srgbClr val="1E8C82"/>
          </a:solidFill>
          <a:ln w="12700">
            <a:solidFill>
              <a:srgbClr val="1E8C82"/>
            </a:solidFill>
            <a:prstDash val="solid"/>
          </a:ln>
        </p:spPr>
      </p:sp>
      <p:pic>
        <p:nvPicPr>
          <p:cNvPr id="29" name="ic-183" descr="FaChartLine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646691" y="2148840"/>
            <a:ext cx="365760" cy="365760"/>
          </a:xfrm>
          <a:prstGeom prst="rect">
            <a:avLst/>
          </a:prstGeom>
        </p:spPr>
      </p:pic>
      <p:sp>
        <p:nvSpPr>
          <p:cNvPr id="30" name="txt-184"/>
          <p:cNvSpPr txBox="1"/>
          <p:nvPr/>
        </p:nvSpPr>
        <p:spPr>
          <a:xfrm>
            <a:off x="10774375" y="2011680"/>
            <a:ext cx="6400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2400" b="1" dirty="0">
                <a:solidFill>
                  <a:schemeClr val="accent6"/>
                </a:solidFill>
              </a:rPr>
              <a:t>04</a:t>
            </a:r>
            <a:endParaRPr lang="en-US" sz="2400" dirty="0"/>
          </a:p>
        </p:txBody>
      </p:sp>
      <p:sp>
        <p:nvSpPr>
          <p:cNvPr id="31" name="txt-185"/>
          <p:cNvSpPr txBox="1"/>
          <p:nvPr/>
        </p:nvSpPr>
        <p:spPr>
          <a:xfrm>
            <a:off x="9463811" y="2926080"/>
            <a:ext cx="1859204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000" b="1" dirty="0">
                <a:solidFill>
                  <a:schemeClr val="tx2"/>
                </a:solidFill>
              </a:rPr>
              <a:t>월간 리포트</a:t>
            </a:r>
            <a:endParaRPr lang="en-US" sz="2000" dirty="0"/>
          </a:p>
        </p:txBody>
      </p:sp>
      <p:sp>
        <p:nvSpPr>
          <p:cNvPr id="32" name="txt-186"/>
          <p:cNvSpPr txBox="1"/>
          <p:nvPr/>
        </p:nvSpPr>
        <p:spPr>
          <a:xfrm>
            <a:off x="9463811" y="3474720"/>
            <a:ext cx="1859204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dirty="0">
                <a:solidFill>
                  <a:schemeClr val="tx1"/>
                </a:solidFill>
              </a:rPr>
              <a:t>노출 순위·전화·길찾기 수와 다음 달 개선점 보고</a:t>
            </a:r>
            <a:endParaRPr lang="en-US" sz="1500" dirty="0"/>
          </a:p>
        </p:txBody>
      </p:sp>
      <p:sp>
        <p:nvSpPr>
          <p:cNvPr id="33" name="txt-187"/>
          <p:cNvSpPr txBox="1"/>
          <p:nvPr/>
        </p:nvSpPr>
        <p:spPr>
          <a:xfrm>
            <a:off x="548640" y="5532120"/>
            <a:ext cx="11094415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b="1" dirty="0">
                <a:solidFill>
                  <a:schemeClr val="tx2"/>
                </a:solidFill>
              </a:rPr>
              <a:t>병원 담당자는 월 1회 리포트만 확인하시면 됩니다.</a:t>
            </a:r>
            <a:endParaRPr lang="en-US" sz="15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94415" y="6419088"/>
            <a:ext cx="548640" cy="256032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6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9</a:t>
            </a:fld>
            <a:endParaRPr lang="en-US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body" hasCustomPrompt="1"/>
          </p:nvPr>
        </p:nvSpPr>
        <p:spPr>
          <a:xfrm>
            <a:off x="548640" y="320040"/>
            <a:ext cx="7315200" cy="320040"/>
          </a:xfrm>
          <a:prstGeom prst="rect">
            <a:avLst/>
          </a:prstGeom>
          <a:noFill/>
          <a:ln/>
        </p:spPr>
        <p:txBody>
          <a:bodyPr wrap="square" lIns="0" tIns="0" rIns="0" bIns="0" rtlCol="0"/>
          <a:lstStyle/>
          <a:p>
            <a:pPr algn="l" indent="0" marL="0">
              <a:buNone/>
            </a:pPr>
            <a:r>
              <a:rPr lang="en-US" sz="1200" b="1" dirty="0">
                <a:solidFill>
                  <a:schemeClr val="accent1"/>
                </a:solidFill>
              </a:rPr>
              <a:t>03  선택 옵션</a:t>
            </a:r>
            <a:endParaRPr lang="en-US" sz="1200" dirty="0"/>
          </a:p>
        </p:txBody>
      </p:sp>
      <p:sp>
        <p:nvSpPr>
          <p:cNvPr id="3" name="Text 0"/>
          <p:cNvSpPr/>
          <p:nvPr>
            <p:ph idx="101" type="title" hasCustomPrompt="1"/>
          </p:nvPr>
        </p:nvSpPr>
        <p:spPr>
          <a:xfrm>
            <a:off x="548640" y="640080"/>
            <a:ext cx="11094415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chemeClr val="tx2"/>
                </a:solidFill>
              </a:rPr>
              <a:t>필요하면 네이버 플레이스 영수증 리뷰로 타깃을 더 좁힙니다</a:t>
            </a:r>
            <a:endParaRPr lang="en-US" sz="2800" dirty="0"/>
          </a:p>
        </p:txBody>
      </p:sp>
      <p:sp>
        <p:nvSpPr>
          <p:cNvPr id="4" name="txt-188"/>
          <p:cNvSpPr txBox="1"/>
          <p:nvPr/>
        </p:nvSpPr>
        <p:spPr>
          <a:xfrm>
            <a:off x="548640" y="1600200"/>
            <a:ext cx="566928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dirty="0">
                <a:solidFill>
                  <a:schemeClr val="tx1"/>
                </a:solidFill>
              </a:rPr>
              <a:t>리뷰는 지도에서 병원을 고르는 결정적 근거입니다. 실제 진료받은 분들의 영수증 리뷰에 ‘검진’, ‘응급’, ‘정형외과’ 경험이 쌓이면, 그 진료를 찾는 사람에게 예산명지가 더 잘 보입니다.</a:t>
            </a:r>
            <a:endParaRPr lang="en-US" sz="1600" dirty="0"/>
          </a:p>
        </p:txBody>
      </p:sp>
      <p:sp>
        <p:nvSpPr>
          <p:cNvPr id="5" name="ic-bg-189"/>
          <p:cNvSpPr/>
          <p:nvPr/>
        </p:nvSpPr>
        <p:spPr>
          <a:xfrm>
            <a:off x="548640" y="3154680"/>
            <a:ext cx="548640" cy="548640"/>
          </a:xfrm>
          <a:prstGeom prst="ellipse">
            <a:avLst/>
          </a:prstGeom>
          <a:solidFill>
            <a:srgbClr val="1E8C82"/>
          </a:solidFill>
          <a:ln w="12700">
            <a:solidFill>
              <a:srgbClr val="1E8C82"/>
            </a:solidFill>
            <a:prstDash val="solid"/>
          </a:ln>
        </p:spPr>
      </p:sp>
      <p:pic>
        <p:nvPicPr>
          <p:cNvPr id="6" name="ic-190" descr="FaQrcode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85800" y="3291840"/>
            <a:ext cx="274320" cy="274320"/>
          </a:xfrm>
          <a:prstGeom prst="rect">
            <a:avLst/>
          </a:prstGeom>
        </p:spPr>
      </p:pic>
      <p:sp>
        <p:nvSpPr>
          <p:cNvPr id="7" name="txt-191"/>
          <p:cNvSpPr txBox="1"/>
          <p:nvPr/>
        </p:nvSpPr>
        <p:spPr>
          <a:xfrm>
            <a:off x="1325880" y="3154680"/>
            <a:ext cx="49377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chemeClr val="tx1"/>
                </a:solidFill>
              </a:rPr>
              <a:t>원무과·검진센터·응급실에 영수증 리뷰 참여 안내(QR) 비치</a:t>
            </a:r>
            <a:endParaRPr lang="en-US" sz="1500" dirty="0"/>
          </a:p>
        </p:txBody>
      </p:sp>
      <p:sp>
        <p:nvSpPr>
          <p:cNvPr id="8" name="ic-bg-192"/>
          <p:cNvSpPr/>
          <p:nvPr/>
        </p:nvSpPr>
        <p:spPr>
          <a:xfrm>
            <a:off x="548640" y="4023360"/>
            <a:ext cx="548640" cy="548640"/>
          </a:xfrm>
          <a:prstGeom prst="ellipse">
            <a:avLst/>
          </a:prstGeom>
          <a:solidFill>
            <a:srgbClr val="1E8C82"/>
          </a:solidFill>
          <a:ln w="12700">
            <a:solidFill>
              <a:srgbClr val="1E8C82"/>
            </a:solidFill>
            <a:prstDash val="solid"/>
          </a:ln>
        </p:spPr>
      </p:sp>
      <p:pic>
        <p:nvPicPr>
          <p:cNvPr id="9" name="ic-193" descr="FaIndustry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85800" y="4160520"/>
            <a:ext cx="274320" cy="274320"/>
          </a:xfrm>
          <a:prstGeom prst="rect">
            <a:avLst/>
          </a:prstGeom>
        </p:spPr>
      </p:pic>
      <p:sp>
        <p:nvSpPr>
          <p:cNvPr id="10" name="txt-194"/>
          <p:cNvSpPr txBox="1"/>
          <p:nvPr/>
        </p:nvSpPr>
        <p:spPr>
          <a:xfrm>
            <a:off x="1325880" y="4023360"/>
            <a:ext cx="49377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chemeClr val="tx1"/>
                </a:solidFill>
              </a:rPr>
              <a:t>검진 기업에 근로자용 리뷰 참여 안내문 제공</a:t>
            </a:r>
            <a:endParaRPr lang="en-US" sz="1500" dirty="0"/>
          </a:p>
        </p:txBody>
      </p:sp>
      <p:sp>
        <p:nvSpPr>
          <p:cNvPr id="11" name="ic-bg-195"/>
          <p:cNvSpPr/>
          <p:nvPr/>
        </p:nvSpPr>
        <p:spPr>
          <a:xfrm>
            <a:off x="548640" y="4892040"/>
            <a:ext cx="548640" cy="548640"/>
          </a:xfrm>
          <a:prstGeom prst="ellipse">
            <a:avLst/>
          </a:prstGeom>
          <a:solidFill>
            <a:srgbClr val="1E8C82"/>
          </a:solidFill>
          <a:ln w="12700">
            <a:solidFill>
              <a:srgbClr val="1E8C82"/>
            </a:solidFill>
            <a:prstDash val="solid"/>
          </a:ln>
        </p:spPr>
      </p:sp>
      <p:pic>
        <p:nvPicPr>
          <p:cNvPr id="12" name="ic-196" descr="FaComments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85800" y="5029200"/>
            <a:ext cx="274320" cy="274320"/>
          </a:xfrm>
          <a:prstGeom prst="rect">
            <a:avLst/>
          </a:prstGeom>
        </p:spPr>
      </p:pic>
      <p:sp>
        <p:nvSpPr>
          <p:cNvPr id="13" name="txt-197"/>
          <p:cNvSpPr txBox="1"/>
          <p:nvPr/>
        </p:nvSpPr>
        <p:spPr>
          <a:xfrm>
            <a:off x="1325880" y="4892040"/>
            <a:ext cx="49377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chemeClr val="tx1"/>
                </a:solidFill>
              </a:rPr>
              <a:t>모든 리뷰에 병원 명의 답글로 신뢰 형성</a:t>
            </a:r>
            <a:endParaRPr lang="en-US" sz="1500" dirty="0"/>
          </a:p>
        </p:txBody>
      </p:sp>
      <p:sp>
        <p:nvSpPr>
          <p:cNvPr id="14" name="box-198"/>
          <p:cNvSpPr/>
          <p:nvPr/>
        </p:nvSpPr>
        <p:spPr>
          <a:xfrm>
            <a:off x="6675120" y="1600200"/>
            <a:ext cx="4967935" cy="4297680"/>
          </a:xfrm>
          <a:prstGeom prst="roundRect">
            <a:avLst>
              <a:gd name="adj" fmla="val 2979"/>
            </a:avLst>
          </a:prstGeom>
          <a:solidFill>
            <a:schemeClr val="tx2"/>
          </a:solidFill>
          <a:ln w="12700">
            <a:solidFill>
              <a:schemeClr val="tx2"/>
            </a:solidFill>
            <a:prstDash val="solid"/>
          </a:ln>
        </p:spPr>
      </p:sp>
      <p:sp>
        <p:nvSpPr>
          <p:cNvPr id="15" name="txt-199"/>
          <p:cNvSpPr txBox="1"/>
          <p:nvPr/>
        </p:nvSpPr>
        <p:spPr>
          <a:xfrm>
            <a:off x="7040880" y="1828800"/>
            <a:ext cx="42062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700" b="1" dirty="0">
                <a:solidFill>
                  <a:schemeClr val="bg1"/>
                </a:solidFill>
              </a:rPr>
              <a:t>쌓이게 할 리뷰 키워드</a:t>
            </a:r>
            <a:endParaRPr lang="en-US" sz="1700" dirty="0"/>
          </a:p>
        </p:txBody>
      </p:sp>
      <p:sp>
        <p:nvSpPr>
          <p:cNvPr id="16" name="dot-200"/>
          <p:cNvSpPr/>
          <p:nvPr/>
        </p:nvSpPr>
        <p:spPr>
          <a:xfrm>
            <a:off x="7040880" y="2532888"/>
            <a:ext cx="274320" cy="274320"/>
          </a:xfrm>
          <a:prstGeom prst="ellipse">
            <a:avLst/>
          </a:prstGeom>
          <a:solidFill>
            <a:srgbClr val="E2563B"/>
          </a:solidFill>
          <a:ln w="12700">
            <a:solidFill>
              <a:srgbClr val="E2563B"/>
            </a:solidFill>
            <a:prstDash val="solid"/>
          </a:ln>
        </p:spPr>
      </p:sp>
      <p:sp>
        <p:nvSpPr>
          <p:cNvPr id="17" name="txt-201"/>
          <p:cNvSpPr txBox="1"/>
          <p:nvPr/>
        </p:nvSpPr>
        <p:spPr>
          <a:xfrm>
            <a:off x="7498080" y="2423160"/>
            <a:ext cx="37490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b="1" dirty="0">
                <a:solidFill>
                  <a:schemeClr val="bg1"/>
                </a:solidFill>
              </a:rPr>
              <a:t>산업단지 근로자</a:t>
            </a:r>
            <a:endParaRPr lang="en-US" sz="1600" dirty="0"/>
          </a:p>
        </p:txBody>
      </p:sp>
      <p:sp>
        <p:nvSpPr>
          <p:cNvPr id="18" name="txt-202"/>
          <p:cNvSpPr txBox="1"/>
          <p:nvPr/>
        </p:nvSpPr>
        <p:spPr>
          <a:xfrm>
            <a:off x="7498080" y="2834640"/>
            <a:ext cx="37490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bg2"/>
                </a:solidFill>
              </a:rPr>
              <a:t>특수·채용·배치전 검진, 산재 진료</a:t>
            </a:r>
            <a:endParaRPr lang="en-US" sz="1400" dirty="0"/>
          </a:p>
        </p:txBody>
      </p:sp>
      <p:sp>
        <p:nvSpPr>
          <p:cNvPr id="19" name="dot-203"/>
          <p:cNvSpPr/>
          <p:nvPr/>
        </p:nvSpPr>
        <p:spPr>
          <a:xfrm>
            <a:off x="7040880" y="3630168"/>
            <a:ext cx="274320" cy="274320"/>
          </a:xfrm>
          <a:prstGeom prst="ellipse">
            <a:avLst/>
          </a:prstGeom>
          <a:solidFill>
            <a:srgbClr val="F5C400"/>
          </a:solidFill>
          <a:ln w="12700">
            <a:solidFill>
              <a:srgbClr val="F5C400"/>
            </a:solidFill>
            <a:prstDash val="solid"/>
          </a:ln>
        </p:spPr>
      </p:sp>
      <p:sp>
        <p:nvSpPr>
          <p:cNvPr id="20" name="txt-204"/>
          <p:cNvSpPr txBox="1"/>
          <p:nvPr/>
        </p:nvSpPr>
        <p:spPr>
          <a:xfrm>
            <a:off x="7498080" y="3520440"/>
            <a:ext cx="37490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b="1" dirty="0">
                <a:solidFill>
                  <a:schemeClr val="bg1"/>
                </a:solidFill>
              </a:rPr>
              <a:t>관광객 · 보호자</a:t>
            </a:r>
            <a:endParaRPr lang="en-US" sz="1600" dirty="0"/>
          </a:p>
        </p:txBody>
      </p:sp>
      <p:sp>
        <p:nvSpPr>
          <p:cNvPr id="21" name="txt-205"/>
          <p:cNvSpPr txBox="1"/>
          <p:nvPr/>
        </p:nvSpPr>
        <p:spPr>
          <a:xfrm>
            <a:off x="7498080" y="3931920"/>
            <a:ext cx="37490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bg2"/>
                </a:solidFill>
              </a:rPr>
              <a:t>응급실, 외상 처치, 친절한 안내</a:t>
            </a:r>
            <a:endParaRPr lang="en-US" sz="1400" dirty="0"/>
          </a:p>
        </p:txBody>
      </p:sp>
      <p:sp>
        <p:nvSpPr>
          <p:cNvPr id="22" name="dot-206"/>
          <p:cNvSpPr/>
          <p:nvPr/>
        </p:nvSpPr>
        <p:spPr>
          <a:xfrm>
            <a:off x="7040880" y="4727448"/>
            <a:ext cx="274320" cy="274320"/>
          </a:xfrm>
          <a:prstGeom prst="ellipse">
            <a:avLst/>
          </a:prstGeom>
          <a:solidFill>
            <a:srgbClr val="03C75A"/>
          </a:solidFill>
          <a:ln w="12700">
            <a:solidFill>
              <a:srgbClr val="03C75A"/>
            </a:solidFill>
            <a:prstDash val="solid"/>
          </a:ln>
        </p:spPr>
      </p:sp>
      <p:sp>
        <p:nvSpPr>
          <p:cNvPr id="23" name="txt-207"/>
          <p:cNvSpPr txBox="1"/>
          <p:nvPr/>
        </p:nvSpPr>
        <p:spPr>
          <a:xfrm>
            <a:off x="7498080" y="4617720"/>
            <a:ext cx="37490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b="1" dirty="0">
                <a:solidFill>
                  <a:schemeClr val="bg1"/>
                </a:solidFill>
              </a:rPr>
              <a:t>지역 주민 · 내포</a:t>
            </a:r>
            <a:endParaRPr lang="en-US" sz="1600" dirty="0"/>
          </a:p>
        </p:txBody>
      </p:sp>
      <p:sp>
        <p:nvSpPr>
          <p:cNvPr id="24" name="txt-208"/>
          <p:cNvSpPr txBox="1"/>
          <p:nvPr/>
        </p:nvSpPr>
        <p:spPr>
          <a:xfrm>
            <a:off x="7498080" y="5029200"/>
            <a:ext cx="37490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bg2"/>
                </a:solidFill>
              </a:rPr>
              <a:t>정형외과, 수술, 재활 치료</a:t>
            </a:r>
            <a:endParaRPr lang="en-US" sz="1400" dirty="0"/>
          </a:p>
        </p:txBody>
      </p:sp>
      <p:sp>
        <p:nvSpPr>
          <p:cNvPr id="25" name="txt-209"/>
          <p:cNvSpPr txBox="1"/>
          <p:nvPr/>
        </p:nvSpPr>
        <p:spPr>
          <a:xfrm>
            <a:off x="548640" y="6053328"/>
            <a:ext cx="11094415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dirty="0">
                <a:solidFill>
                  <a:schemeClr val="accent6"/>
                </a:solidFill>
              </a:rPr>
              <a:t>리뷰는 실제 이용자 본인이 작성합니다. 리뷰 대가 제공 · 작성 대행 · 특정 문구 요청은 하지 않습니다(의료법 준수).</a:t>
            </a:r>
            <a:endParaRPr lang="en-US" sz="10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94415" y="6419088"/>
            <a:ext cx="548640" cy="256032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6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10</a:t>
            </a:fld>
            <a:endParaRPr lang="en-US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body" hasCustomPrompt="1"/>
          </p:nvPr>
        </p:nvSpPr>
        <p:spPr>
          <a:xfrm>
            <a:off x="548640" y="320040"/>
            <a:ext cx="7315200" cy="320040"/>
          </a:xfrm>
          <a:prstGeom prst="rect">
            <a:avLst/>
          </a:prstGeom>
          <a:noFill/>
          <a:ln/>
        </p:spPr>
        <p:txBody>
          <a:bodyPr wrap="square" lIns="0" tIns="0" rIns="0" bIns="0" rtlCol="0"/>
          <a:lstStyle/>
          <a:p>
            <a:pPr algn="l" indent="0" marL="0">
              <a:buNone/>
            </a:pPr>
            <a:r>
              <a:rPr lang="en-US" sz="1200" b="1" dirty="0">
                <a:solidFill>
                  <a:schemeClr val="accent1"/>
                </a:solidFill>
              </a:rPr>
              <a:t>03  확장 제안</a:t>
            </a:r>
            <a:endParaRPr lang="en-US" sz="1200" dirty="0"/>
          </a:p>
        </p:txBody>
      </p:sp>
      <p:sp>
        <p:nvSpPr>
          <p:cNvPr id="3" name="Text 0"/>
          <p:cNvSpPr/>
          <p:nvPr>
            <p:ph idx="101" type="title" hasCustomPrompt="1"/>
          </p:nvPr>
        </p:nvSpPr>
        <p:spPr>
          <a:xfrm>
            <a:off x="548640" y="640080"/>
            <a:ext cx="11094415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chemeClr val="tx2"/>
                </a:solidFill>
              </a:rPr>
              <a:t>외부 부착물로 오프라인에서도 지도 검색을 부릅니다</a:t>
            </a:r>
            <a:endParaRPr lang="en-US" sz="2800" dirty="0"/>
          </a:p>
        </p:txBody>
      </p:sp>
      <p:sp>
        <p:nvSpPr>
          <p:cNvPr id="4" name="box-210"/>
          <p:cNvSpPr/>
          <p:nvPr/>
        </p:nvSpPr>
        <p:spPr>
          <a:xfrm>
            <a:off x="548640" y="1508760"/>
            <a:ext cx="2567864" cy="777240"/>
          </a:xfrm>
          <a:prstGeom prst="roundRect">
            <a:avLst>
              <a:gd name="adj" fmla="val 16471"/>
            </a:avLst>
          </a:prstGeom>
          <a:solidFill>
            <a:schemeClr val="tx2"/>
          </a:solidFill>
          <a:ln w="12700">
            <a:solidFill>
              <a:schemeClr val="tx2"/>
            </a:solidFill>
            <a:prstDash val="solid"/>
          </a:ln>
        </p:spPr>
      </p:sp>
      <p:sp>
        <p:nvSpPr>
          <p:cNvPr id="5" name="ic-bg-211"/>
          <p:cNvSpPr/>
          <p:nvPr/>
        </p:nvSpPr>
        <p:spPr>
          <a:xfrm>
            <a:off x="731520" y="1645920"/>
            <a:ext cx="502920" cy="502920"/>
          </a:xfrm>
          <a:prstGeom prst="ellipse">
            <a:avLst/>
          </a:prstGeom>
          <a:solidFill>
            <a:srgbClr val="E2563B"/>
          </a:solidFill>
          <a:ln w="12700">
            <a:solidFill>
              <a:srgbClr val="E2563B"/>
            </a:solidFill>
            <a:prstDash val="solid"/>
          </a:ln>
        </p:spPr>
      </p:sp>
      <p:pic>
        <p:nvPicPr>
          <p:cNvPr id="6" name="ic-212" descr="FaMapSigns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57250" y="1771650"/>
            <a:ext cx="251460" cy="251460"/>
          </a:xfrm>
          <a:prstGeom prst="rect">
            <a:avLst/>
          </a:prstGeom>
        </p:spPr>
      </p:pic>
      <p:sp>
        <p:nvSpPr>
          <p:cNvPr id="7" name="txt-213"/>
          <p:cNvSpPr txBox="1"/>
          <p:nvPr/>
        </p:nvSpPr>
        <p:spPr>
          <a:xfrm>
            <a:off x="1371600" y="1508760"/>
            <a:ext cx="1653464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chemeClr val="bg1"/>
                </a:solidFill>
              </a:rPr>
              <a:t>외부 부착물</a:t>
            </a:r>
            <a:endParaRPr lang="en-US" sz="1500" dirty="0"/>
          </a:p>
        </p:txBody>
      </p:sp>
      <p:sp>
        <p:nvSpPr>
          <p:cNvPr id="8" name="arr-214"/>
          <p:cNvSpPr/>
          <p:nvPr/>
        </p:nvSpPr>
        <p:spPr>
          <a:xfrm>
            <a:off x="3153080" y="1764792"/>
            <a:ext cx="201168" cy="274320"/>
          </a:xfrm>
          <a:prstGeom prst="rightArrow">
            <a:avLst/>
          </a:prstGeom>
          <a:solidFill>
            <a:schemeClr val="accent6"/>
          </a:solidFill>
          <a:ln w="12700">
            <a:solidFill>
              <a:schemeClr val="accent6"/>
            </a:solidFill>
            <a:prstDash val="solid"/>
          </a:ln>
        </p:spPr>
      </p:sp>
      <p:sp>
        <p:nvSpPr>
          <p:cNvPr id="9" name="box-215"/>
          <p:cNvSpPr/>
          <p:nvPr/>
        </p:nvSpPr>
        <p:spPr>
          <a:xfrm>
            <a:off x="3390824" y="1508760"/>
            <a:ext cx="2567864" cy="777240"/>
          </a:xfrm>
          <a:prstGeom prst="roundRect">
            <a:avLst>
              <a:gd name="adj" fmla="val 16471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10" name="ic-bg-216"/>
          <p:cNvSpPr/>
          <p:nvPr/>
        </p:nvSpPr>
        <p:spPr>
          <a:xfrm>
            <a:off x="3573704" y="1645920"/>
            <a:ext cx="502920" cy="502920"/>
          </a:xfrm>
          <a:prstGeom prst="ellipse">
            <a:avLst/>
          </a:prstGeom>
          <a:solidFill>
            <a:srgbClr val="1E8C82"/>
          </a:solidFill>
          <a:ln w="12700">
            <a:solidFill>
              <a:srgbClr val="1E8C82"/>
            </a:solidFill>
            <a:prstDash val="solid"/>
          </a:ln>
        </p:spPr>
      </p:sp>
      <p:pic>
        <p:nvPicPr>
          <p:cNvPr id="11" name="ic-217" descr="FaQrcode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699434" y="1771650"/>
            <a:ext cx="251460" cy="251460"/>
          </a:xfrm>
          <a:prstGeom prst="rect">
            <a:avLst/>
          </a:prstGeom>
        </p:spPr>
      </p:pic>
      <p:sp>
        <p:nvSpPr>
          <p:cNvPr id="12" name="txt-218"/>
          <p:cNvSpPr txBox="1"/>
          <p:nvPr/>
        </p:nvSpPr>
        <p:spPr>
          <a:xfrm>
            <a:off x="4213784" y="1508760"/>
            <a:ext cx="1653464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chemeClr val="tx2"/>
                </a:solidFill>
              </a:rPr>
              <a:t>‘예산명지병원’ 검색 · QR</a:t>
            </a:r>
            <a:endParaRPr lang="en-US" sz="1500" dirty="0"/>
          </a:p>
        </p:txBody>
      </p:sp>
      <p:sp>
        <p:nvSpPr>
          <p:cNvPr id="13" name="arr-219"/>
          <p:cNvSpPr/>
          <p:nvPr/>
        </p:nvSpPr>
        <p:spPr>
          <a:xfrm>
            <a:off x="5995264" y="1764792"/>
            <a:ext cx="201168" cy="274320"/>
          </a:xfrm>
          <a:prstGeom prst="rightArrow">
            <a:avLst/>
          </a:prstGeom>
          <a:solidFill>
            <a:schemeClr val="accent6"/>
          </a:solidFill>
          <a:ln w="12700">
            <a:solidFill>
              <a:schemeClr val="accent6"/>
            </a:solidFill>
            <a:prstDash val="solid"/>
          </a:ln>
        </p:spPr>
      </p:sp>
      <p:sp>
        <p:nvSpPr>
          <p:cNvPr id="14" name="box-220"/>
          <p:cNvSpPr/>
          <p:nvPr/>
        </p:nvSpPr>
        <p:spPr>
          <a:xfrm>
            <a:off x="6233008" y="1508760"/>
            <a:ext cx="2567864" cy="777240"/>
          </a:xfrm>
          <a:prstGeom prst="roundRect">
            <a:avLst>
              <a:gd name="adj" fmla="val 16471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15" name="ic-bg-221"/>
          <p:cNvSpPr/>
          <p:nvPr/>
        </p:nvSpPr>
        <p:spPr>
          <a:xfrm>
            <a:off x="6415888" y="1645920"/>
            <a:ext cx="502920" cy="502920"/>
          </a:xfrm>
          <a:prstGeom prst="ellipse">
            <a:avLst/>
          </a:prstGeom>
          <a:solidFill>
            <a:srgbClr val="1E8C82"/>
          </a:solidFill>
          <a:ln w="12700">
            <a:solidFill>
              <a:srgbClr val="1E8C82"/>
            </a:solidFill>
            <a:prstDash val="solid"/>
          </a:ln>
        </p:spPr>
      </p:sp>
      <p:pic>
        <p:nvPicPr>
          <p:cNvPr id="16" name="ic-222" descr="FaMapMarkerAlt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541618" y="1771650"/>
            <a:ext cx="251460" cy="251460"/>
          </a:xfrm>
          <a:prstGeom prst="rect">
            <a:avLst/>
          </a:prstGeom>
        </p:spPr>
      </p:pic>
      <p:sp>
        <p:nvSpPr>
          <p:cNvPr id="17" name="txt-223"/>
          <p:cNvSpPr txBox="1"/>
          <p:nvPr/>
        </p:nvSpPr>
        <p:spPr>
          <a:xfrm>
            <a:off x="7055968" y="1508760"/>
            <a:ext cx="1653464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chemeClr val="tx2"/>
                </a:solidFill>
              </a:rPr>
              <a:t>지도에서 위치 · 정보 확인</a:t>
            </a:r>
            <a:endParaRPr lang="en-US" sz="1500" dirty="0"/>
          </a:p>
        </p:txBody>
      </p:sp>
      <p:sp>
        <p:nvSpPr>
          <p:cNvPr id="18" name="arr-224"/>
          <p:cNvSpPr/>
          <p:nvPr/>
        </p:nvSpPr>
        <p:spPr>
          <a:xfrm>
            <a:off x="8837447" y="1764792"/>
            <a:ext cx="201168" cy="274320"/>
          </a:xfrm>
          <a:prstGeom prst="rightArrow">
            <a:avLst/>
          </a:prstGeom>
          <a:solidFill>
            <a:schemeClr val="accent6"/>
          </a:solidFill>
          <a:ln w="12700">
            <a:solidFill>
              <a:schemeClr val="accent6"/>
            </a:solidFill>
            <a:prstDash val="solid"/>
          </a:ln>
        </p:spPr>
      </p:sp>
      <p:sp>
        <p:nvSpPr>
          <p:cNvPr id="19" name="box-225"/>
          <p:cNvSpPr/>
          <p:nvPr/>
        </p:nvSpPr>
        <p:spPr>
          <a:xfrm>
            <a:off x="9075191" y="1508760"/>
            <a:ext cx="2567864" cy="777240"/>
          </a:xfrm>
          <a:prstGeom prst="roundRect">
            <a:avLst>
              <a:gd name="adj" fmla="val 16471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20" name="ic-bg-226"/>
          <p:cNvSpPr/>
          <p:nvPr/>
        </p:nvSpPr>
        <p:spPr>
          <a:xfrm>
            <a:off x="9258071" y="1645920"/>
            <a:ext cx="502920" cy="502920"/>
          </a:xfrm>
          <a:prstGeom prst="ellipse">
            <a:avLst/>
          </a:prstGeom>
          <a:solidFill>
            <a:srgbClr val="1E8C82"/>
          </a:solidFill>
          <a:ln w="12700">
            <a:solidFill>
              <a:srgbClr val="1E8C82"/>
            </a:solidFill>
            <a:prstDash val="solid"/>
          </a:ln>
        </p:spPr>
      </p:sp>
      <p:pic>
        <p:nvPicPr>
          <p:cNvPr id="21" name="ic-227" descr="FaHospital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383801" y="1771650"/>
            <a:ext cx="251460" cy="251460"/>
          </a:xfrm>
          <a:prstGeom prst="rect">
            <a:avLst/>
          </a:prstGeom>
        </p:spPr>
      </p:pic>
      <p:sp>
        <p:nvSpPr>
          <p:cNvPr id="22" name="txt-228"/>
          <p:cNvSpPr txBox="1"/>
          <p:nvPr/>
        </p:nvSpPr>
        <p:spPr>
          <a:xfrm>
            <a:off x="9898151" y="1508760"/>
            <a:ext cx="1653464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chemeClr val="tx2"/>
                </a:solidFill>
              </a:rPr>
              <a:t>내원</a:t>
            </a:r>
            <a:endParaRPr lang="en-US" sz="1500" dirty="0"/>
          </a:p>
        </p:txBody>
      </p:sp>
      <p:sp>
        <p:nvSpPr>
          <p:cNvPr id="23" name="box-229"/>
          <p:cNvSpPr/>
          <p:nvPr/>
        </p:nvSpPr>
        <p:spPr>
          <a:xfrm>
            <a:off x="548640" y="2560320"/>
            <a:ext cx="5364328" cy="1280160"/>
          </a:xfrm>
          <a:prstGeom prst="roundRect">
            <a:avLst>
              <a:gd name="adj" fmla="val 10000"/>
            </a:avLst>
          </a:prstGeom>
          <a:solidFill>
            <a:schemeClr val="bg1"/>
          </a:solidFill>
          <a:ln w="12700">
            <a:solidFill>
              <a:schemeClr val="bg1"/>
            </a:solidFill>
            <a:prstDash val="solid"/>
          </a:ln>
          <a:effectLst>
            <a:outerShdw sx="100000" sy="100000" kx="0" ky="0" algn="bl" rotWithShape="0" blurRad="101600" dist="25400" dir="5400000">
              <a:srgbClr val="0F3B40">
                <a:alpha val="12000"/>
              </a:srgbClr>
            </a:outerShdw>
          </a:effectLst>
        </p:spPr>
      </p:sp>
      <p:sp>
        <p:nvSpPr>
          <p:cNvPr id="24" name="ic-bg-230"/>
          <p:cNvSpPr/>
          <p:nvPr/>
        </p:nvSpPr>
        <p:spPr>
          <a:xfrm>
            <a:off x="822960" y="2834640"/>
            <a:ext cx="731520" cy="731520"/>
          </a:xfrm>
          <a:prstGeom prst="ellipse">
            <a:avLst/>
          </a:prstGeom>
          <a:solidFill>
            <a:srgbClr val="1E8C82"/>
          </a:solidFill>
          <a:ln w="12700">
            <a:solidFill>
              <a:srgbClr val="1E8C82"/>
            </a:solidFill>
            <a:prstDash val="solid"/>
          </a:ln>
        </p:spPr>
      </p:sp>
      <p:pic>
        <p:nvPicPr>
          <p:cNvPr id="25" name="ic-231" descr="FaTrain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005840" y="3017520"/>
            <a:ext cx="365760" cy="365760"/>
          </a:xfrm>
          <a:prstGeom prst="rect">
            <a:avLst/>
          </a:prstGeom>
        </p:spPr>
      </p:pic>
      <p:sp>
        <p:nvSpPr>
          <p:cNvPr id="26" name="txt-232"/>
          <p:cNvSpPr txBox="1"/>
          <p:nvPr/>
        </p:nvSpPr>
        <p:spPr>
          <a:xfrm>
            <a:off x="1783080" y="2788920"/>
            <a:ext cx="3901288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b="1" dirty="0">
                <a:solidFill>
                  <a:schemeClr val="tx2"/>
                </a:solidFill>
              </a:rPr>
              <a:t>장항선 역 (신례원역 · 예산역)</a:t>
            </a:r>
            <a:endParaRPr lang="en-US" sz="1800" dirty="0"/>
          </a:p>
        </p:txBody>
      </p:sp>
      <p:sp>
        <p:nvSpPr>
          <p:cNvPr id="27" name="txt-233"/>
          <p:cNvSpPr txBox="1"/>
          <p:nvPr/>
        </p:nvSpPr>
        <p:spPr>
          <a:xfrm>
            <a:off x="1783080" y="3218688"/>
            <a:ext cx="3901288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역사 내 광고판, 출구 쪽 병원 방향 안내</a:t>
            </a:r>
            <a:endParaRPr lang="en-US" sz="1400" dirty="0"/>
          </a:p>
        </p:txBody>
      </p:sp>
      <p:sp>
        <p:nvSpPr>
          <p:cNvPr id="28" name="box-234"/>
          <p:cNvSpPr/>
          <p:nvPr/>
        </p:nvSpPr>
        <p:spPr>
          <a:xfrm>
            <a:off x="6278728" y="2560320"/>
            <a:ext cx="5364328" cy="1280160"/>
          </a:xfrm>
          <a:prstGeom prst="roundRect">
            <a:avLst>
              <a:gd name="adj" fmla="val 10000"/>
            </a:avLst>
          </a:prstGeom>
          <a:solidFill>
            <a:schemeClr val="bg1"/>
          </a:solidFill>
          <a:ln w="12700">
            <a:solidFill>
              <a:schemeClr val="bg1"/>
            </a:solidFill>
            <a:prstDash val="solid"/>
          </a:ln>
          <a:effectLst>
            <a:outerShdw sx="100000" sy="100000" kx="0" ky="0" algn="bl" rotWithShape="0" blurRad="101600" dist="25400" dir="5400000">
              <a:srgbClr val="0F3B40">
                <a:alpha val="12000"/>
              </a:srgbClr>
            </a:outerShdw>
          </a:effectLst>
        </p:spPr>
      </p:sp>
      <p:sp>
        <p:nvSpPr>
          <p:cNvPr id="29" name="ic-bg-235"/>
          <p:cNvSpPr/>
          <p:nvPr/>
        </p:nvSpPr>
        <p:spPr>
          <a:xfrm>
            <a:off x="6553048" y="2834640"/>
            <a:ext cx="731520" cy="731520"/>
          </a:xfrm>
          <a:prstGeom prst="ellipse">
            <a:avLst/>
          </a:prstGeom>
          <a:solidFill>
            <a:srgbClr val="1E8C82"/>
          </a:solidFill>
          <a:ln w="12700">
            <a:solidFill>
              <a:srgbClr val="1E8C82"/>
            </a:solidFill>
            <a:prstDash val="solid"/>
          </a:ln>
        </p:spPr>
      </p:sp>
      <p:pic>
        <p:nvPicPr>
          <p:cNvPr id="30" name="ic-236" descr="FaBus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735928" y="3017520"/>
            <a:ext cx="365760" cy="365760"/>
          </a:xfrm>
          <a:prstGeom prst="rect">
            <a:avLst/>
          </a:prstGeom>
        </p:spPr>
      </p:pic>
      <p:sp>
        <p:nvSpPr>
          <p:cNvPr id="31" name="txt-237"/>
          <p:cNvSpPr txBox="1"/>
          <p:nvPr/>
        </p:nvSpPr>
        <p:spPr>
          <a:xfrm>
            <a:off x="7513168" y="2788920"/>
            <a:ext cx="3901288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b="1" dirty="0">
                <a:solidFill>
                  <a:schemeClr val="tx2"/>
                </a:solidFill>
              </a:rPr>
              <a:t>버스 승강장 · 농어촌버스</a:t>
            </a:r>
            <a:endParaRPr lang="en-US" sz="1800" dirty="0"/>
          </a:p>
        </p:txBody>
      </p:sp>
      <p:sp>
        <p:nvSpPr>
          <p:cNvPr id="32" name="txt-238"/>
          <p:cNvSpPr txBox="1"/>
          <p:nvPr/>
        </p:nvSpPr>
        <p:spPr>
          <a:xfrm>
            <a:off x="7513168" y="3218688"/>
            <a:ext cx="3901288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병원 인근 정류장 쉘터, 터미널 경유 노선 차량 외부</a:t>
            </a:r>
            <a:endParaRPr lang="en-US" sz="1400" dirty="0"/>
          </a:p>
        </p:txBody>
      </p:sp>
      <p:sp>
        <p:nvSpPr>
          <p:cNvPr id="33" name="box-239"/>
          <p:cNvSpPr/>
          <p:nvPr/>
        </p:nvSpPr>
        <p:spPr>
          <a:xfrm>
            <a:off x="548640" y="4023360"/>
            <a:ext cx="5364328" cy="1280160"/>
          </a:xfrm>
          <a:prstGeom prst="roundRect">
            <a:avLst>
              <a:gd name="adj" fmla="val 10000"/>
            </a:avLst>
          </a:prstGeom>
          <a:solidFill>
            <a:schemeClr val="bg1"/>
          </a:solidFill>
          <a:ln w="12700">
            <a:solidFill>
              <a:schemeClr val="bg1"/>
            </a:solidFill>
            <a:prstDash val="solid"/>
          </a:ln>
          <a:effectLst>
            <a:outerShdw sx="100000" sy="100000" kx="0" ky="0" algn="bl" rotWithShape="0" blurRad="101600" dist="25400" dir="5400000">
              <a:srgbClr val="0F3B40">
                <a:alpha val="12000"/>
              </a:srgbClr>
            </a:outerShdw>
          </a:effectLst>
        </p:spPr>
      </p:sp>
      <p:sp>
        <p:nvSpPr>
          <p:cNvPr id="34" name="ic-bg-240"/>
          <p:cNvSpPr/>
          <p:nvPr/>
        </p:nvSpPr>
        <p:spPr>
          <a:xfrm>
            <a:off x="822960" y="4297680"/>
            <a:ext cx="731520" cy="731520"/>
          </a:xfrm>
          <a:prstGeom prst="ellipse">
            <a:avLst/>
          </a:prstGeom>
          <a:solidFill>
            <a:srgbClr val="1E8C82"/>
          </a:solidFill>
          <a:ln w="12700">
            <a:solidFill>
              <a:srgbClr val="1E8C82"/>
            </a:solidFill>
            <a:prstDash val="solid"/>
          </a:ln>
        </p:spPr>
      </p:sp>
      <p:pic>
        <p:nvPicPr>
          <p:cNvPr id="35" name="ic-241" descr="FaDirections">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1005840" y="4480560"/>
            <a:ext cx="365760" cy="365760"/>
          </a:xfrm>
          <a:prstGeom prst="rect">
            <a:avLst/>
          </a:prstGeom>
        </p:spPr>
      </p:pic>
      <p:sp>
        <p:nvSpPr>
          <p:cNvPr id="36" name="txt-242"/>
          <p:cNvSpPr txBox="1"/>
          <p:nvPr/>
        </p:nvSpPr>
        <p:spPr>
          <a:xfrm>
            <a:off x="1783080" y="4251960"/>
            <a:ext cx="3901288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b="1" dirty="0">
                <a:solidFill>
                  <a:schemeClr val="tx2"/>
                </a:solidFill>
              </a:rPr>
              <a:t>진입로 방향 안내</a:t>
            </a:r>
            <a:endParaRPr lang="en-US" sz="1800" dirty="0"/>
          </a:p>
        </p:txBody>
      </p:sp>
      <p:sp>
        <p:nvSpPr>
          <p:cNvPr id="37" name="txt-243"/>
          <p:cNvSpPr txBox="1"/>
          <p:nvPr/>
        </p:nvSpPr>
        <p:spPr>
          <a:xfrm>
            <a:off x="1783080" y="4681728"/>
            <a:ext cx="3901288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주요 교차로 · 다리 지점의 방향 사인, 응급실 방향 표시</a:t>
            </a:r>
            <a:endParaRPr lang="en-US" sz="1400" dirty="0"/>
          </a:p>
        </p:txBody>
      </p:sp>
      <p:sp>
        <p:nvSpPr>
          <p:cNvPr id="38" name="box-244"/>
          <p:cNvSpPr/>
          <p:nvPr/>
        </p:nvSpPr>
        <p:spPr>
          <a:xfrm>
            <a:off x="6278728" y="4023360"/>
            <a:ext cx="5364328" cy="1280160"/>
          </a:xfrm>
          <a:prstGeom prst="roundRect">
            <a:avLst>
              <a:gd name="adj" fmla="val 10000"/>
            </a:avLst>
          </a:prstGeom>
          <a:solidFill>
            <a:schemeClr val="bg1"/>
          </a:solidFill>
          <a:ln w="12700">
            <a:solidFill>
              <a:schemeClr val="bg1"/>
            </a:solidFill>
            <a:prstDash val="solid"/>
          </a:ln>
          <a:effectLst>
            <a:outerShdw sx="100000" sy="100000" kx="0" ky="0" algn="bl" rotWithShape="0" blurRad="101600" dist="25400" dir="5400000">
              <a:srgbClr val="0F3B40">
                <a:alpha val="12000"/>
              </a:srgbClr>
            </a:outerShdw>
          </a:effectLst>
        </p:spPr>
      </p:sp>
      <p:sp>
        <p:nvSpPr>
          <p:cNvPr id="39" name="ic-bg-245"/>
          <p:cNvSpPr/>
          <p:nvPr/>
        </p:nvSpPr>
        <p:spPr>
          <a:xfrm>
            <a:off x="6553048" y="4297680"/>
            <a:ext cx="731520" cy="731520"/>
          </a:xfrm>
          <a:prstGeom prst="ellipse">
            <a:avLst/>
          </a:prstGeom>
          <a:solidFill>
            <a:srgbClr val="E2563B"/>
          </a:solidFill>
          <a:ln w="12700">
            <a:solidFill>
              <a:srgbClr val="E2563B"/>
            </a:solidFill>
            <a:prstDash val="solid"/>
          </a:ln>
        </p:spPr>
      </p:sp>
      <p:pic>
        <p:nvPicPr>
          <p:cNvPr id="40" name="ic-246" descr="FaIndustry">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6735928" y="4480560"/>
            <a:ext cx="365760" cy="365760"/>
          </a:xfrm>
          <a:prstGeom prst="rect">
            <a:avLst/>
          </a:prstGeom>
        </p:spPr>
      </p:pic>
      <p:sp>
        <p:nvSpPr>
          <p:cNvPr id="41" name="txt-247"/>
          <p:cNvSpPr txBox="1"/>
          <p:nvPr/>
        </p:nvSpPr>
        <p:spPr>
          <a:xfrm>
            <a:off x="7513168" y="4251960"/>
            <a:ext cx="3901288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b="1" dirty="0">
                <a:solidFill>
                  <a:schemeClr val="tx2"/>
                </a:solidFill>
              </a:rPr>
              <a:t>산업단지 · 관광지 거점</a:t>
            </a:r>
            <a:endParaRPr lang="en-US" sz="1800" dirty="0"/>
          </a:p>
        </p:txBody>
      </p:sp>
      <p:sp>
        <p:nvSpPr>
          <p:cNvPr id="42" name="txt-248"/>
          <p:cNvSpPr txBox="1"/>
          <p:nvPr/>
        </p:nvSpPr>
        <p:spPr>
          <a:xfrm>
            <a:off x="7513168" y="4681728"/>
            <a:ext cx="3901288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산단 출입구, 예당호 · 예산시장 주변 지정 게시대</a:t>
            </a:r>
            <a:endParaRPr lang="en-US" sz="1400" dirty="0"/>
          </a:p>
        </p:txBody>
      </p:sp>
      <p:sp>
        <p:nvSpPr>
          <p:cNvPr id="43" name="txt-249"/>
          <p:cNvSpPr txBox="1"/>
          <p:nvPr/>
        </p:nvSpPr>
        <p:spPr>
          <a:xfrm>
            <a:off x="548640" y="5532120"/>
            <a:ext cx="11094415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b="1" dirty="0">
                <a:solidFill>
                  <a:schemeClr val="tx2"/>
                </a:solidFill>
              </a:rPr>
              <a:t>모든 부착물에 ‘네이버 · 티맵에서 예산명지병원 검색’ 문구와 QR을 넣어 지도와 연결합니다.</a:t>
            </a:r>
            <a:endParaRPr lang="en-US" sz="1500" dirty="0"/>
          </a:p>
        </p:txBody>
      </p:sp>
      <p:sp>
        <p:nvSpPr>
          <p:cNvPr id="44" name="txt-250"/>
          <p:cNvSpPr txBox="1"/>
          <p:nvPr/>
        </p:nvSpPr>
        <p:spPr>
          <a:xfrm>
            <a:off x="548640" y="6053328"/>
            <a:ext cx="11094415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dirty="0">
                <a:solidFill>
                  <a:schemeClr val="accent6"/>
                </a:solidFill>
              </a:rPr>
              <a:t>위치 · 매체는 현장 실사 후 확정하며, 설치 전 옥외광고물법에 따른 지자체 허가 · 신고와 의료광고 사전심의를 거칩니다.</a:t>
            </a:r>
            <a:endParaRPr lang="en-US" sz="10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94415" y="6419088"/>
            <a:ext cx="548640" cy="256032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6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11</a:t>
            </a:fld>
            <a:endParaRPr lang="en-US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body" hasCustomPrompt="1"/>
          </p:nvPr>
        </p:nvSpPr>
        <p:spPr>
          <a:xfrm>
            <a:off x="548640" y="320040"/>
            <a:ext cx="7315200" cy="320040"/>
          </a:xfrm>
          <a:prstGeom prst="rect">
            <a:avLst/>
          </a:prstGeom>
          <a:noFill/>
          <a:ln/>
        </p:spPr>
        <p:txBody>
          <a:bodyPr wrap="square" lIns="0" tIns="0" rIns="0" bIns="0" rtlCol="0"/>
          <a:lstStyle/>
          <a:p>
            <a:pPr algn="l" indent="0" marL="0">
              <a:buNone/>
            </a:pPr>
            <a:r>
              <a:rPr lang="en-US" sz="1200" b="1" dirty="0">
                <a:solidFill>
                  <a:schemeClr val="accent1"/>
                </a:solidFill>
              </a:rPr>
              <a:t>03  확장 제안 · 랜드마크 앵커</a:t>
            </a:r>
            <a:endParaRPr lang="en-US" sz="1200" dirty="0"/>
          </a:p>
        </p:txBody>
      </p:sp>
      <p:sp>
        <p:nvSpPr>
          <p:cNvPr id="3" name="Text 0"/>
          <p:cNvSpPr/>
          <p:nvPr>
            <p:ph idx="101" type="title" hasCustomPrompt="1"/>
          </p:nvPr>
        </p:nvSpPr>
        <p:spPr>
          <a:xfrm>
            <a:off x="548640" y="640080"/>
            <a:ext cx="11094415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chemeClr val="tx2"/>
                </a:solidFill>
              </a:rPr>
              <a:t>예산명지 주변의 랜드마크를 ‘길잡이’로 씁니다</a:t>
            </a:r>
            <a:endParaRPr lang="en-US" sz="2800" dirty="0"/>
          </a:p>
        </p:txBody>
      </p:sp>
      <p:sp>
        <p:nvSpPr>
          <p:cNvPr id="4" name="ring-251"/>
          <p:cNvSpPr/>
          <p:nvPr/>
        </p:nvSpPr>
        <p:spPr>
          <a:xfrm>
            <a:off x="868680" y="1554480"/>
            <a:ext cx="4297680" cy="4297680"/>
          </a:xfrm>
          <a:prstGeom prst="ellipse">
            <a:avLst/>
          </a:prstGeom>
          <a:solidFill>
            <a:srgbClr val="EDF3F2"/>
          </a:solidFill>
          <a:ln w="12700">
            <a:solidFill>
              <a:srgbClr val="1E8C82"/>
            </a:solidFill>
            <a:prstDash val="dash"/>
          </a:ln>
        </p:spPr>
      </p:sp>
      <p:sp>
        <p:nvSpPr>
          <p:cNvPr id="5" name="ring-252"/>
          <p:cNvSpPr/>
          <p:nvPr/>
        </p:nvSpPr>
        <p:spPr>
          <a:xfrm>
            <a:off x="1554480" y="2240280"/>
            <a:ext cx="2926080" cy="2926080"/>
          </a:xfrm>
          <a:prstGeom prst="ellipse">
            <a:avLst/>
          </a:prstGeom>
          <a:solidFill>
            <a:srgbClr val="D6E8E5"/>
          </a:solidFill>
          <a:ln w="12700">
            <a:solidFill>
              <a:srgbClr val="1E8C82"/>
            </a:solidFill>
            <a:prstDash val="dash"/>
          </a:ln>
        </p:spPr>
      </p:sp>
      <p:sp>
        <p:nvSpPr>
          <p:cNvPr id="6" name="ring-253"/>
          <p:cNvSpPr/>
          <p:nvPr/>
        </p:nvSpPr>
        <p:spPr>
          <a:xfrm>
            <a:off x="2212848" y="2898648"/>
            <a:ext cx="1609344" cy="1609344"/>
          </a:xfrm>
          <a:prstGeom prst="ellipse">
            <a:avLst/>
          </a:prstGeom>
          <a:solidFill>
            <a:srgbClr val="BEDBD6"/>
          </a:solidFill>
          <a:ln w="12700">
            <a:solidFill>
              <a:srgbClr val="1E8C82"/>
            </a:solidFill>
            <a:prstDash val="dash"/>
          </a:ln>
        </p:spPr>
      </p:sp>
      <p:sp>
        <p:nvSpPr>
          <p:cNvPr id="7" name="txt-254"/>
          <p:cNvSpPr txBox="1"/>
          <p:nvPr/>
        </p:nvSpPr>
        <p:spPr>
          <a:xfrm>
            <a:off x="2468880" y="1600200"/>
            <a:ext cx="1097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100" b="1" dirty="0">
                <a:solidFill>
                  <a:schemeClr val="accent1"/>
                </a:solidFill>
              </a:rPr>
              <a:t>방문권</a:t>
            </a:r>
            <a:endParaRPr lang="en-US" sz="1100" dirty="0"/>
          </a:p>
        </p:txBody>
      </p:sp>
      <p:sp>
        <p:nvSpPr>
          <p:cNvPr id="8" name="txt-255"/>
          <p:cNvSpPr txBox="1"/>
          <p:nvPr/>
        </p:nvSpPr>
        <p:spPr>
          <a:xfrm>
            <a:off x="2468880" y="2286000"/>
            <a:ext cx="1097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100" b="1" dirty="0">
                <a:solidFill>
                  <a:schemeClr val="accent1"/>
                </a:solidFill>
              </a:rPr>
              <a:t>교통권</a:t>
            </a:r>
            <a:endParaRPr lang="en-US" sz="1100" dirty="0"/>
          </a:p>
        </p:txBody>
      </p:sp>
      <p:sp>
        <p:nvSpPr>
          <p:cNvPr id="9" name="center-256"/>
          <p:cNvSpPr/>
          <p:nvPr/>
        </p:nvSpPr>
        <p:spPr>
          <a:xfrm>
            <a:off x="2633472" y="3319272"/>
            <a:ext cx="768096" cy="768096"/>
          </a:xfrm>
          <a:prstGeom prst="ellipse">
            <a:avLst/>
          </a:prstGeom>
          <a:solidFill>
            <a:schemeClr val="tx2"/>
          </a:solidFill>
          <a:ln w="25400">
            <a:solidFill>
              <a:schemeClr val="bg1"/>
            </a:solidFill>
            <a:prstDash val="solid"/>
          </a:ln>
        </p:spPr>
      </p:sp>
      <p:pic>
        <p:nvPicPr>
          <p:cNvPr id="10" name="ic-257" descr="예산명지병원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2816352" y="3502152"/>
            <a:ext cx="402336" cy="402336"/>
          </a:xfrm>
          <a:prstGeom prst="rect">
            <a:avLst/>
          </a:prstGeom>
        </p:spPr>
      </p:pic>
      <p:sp>
        <p:nvSpPr>
          <p:cNvPr id="11" name="anchor-258"/>
          <p:cNvSpPr/>
          <p:nvPr/>
        </p:nvSpPr>
        <p:spPr>
          <a:xfrm>
            <a:off x="2334522" y="3794760"/>
            <a:ext cx="384048" cy="384048"/>
          </a:xfrm>
          <a:prstGeom prst="ellipse">
            <a:avLst/>
          </a:prstGeom>
          <a:solidFill>
            <a:srgbClr val="E2563B"/>
          </a:solidFill>
          <a:ln w="19050">
            <a:solidFill>
              <a:schemeClr val="bg1"/>
            </a:solidFill>
            <a:prstDash val="solid"/>
          </a:ln>
        </p:spPr>
      </p:sp>
      <p:sp>
        <p:nvSpPr>
          <p:cNvPr id="12" name="txt-259"/>
          <p:cNvSpPr txBox="1"/>
          <p:nvPr/>
        </p:nvSpPr>
        <p:spPr>
          <a:xfrm>
            <a:off x="2334522" y="3794760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chemeClr val="bg1"/>
                </a:solidFill>
              </a:rPr>
              <a:t>1</a:t>
            </a:r>
            <a:endParaRPr lang="en-US" sz="1100" dirty="0"/>
          </a:p>
        </p:txBody>
      </p:sp>
      <p:sp>
        <p:nvSpPr>
          <p:cNvPr id="13" name="anchor-260"/>
          <p:cNvSpPr/>
          <p:nvPr/>
        </p:nvSpPr>
        <p:spPr>
          <a:xfrm>
            <a:off x="3379822" y="3831336"/>
            <a:ext cx="384048" cy="384048"/>
          </a:xfrm>
          <a:prstGeom prst="ellipse">
            <a:avLst/>
          </a:prstGeom>
          <a:solidFill>
            <a:srgbClr val="E2563B"/>
          </a:solidFill>
          <a:ln w="19050">
            <a:solidFill>
              <a:schemeClr val="bg1"/>
            </a:solidFill>
            <a:prstDash val="solid"/>
          </a:ln>
        </p:spPr>
      </p:sp>
      <p:sp>
        <p:nvSpPr>
          <p:cNvPr id="14" name="txt-261"/>
          <p:cNvSpPr txBox="1"/>
          <p:nvPr/>
        </p:nvSpPr>
        <p:spPr>
          <a:xfrm>
            <a:off x="3379822" y="3831336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chemeClr val="bg1"/>
                </a:solidFill>
              </a:rPr>
              <a:t>2</a:t>
            </a:r>
            <a:endParaRPr lang="en-US" sz="1100" dirty="0"/>
          </a:p>
        </p:txBody>
      </p:sp>
      <p:sp>
        <p:nvSpPr>
          <p:cNvPr id="15" name="anchor-262"/>
          <p:cNvSpPr/>
          <p:nvPr/>
        </p:nvSpPr>
        <p:spPr>
          <a:xfrm>
            <a:off x="2231136" y="2481834"/>
            <a:ext cx="384048" cy="384048"/>
          </a:xfrm>
          <a:prstGeom prst="ellipse">
            <a:avLst/>
          </a:prstGeom>
          <a:solidFill>
            <a:srgbClr val="3B6EF0"/>
          </a:solidFill>
          <a:ln w="19050">
            <a:solidFill>
              <a:schemeClr val="bg1"/>
            </a:solidFill>
            <a:prstDash val="solid"/>
          </a:ln>
        </p:spPr>
      </p:sp>
      <p:sp>
        <p:nvSpPr>
          <p:cNvPr id="16" name="txt-263"/>
          <p:cNvSpPr txBox="1"/>
          <p:nvPr/>
        </p:nvSpPr>
        <p:spPr>
          <a:xfrm>
            <a:off x="2231136" y="2481834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chemeClr val="bg1"/>
                </a:solidFill>
              </a:rPr>
              <a:t>3</a:t>
            </a:r>
            <a:endParaRPr lang="en-US" sz="1100" dirty="0"/>
          </a:p>
        </p:txBody>
      </p:sp>
      <p:sp>
        <p:nvSpPr>
          <p:cNvPr id="17" name="anchor-264"/>
          <p:cNvSpPr/>
          <p:nvPr/>
        </p:nvSpPr>
        <p:spPr>
          <a:xfrm>
            <a:off x="3736108" y="2747202"/>
            <a:ext cx="384048" cy="384048"/>
          </a:xfrm>
          <a:prstGeom prst="ellipse">
            <a:avLst/>
          </a:prstGeom>
          <a:solidFill>
            <a:srgbClr val="3B6EF0"/>
          </a:solidFill>
          <a:ln w="19050">
            <a:solidFill>
              <a:schemeClr val="bg1"/>
            </a:solidFill>
            <a:prstDash val="solid"/>
          </a:ln>
        </p:spPr>
      </p:sp>
      <p:sp>
        <p:nvSpPr>
          <p:cNvPr id="18" name="txt-265"/>
          <p:cNvSpPr txBox="1"/>
          <p:nvPr/>
        </p:nvSpPr>
        <p:spPr>
          <a:xfrm>
            <a:off x="3736108" y="2747202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chemeClr val="bg1"/>
                </a:solidFill>
              </a:rPr>
              <a:t>4</a:t>
            </a:r>
            <a:endParaRPr lang="en-US" sz="1100" dirty="0"/>
          </a:p>
        </p:txBody>
      </p:sp>
      <p:sp>
        <p:nvSpPr>
          <p:cNvPr id="19" name="anchor-266"/>
          <p:cNvSpPr/>
          <p:nvPr/>
        </p:nvSpPr>
        <p:spPr>
          <a:xfrm>
            <a:off x="1654835" y="3304877"/>
            <a:ext cx="384048" cy="384048"/>
          </a:xfrm>
          <a:prstGeom prst="ellipse">
            <a:avLst/>
          </a:prstGeom>
          <a:solidFill>
            <a:srgbClr val="3B6EF0"/>
          </a:solidFill>
          <a:ln w="19050">
            <a:solidFill>
              <a:schemeClr val="bg1"/>
            </a:solidFill>
            <a:prstDash val="solid"/>
          </a:ln>
        </p:spPr>
      </p:sp>
      <p:sp>
        <p:nvSpPr>
          <p:cNvPr id="20" name="txt-267"/>
          <p:cNvSpPr txBox="1"/>
          <p:nvPr/>
        </p:nvSpPr>
        <p:spPr>
          <a:xfrm>
            <a:off x="1654835" y="3304877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chemeClr val="bg1"/>
                </a:solidFill>
              </a:rPr>
              <a:t>5</a:t>
            </a:r>
            <a:endParaRPr lang="en-US" sz="1100" dirty="0"/>
          </a:p>
        </p:txBody>
      </p:sp>
      <p:sp>
        <p:nvSpPr>
          <p:cNvPr id="21" name="anchor-268"/>
          <p:cNvSpPr/>
          <p:nvPr/>
        </p:nvSpPr>
        <p:spPr>
          <a:xfrm>
            <a:off x="2418930" y="4628327"/>
            <a:ext cx="384048" cy="384048"/>
          </a:xfrm>
          <a:prstGeom prst="ellipse">
            <a:avLst/>
          </a:prstGeom>
          <a:solidFill>
            <a:srgbClr val="3B6EF0"/>
          </a:solidFill>
          <a:ln w="19050">
            <a:solidFill>
              <a:schemeClr val="bg1"/>
            </a:solidFill>
            <a:prstDash val="solid"/>
          </a:ln>
        </p:spPr>
      </p:sp>
      <p:sp>
        <p:nvSpPr>
          <p:cNvPr id="22" name="txt-269"/>
          <p:cNvSpPr txBox="1"/>
          <p:nvPr/>
        </p:nvSpPr>
        <p:spPr>
          <a:xfrm>
            <a:off x="2418930" y="4628327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chemeClr val="bg1"/>
                </a:solidFill>
              </a:rPr>
              <a:t>6</a:t>
            </a:r>
            <a:endParaRPr lang="en-US" sz="1100" dirty="0"/>
          </a:p>
        </p:txBody>
      </p:sp>
      <p:sp>
        <p:nvSpPr>
          <p:cNvPr id="23" name="anchor-270"/>
          <p:cNvSpPr/>
          <p:nvPr/>
        </p:nvSpPr>
        <p:spPr>
          <a:xfrm>
            <a:off x="4574316" y="3042701"/>
            <a:ext cx="384048" cy="384048"/>
          </a:xfrm>
          <a:prstGeom prst="ellipse">
            <a:avLst/>
          </a:prstGeom>
          <a:solidFill>
            <a:srgbClr val="1E8C82"/>
          </a:solidFill>
          <a:ln w="19050">
            <a:solidFill>
              <a:schemeClr val="bg1"/>
            </a:solidFill>
            <a:prstDash val="solid"/>
          </a:ln>
        </p:spPr>
      </p:sp>
      <p:sp>
        <p:nvSpPr>
          <p:cNvPr id="24" name="txt-271"/>
          <p:cNvSpPr txBox="1"/>
          <p:nvPr/>
        </p:nvSpPr>
        <p:spPr>
          <a:xfrm>
            <a:off x="4574316" y="3042701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chemeClr val="bg1"/>
                </a:solidFill>
              </a:rPr>
              <a:t>7</a:t>
            </a:r>
            <a:endParaRPr lang="en-US" sz="1100" dirty="0"/>
          </a:p>
        </p:txBody>
      </p:sp>
      <p:sp>
        <p:nvSpPr>
          <p:cNvPr id="25" name="anchor-272"/>
          <p:cNvSpPr/>
          <p:nvPr/>
        </p:nvSpPr>
        <p:spPr>
          <a:xfrm>
            <a:off x="3590651" y="1870415"/>
            <a:ext cx="384048" cy="384048"/>
          </a:xfrm>
          <a:prstGeom prst="ellipse">
            <a:avLst/>
          </a:prstGeom>
          <a:solidFill>
            <a:srgbClr val="1E8C82"/>
          </a:solidFill>
          <a:ln w="19050">
            <a:solidFill>
              <a:schemeClr val="bg1"/>
            </a:solidFill>
            <a:prstDash val="solid"/>
          </a:ln>
        </p:spPr>
      </p:sp>
      <p:sp>
        <p:nvSpPr>
          <p:cNvPr id="26" name="txt-273"/>
          <p:cNvSpPr txBox="1"/>
          <p:nvPr/>
        </p:nvSpPr>
        <p:spPr>
          <a:xfrm>
            <a:off x="3590651" y="1870415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chemeClr val="bg1"/>
                </a:solidFill>
              </a:rPr>
              <a:t>8</a:t>
            </a:r>
            <a:endParaRPr lang="en-US" sz="1100" dirty="0"/>
          </a:p>
        </p:txBody>
      </p:sp>
      <p:sp>
        <p:nvSpPr>
          <p:cNvPr id="27" name="anchor-274"/>
          <p:cNvSpPr/>
          <p:nvPr/>
        </p:nvSpPr>
        <p:spPr>
          <a:xfrm>
            <a:off x="2060341" y="1870415"/>
            <a:ext cx="384048" cy="384048"/>
          </a:xfrm>
          <a:prstGeom prst="ellipse">
            <a:avLst/>
          </a:prstGeom>
          <a:solidFill>
            <a:srgbClr val="1E8C82"/>
          </a:solidFill>
          <a:ln w="19050">
            <a:solidFill>
              <a:schemeClr val="bg1"/>
            </a:solidFill>
            <a:prstDash val="solid"/>
          </a:ln>
        </p:spPr>
      </p:sp>
      <p:sp>
        <p:nvSpPr>
          <p:cNvPr id="28" name="txt-275"/>
          <p:cNvSpPr txBox="1"/>
          <p:nvPr/>
        </p:nvSpPr>
        <p:spPr>
          <a:xfrm>
            <a:off x="2060341" y="1870415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chemeClr val="bg1"/>
                </a:solidFill>
              </a:rPr>
              <a:t>9</a:t>
            </a:r>
            <a:endParaRPr lang="en-US" sz="1100" dirty="0"/>
          </a:p>
        </p:txBody>
      </p:sp>
      <p:sp>
        <p:nvSpPr>
          <p:cNvPr id="29" name="anchor-276"/>
          <p:cNvSpPr/>
          <p:nvPr/>
        </p:nvSpPr>
        <p:spPr>
          <a:xfrm>
            <a:off x="1124171" y="2892064"/>
            <a:ext cx="384048" cy="384048"/>
          </a:xfrm>
          <a:prstGeom prst="ellipse">
            <a:avLst/>
          </a:prstGeom>
          <a:solidFill>
            <a:srgbClr val="1E8C82"/>
          </a:solidFill>
          <a:ln w="19050">
            <a:solidFill>
              <a:schemeClr val="bg1"/>
            </a:solidFill>
            <a:prstDash val="solid"/>
          </a:ln>
        </p:spPr>
      </p:sp>
      <p:sp>
        <p:nvSpPr>
          <p:cNvPr id="30" name="txt-277"/>
          <p:cNvSpPr txBox="1"/>
          <p:nvPr/>
        </p:nvSpPr>
        <p:spPr>
          <a:xfrm>
            <a:off x="1124171" y="2892064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chemeClr val="bg1"/>
                </a:solidFill>
              </a:rPr>
              <a:t>10</a:t>
            </a:r>
            <a:endParaRPr lang="en-US" sz="1100" dirty="0"/>
          </a:p>
        </p:txBody>
      </p:sp>
      <p:sp>
        <p:nvSpPr>
          <p:cNvPr id="31" name="anchor-278"/>
          <p:cNvSpPr/>
          <p:nvPr/>
        </p:nvSpPr>
        <p:spPr>
          <a:xfrm>
            <a:off x="1184615" y="4276451"/>
            <a:ext cx="384048" cy="384048"/>
          </a:xfrm>
          <a:prstGeom prst="ellipse">
            <a:avLst/>
          </a:prstGeom>
          <a:solidFill>
            <a:srgbClr val="1E8C82"/>
          </a:solidFill>
          <a:ln w="19050">
            <a:solidFill>
              <a:schemeClr val="bg1"/>
            </a:solidFill>
            <a:prstDash val="solid"/>
          </a:ln>
        </p:spPr>
      </p:sp>
      <p:sp>
        <p:nvSpPr>
          <p:cNvPr id="32" name="txt-279"/>
          <p:cNvSpPr txBox="1"/>
          <p:nvPr/>
        </p:nvSpPr>
        <p:spPr>
          <a:xfrm>
            <a:off x="1184615" y="4276451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chemeClr val="bg1"/>
                </a:solidFill>
              </a:rPr>
              <a:t>11</a:t>
            </a:r>
            <a:endParaRPr lang="en-US" sz="1100" dirty="0"/>
          </a:p>
        </p:txBody>
      </p:sp>
      <p:sp>
        <p:nvSpPr>
          <p:cNvPr id="33" name="anchor-280"/>
          <p:cNvSpPr/>
          <p:nvPr/>
        </p:nvSpPr>
        <p:spPr>
          <a:xfrm>
            <a:off x="3730752" y="5079245"/>
            <a:ext cx="384048" cy="384048"/>
          </a:xfrm>
          <a:prstGeom prst="ellipse">
            <a:avLst/>
          </a:prstGeom>
          <a:solidFill>
            <a:srgbClr val="1E8C82"/>
          </a:solidFill>
          <a:ln w="19050">
            <a:solidFill>
              <a:schemeClr val="bg1"/>
            </a:solidFill>
            <a:prstDash val="solid"/>
          </a:ln>
        </p:spPr>
      </p:sp>
      <p:sp>
        <p:nvSpPr>
          <p:cNvPr id="34" name="txt-281"/>
          <p:cNvSpPr txBox="1"/>
          <p:nvPr/>
        </p:nvSpPr>
        <p:spPr>
          <a:xfrm>
            <a:off x="3730752" y="5079245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chemeClr val="bg1"/>
                </a:solidFill>
              </a:rPr>
              <a:t>12</a:t>
            </a:r>
            <a:endParaRPr lang="en-US" sz="1100" dirty="0"/>
          </a:p>
        </p:txBody>
      </p:sp>
      <p:sp>
        <p:nvSpPr>
          <p:cNvPr id="35" name="txt-282"/>
          <p:cNvSpPr txBox="1"/>
          <p:nvPr/>
        </p:nvSpPr>
        <p:spPr>
          <a:xfrm>
            <a:off x="6035040" y="1554480"/>
            <a:ext cx="5608015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rgbClr val="E2563B"/>
                </a:solidFill>
              </a:rPr>
              <a:t>생활권 · 1km 안</a:t>
            </a:r>
            <a:endParaRPr lang="en-US" sz="1400" dirty="0"/>
          </a:p>
        </p:txBody>
      </p:sp>
      <p:sp>
        <p:nvSpPr>
          <p:cNvPr id="36" name="lg-283"/>
          <p:cNvSpPr/>
          <p:nvPr/>
        </p:nvSpPr>
        <p:spPr>
          <a:xfrm>
            <a:off x="6035040" y="1938528"/>
            <a:ext cx="274320" cy="274320"/>
          </a:xfrm>
          <a:prstGeom prst="ellipse">
            <a:avLst/>
          </a:prstGeom>
          <a:solidFill>
            <a:srgbClr val="E2563B"/>
          </a:solidFill>
          <a:ln w="12700">
            <a:solidFill>
              <a:srgbClr val="E2563B"/>
            </a:solidFill>
            <a:prstDash val="solid"/>
          </a:ln>
        </p:spPr>
      </p:sp>
      <p:sp>
        <p:nvSpPr>
          <p:cNvPr id="37" name="txt-284"/>
          <p:cNvSpPr txBox="1"/>
          <p:nvPr/>
        </p:nvSpPr>
        <p:spPr>
          <a:xfrm>
            <a:off x="6035040" y="1938528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chemeClr val="bg1"/>
                </a:solidFill>
              </a:rPr>
              <a:t>1</a:t>
            </a:r>
            <a:endParaRPr lang="en-US" sz="900" dirty="0"/>
          </a:p>
        </p:txBody>
      </p:sp>
      <p:sp>
        <p:nvSpPr>
          <p:cNvPr id="38" name="txt-285"/>
          <p:cNvSpPr txBox="1"/>
          <p:nvPr/>
        </p:nvSpPr>
        <p:spPr>
          <a:xfrm>
            <a:off x="6400800" y="1901952"/>
            <a:ext cx="2392528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chemeClr val="tx2"/>
                </a:solidFill>
              </a:rPr>
              <a:t>예산전자공업고  </a:t>
            </a:r>
            <a:pPr indent="0" marL="0">
              <a:buNone/>
            </a:pPr>
            <a:r>
              <a:rPr lang="en-US" sz="1300" dirty="0">
                <a:solidFill>
                  <a:schemeClr val="accent6"/>
                </a:solidFill>
              </a:rPr>
              <a:t>약 0.3km</a:t>
            </a:r>
            <a:endParaRPr lang="en-US" sz="1300" dirty="0"/>
          </a:p>
        </p:txBody>
      </p:sp>
      <p:sp>
        <p:nvSpPr>
          <p:cNvPr id="39" name="lg-286"/>
          <p:cNvSpPr/>
          <p:nvPr/>
        </p:nvSpPr>
        <p:spPr>
          <a:xfrm>
            <a:off x="8839048" y="1938528"/>
            <a:ext cx="274320" cy="274320"/>
          </a:xfrm>
          <a:prstGeom prst="ellipse">
            <a:avLst/>
          </a:prstGeom>
          <a:solidFill>
            <a:srgbClr val="E2563B"/>
          </a:solidFill>
          <a:ln w="12700">
            <a:solidFill>
              <a:srgbClr val="E2563B"/>
            </a:solidFill>
            <a:prstDash val="solid"/>
          </a:ln>
        </p:spPr>
      </p:sp>
      <p:sp>
        <p:nvSpPr>
          <p:cNvPr id="40" name="txt-287"/>
          <p:cNvSpPr txBox="1"/>
          <p:nvPr/>
        </p:nvSpPr>
        <p:spPr>
          <a:xfrm>
            <a:off x="8839048" y="1938528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chemeClr val="bg1"/>
                </a:solidFill>
              </a:rPr>
              <a:t>2</a:t>
            </a:r>
            <a:endParaRPr lang="en-US" sz="900" dirty="0"/>
          </a:p>
        </p:txBody>
      </p:sp>
      <p:sp>
        <p:nvSpPr>
          <p:cNvPr id="41" name="txt-288"/>
          <p:cNvSpPr txBox="1"/>
          <p:nvPr/>
        </p:nvSpPr>
        <p:spPr>
          <a:xfrm>
            <a:off x="9204808" y="1901952"/>
            <a:ext cx="2392528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chemeClr val="tx2"/>
                </a:solidFill>
              </a:rPr>
              <a:t>관작전문농공단지  </a:t>
            </a:r>
            <a:pPr indent="0" marL="0">
              <a:buNone/>
            </a:pPr>
            <a:r>
              <a:rPr lang="en-US" sz="1300" dirty="0">
                <a:solidFill>
                  <a:schemeClr val="accent6"/>
                </a:solidFill>
              </a:rPr>
              <a:t>약 0.9km</a:t>
            </a:r>
            <a:endParaRPr lang="en-US" sz="1300" dirty="0"/>
          </a:p>
        </p:txBody>
      </p:sp>
      <p:sp>
        <p:nvSpPr>
          <p:cNvPr id="42" name="txt-289"/>
          <p:cNvSpPr txBox="1"/>
          <p:nvPr/>
        </p:nvSpPr>
        <p:spPr>
          <a:xfrm>
            <a:off x="6035040" y="2368296"/>
            <a:ext cx="5608015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rgbClr val="3B6EF0"/>
                </a:solidFill>
              </a:rPr>
              <a:t>교통권 · 1–3km</a:t>
            </a:r>
            <a:endParaRPr lang="en-US" sz="1400" dirty="0"/>
          </a:p>
        </p:txBody>
      </p:sp>
      <p:sp>
        <p:nvSpPr>
          <p:cNvPr id="43" name="lg-290"/>
          <p:cNvSpPr/>
          <p:nvPr/>
        </p:nvSpPr>
        <p:spPr>
          <a:xfrm>
            <a:off x="6035040" y="2752344"/>
            <a:ext cx="274320" cy="274320"/>
          </a:xfrm>
          <a:prstGeom prst="ellipse">
            <a:avLst/>
          </a:prstGeom>
          <a:solidFill>
            <a:srgbClr val="3B6EF0"/>
          </a:solidFill>
          <a:ln w="12700">
            <a:solidFill>
              <a:srgbClr val="3B6EF0"/>
            </a:solidFill>
            <a:prstDash val="solid"/>
          </a:ln>
        </p:spPr>
      </p:sp>
      <p:sp>
        <p:nvSpPr>
          <p:cNvPr id="44" name="txt-291"/>
          <p:cNvSpPr txBox="1"/>
          <p:nvPr/>
        </p:nvSpPr>
        <p:spPr>
          <a:xfrm>
            <a:off x="6035040" y="2752344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chemeClr val="bg1"/>
                </a:solidFill>
              </a:rPr>
              <a:t>3</a:t>
            </a:r>
            <a:endParaRPr lang="en-US" sz="900" dirty="0"/>
          </a:p>
        </p:txBody>
      </p:sp>
      <p:sp>
        <p:nvSpPr>
          <p:cNvPr id="45" name="txt-292"/>
          <p:cNvSpPr txBox="1"/>
          <p:nvPr/>
        </p:nvSpPr>
        <p:spPr>
          <a:xfrm>
            <a:off x="6400800" y="2715768"/>
            <a:ext cx="2392528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chemeClr val="tx2"/>
                </a:solidFill>
              </a:rPr>
              <a:t>발연리 버스정류장  </a:t>
            </a:r>
            <a:pPr indent="0" marL="0">
              <a:buNone/>
            </a:pPr>
            <a:r>
              <a:rPr lang="en-US" sz="1300" dirty="0">
                <a:solidFill>
                  <a:schemeClr val="accent6"/>
                </a:solidFill>
              </a:rPr>
              <a:t>약 1.7km</a:t>
            </a:r>
            <a:endParaRPr lang="en-US" sz="1300" dirty="0"/>
          </a:p>
        </p:txBody>
      </p:sp>
      <p:sp>
        <p:nvSpPr>
          <p:cNvPr id="46" name="lg-293"/>
          <p:cNvSpPr/>
          <p:nvPr/>
        </p:nvSpPr>
        <p:spPr>
          <a:xfrm>
            <a:off x="8839048" y="2752344"/>
            <a:ext cx="274320" cy="274320"/>
          </a:xfrm>
          <a:prstGeom prst="ellipse">
            <a:avLst/>
          </a:prstGeom>
          <a:solidFill>
            <a:srgbClr val="3B6EF0"/>
          </a:solidFill>
          <a:ln w="12700">
            <a:solidFill>
              <a:srgbClr val="3B6EF0"/>
            </a:solidFill>
            <a:prstDash val="solid"/>
          </a:ln>
        </p:spPr>
      </p:sp>
      <p:sp>
        <p:nvSpPr>
          <p:cNvPr id="47" name="txt-294"/>
          <p:cNvSpPr txBox="1"/>
          <p:nvPr/>
        </p:nvSpPr>
        <p:spPr>
          <a:xfrm>
            <a:off x="8839048" y="2752344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chemeClr val="bg1"/>
                </a:solidFill>
              </a:rPr>
              <a:t>4</a:t>
            </a:r>
            <a:endParaRPr lang="en-US" sz="900" dirty="0"/>
          </a:p>
        </p:txBody>
      </p:sp>
      <p:sp>
        <p:nvSpPr>
          <p:cNvPr id="48" name="txt-295"/>
          <p:cNvSpPr txBox="1"/>
          <p:nvPr/>
        </p:nvSpPr>
        <p:spPr>
          <a:xfrm>
            <a:off x="9204808" y="2715768"/>
            <a:ext cx="2392528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chemeClr val="tx2"/>
                </a:solidFill>
              </a:rPr>
              <a:t>신례원역(장항선)  </a:t>
            </a:r>
            <a:pPr indent="0" marL="0">
              <a:buNone/>
            </a:pPr>
            <a:r>
              <a:rPr lang="en-US" sz="1300" dirty="0">
                <a:solidFill>
                  <a:schemeClr val="accent6"/>
                </a:solidFill>
              </a:rPr>
              <a:t>약 2.0km</a:t>
            </a:r>
            <a:endParaRPr lang="en-US" sz="1300" dirty="0"/>
          </a:p>
        </p:txBody>
      </p:sp>
      <p:sp>
        <p:nvSpPr>
          <p:cNvPr id="49" name="lg-296"/>
          <p:cNvSpPr/>
          <p:nvPr/>
        </p:nvSpPr>
        <p:spPr>
          <a:xfrm>
            <a:off x="6035040" y="3081528"/>
            <a:ext cx="274320" cy="274320"/>
          </a:xfrm>
          <a:prstGeom prst="ellipse">
            <a:avLst/>
          </a:prstGeom>
          <a:solidFill>
            <a:srgbClr val="3B6EF0"/>
          </a:solidFill>
          <a:ln w="12700">
            <a:solidFill>
              <a:srgbClr val="3B6EF0"/>
            </a:solidFill>
            <a:prstDash val="solid"/>
          </a:ln>
        </p:spPr>
      </p:sp>
      <p:sp>
        <p:nvSpPr>
          <p:cNvPr id="50" name="txt-297"/>
          <p:cNvSpPr txBox="1"/>
          <p:nvPr/>
        </p:nvSpPr>
        <p:spPr>
          <a:xfrm>
            <a:off x="6035040" y="3081528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chemeClr val="bg1"/>
                </a:solidFill>
              </a:rPr>
              <a:t>5</a:t>
            </a:r>
            <a:endParaRPr lang="en-US" sz="900" dirty="0"/>
          </a:p>
        </p:txBody>
      </p:sp>
      <p:sp>
        <p:nvSpPr>
          <p:cNvPr id="51" name="txt-298"/>
          <p:cNvSpPr txBox="1"/>
          <p:nvPr/>
        </p:nvSpPr>
        <p:spPr>
          <a:xfrm>
            <a:off x="6400800" y="3044952"/>
            <a:ext cx="2392528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chemeClr val="tx2"/>
                </a:solidFill>
              </a:rPr>
              <a:t>예산종합터미널  </a:t>
            </a:r>
            <a:pPr indent="0" marL="0">
              <a:buNone/>
            </a:pPr>
            <a:r>
              <a:rPr lang="en-US" sz="1300" dirty="0">
                <a:solidFill>
                  <a:schemeClr val="accent6"/>
                </a:solidFill>
              </a:rPr>
              <a:t>약 2.2km</a:t>
            </a:r>
            <a:endParaRPr lang="en-US" sz="1300" dirty="0"/>
          </a:p>
        </p:txBody>
      </p:sp>
      <p:sp>
        <p:nvSpPr>
          <p:cNvPr id="52" name="lg-299"/>
          <p:cNvSpPr/>
          <p:nvPr/>
        </p:nvSpPr>
        <p:spPr>
          <a:xfrm>
            <a:off x="8839048" y="3081528"/>
            <a:ext cx="274320" cy="274320"/>
          </a:xfrm>
          <a:prstGeom prst="ellipse">
            <a:avLst/>
          </a:prstGeom>
          <a:solidFill>
            <a:srgbClr val="3B6EF0"/>
          </a:solidFill>
          <a:ln w="12700">
            <a:solidFill>
              <a:srgbClr val="3B6EF0"/>
            </a:solidFill>
            <a:prstDash val="solid"/>
          </a:ln>
        </p:spPr>
      </p:sp>
      <p:sp>
        <p:nvSpPr>
          <p:cNvPr id="53" name="txt-300"/>
          <p:cNvSpPr txBox="1"/>
          <p:nvPr/>
        </p:nvSpPr>
        <p:spPr>
          <a:xfrm>
            <a:off x="8839048" y="3081528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chemeClr val="bg1"/>
                </a:solidFill>
              </a:rPr>
              <a:t>6</a:t>
            </a:r>
            <a:endParaRPr lang="en-US" sz="900" dirty="0"/>
          </a:p>
        </p:txBody>
      </p:sp>
      <p:sp>
        <p:nvSpPr>
          <p:cNvPr id="54" name="txt-301"/>
          <p:cNvSpPr txBox="1"/>
          <p:nvPr/>
        </p:nvSpPr>
        <p:spPr>
          <a:xfrm>
            <a:off x="9204808" y="3044952"/>
            <a:ext cx="2392528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chemeClr val="tx2"/>
                </a:solidFill>
              </a:rPr>
              <a:t>예산역(장항선)  </a:t>
            </a:r>
            <a:pPr indent="0" marL="0">
              <a:buNone/>
            </a:pPr>
            <a:r>
              <a:rPr lang="en-US" sz="1300" dirty="0">
                <a:solidFill>
                  <a:schemeClr val="accent6"/>
                </a:solidFill>
              </a:rPr>
              <a:t>약 2.9km</a:t>
            </a:r>
            <a:endParaRPr lang="en-US" sz="1300" dirty="0"/>
          </a:p>
        </p:txBody>
      </p:sp>
      <p:sp>
        <p:nvSpPr>
          <p:cNvPr id="55" name="txt-302"/>
          <p:cNvSpPr txBox="1"/>
          <p:nvPr/>
        </p:nvSpPr>
        <p:spPr>
          <a:xfrm>
            <a:off x="6035040" y="3511296"/>
            <a:ext cx="5608015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rgbClr val="1E8C82"/>
                </a:solidFill>
              </a:rPr>
              <a:t>방문권 · 3–20km</a:t>
            </a:r>
            <a:endParaRPr lang="en-US" sz="1400" dirty="0"/>
          </a:p>
        </p:txBody>
      </p:sp>
      <p:sp>
        <p:nvSpPr>
          <p:cNvPr id="56" name="lg-303"/>
          <p:cNvSpPr/>
          <p:nvPr/>
        </p:nvSpPr>
        <p:spPr>
          <a:xfrm>
            <a:off x="6035040" y="3895344"/>
            <a:ext cx="274320" cy="274320"/>
          </a:xfrm>
          <a:prstGeom prst="ellipse">
            <a:avLst/>
          </a:prstGeom>
          <a:solidFill>
            <a:srgbClr val="1E8C82"/>
          </a:solidFill>
          <a:ln w="12700">
            <a:solidFill>
              <a:srgbClr val="1E8C82"/>
            </a:solidFill>
            <a:prstDash val="solid"/>
          </a:ln>
        </p:spPr>
      </p:sp>
      <p:sp>
        <p:nvSpPr>
          <p:cNvPr id="57" name="txt-304"/>
          <p:cNvSpPr txBox="1"/>
          <p:nvPr/>
        </p:nvSpPr>
        <p:spPr>
          <a:xfrm>
            <a:off x="6035040" y="3895344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chemeClr val="bg1"/>
                </a:solidFill>
              </a:rPr>
              <a:t>7</a:t>
            </a:r>
            <a:endParaRPr lang="en-US" sz="900" dirty="0"/>
          </a:p>
        </p:txBody>
      </p:sp>
      <p:sp>
        <p:nvSpPr>
          <p:cNvPr id="58" name="txt-305"/>
          <p:cNvSpPr txBox="1"/>
          <p:nvPr/>
        </p:nvSpPr>
        <p:spPr>
          <a:xfrm>
            <a:off x="6400800" y="3858768"/>
            <a:ext cx="2392528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chemeClr val="tx2"/>
                </a:solidFill>
              </a:rPr>
              <a:t>예산상설시장  </a:t>
            </a:r>
            <a:pPr indent="0" marL="0">
              <a:buNone/>
            </a:pPr>
            <a:r>
              <a:rPr lang="en-US" sz="1300" dirty="0">
                <a:solidFill>
                  <a:schemeClr val="accent6"/>
                </a:solidFill>
              </a:rPr>
              <a:t>약 4.3km</a:t>
            </a:r>
            <a:endParaRPr lang="en-US" sz="1300" dirty="0"/>
          </a:p>
        </p:txBody>
      </p:sp>
      <p:sp>
        <p:nvSpPr>
          <p:cNvPr id="59" name="lg-306"/>
          <p:cNvSpPr/>
          <p:nvPr/>
        </p:nvSpPr>
        <p:spPr>
          <a:xfrm>
            <a:off x="8839048" y="3895344"/>
            <a:ext cx="274320" cy="274320"/>
          </a:xfrm>
          <a:prstGeom prst="ellipse">
            <a:avLst/>
          </a:prstGeom>
          <a:solidFill>
            <a:srgbClr val="1E8C82"/>
          </a:solidFill>
          <a:ln w="12700">
            <a:solidFill>
              <a:srgbClr val="1E8C82"/>
            </a:solidFill>
            <a:prstDash val="solid"/>
          </a:ln>
        </p:spPr>
      </p:sp>
      <p:sp>
        <p:nvSpPr>
          <p:cNvPr id="60" name="txt-307"/>
          <p:cNvSpPr txBox="1"/>
          <p:nvPr/>
        </p:nvSpPr>
        <p:spPr>
          <a:xfrm>
            <a:off x="8839048" y="3895344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chemeClr val="bg1"/>
                </a:solidFill>
              </a:rPr>
              <a:t>8</a:t>
            </a:r>
            <a:endParaRPr lang="en-US" sz="900" dirty="0"/>
          </a:p>
        </p:txBody>
      </p:sp>
      <p:sp>
        <p:nvSpPr>
          <p:cNvPr id="61" name="txt-308"/>
          <p:cNvSpPr txBox="1"/>
          <p:nvPr/>
        </p:nvSpPr>
        <p:spPr>
          <a:xfrm>
            <a:off x="9204808" y="3858768"/>
            <a:ext cx="2392528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chemeClr val="tx2"/>
                </a:solidFill>
              </a:rPr>
              <a:t>예산일반산업단지  </a:t>
            </a:r>
            <a:pPr indent="0" marL="0">
              <a:buNone/>
            </a:pPr>
            <a:r>
              <a:rPr lang="en-US" sz="1300" dirty="0">
                <a:solidFill>
                  <a:schemeClr val="accent6"/>
                </a:solidFill>
              </a:rPr>
              <a:t>약 8.3km</a:t>
            </a:r>
            <a:endParaRPr lang="en-US" sz="1300" dirty="0"/>
          </a:p>
        </p:txBody>
      </p:sp>
      <p:sp>
        <p:nvSpPr>
          <p:cNvPr id="62" name="lg-309"/>
          <p:cNvSpPr/>
          <p:nvPr/>
        </p:nvSpPr>
        <p:spPr>
          <a:xfrm>
            <a:off x="6035040" y="4224528"/>
            <a:ext cx="274320" cy="274320"/>
          </a:xfrm>
          <a:prstGeom prst="ellipse">
            <a:avLst/>
          </a:prstGeom>
          <a:solidFill>
            <a:srgbClr val="1E8C82"/>
          </a:solidFill>
          <a:ln w="12700">
            <a:solidFill>
              <a:srgbClr val="1E8C82"/>
            </a:solidFill>
            <a:prstDash val="solid"/>
          </a:ln>
        </p:spPr>
      </p:sp>
      <p:sp>
        <p:nvSpPr>
          <p:cNvPr id="63" name="txt-310"/>
          <p:cNvSpPr txBox="1"/>
          <p:nvPr/>
        </p:nvSpPr>
        <p:spPr>
          <a:xfrm>
            <a:off x="6035040" y="4224528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chemeClr val="bg1"/>
                </a:solidFill>
              </a:rPr>
              <a:t>9</a:t>
            </a:r>
            <a:endParaRPr lang="en-US" sz="900" dirty="0"/>
          </a:p>
        </p:txBody>
      </p:sp>
      <p:sp>
        <p:nvSpPr>
          <p:cNvPr id="64" name="txt-311"/>
          <p:cNvSpPr txBox="1"/>
          <p:nvPr/>
        </p:nvSpPr>
        <p:spPr>
          <a:xfrm>
            <a:off x="6400800" y="4187952"/>
            <a:ext cx="2392528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chemeClr val="tx2"/>
                </a:solidFill>
              </a:rPr>
              <a:t>예당호 출렁다리  </a:t>
            </a:r>
            <a:pPr indent="0" marL="0">
              <a:buNone/>
            </a:pPr>
            <a:r>
              <a:rPr lang="en-US" sz="1300" dirty="0">
                <a:solidFill>
                  <a:schemeClr val="accent6"/>
                </a:solidFill>
              </a:rPr>
              <a:t>약 9km</a:t>
            </a:r>
            <a:endParaRPr lang="en-US" sz="1300" dirty="0"/>
          </a:p>
        </p:txBody>
      </p:sp>
      <p:sp>
        <p:nvSpPr>
          <p:cNvPr id="65" name="lg-312"/>
          <p:cNvSpPr/>
          <p:nvPr/>
        </p:nvSpPr>
        <p:spPr>
          <a:xfrm>
            <a:off x="8839048" y="4224528"/>
            <a:ext cx="274320" cy="274320"/>
          </a:xfrm>
          <a:prstGeom prst="ellipse">
            <a:avLst/>
          </a:prstGeom>
          <a:solidFill>
            <a:srgbClr val="1E8C82"/>
          </a:solidFill>
          <a:ln w="12700">
            <a:solidFill>
              <a:srgbClr val="1E8C82"/>
            </a:solidFill>
            <a:prstDash val="solid"/>
          </a:ln>
        </p:spPr>
      </p:sp>
      <p:sp>
        <p:nvSpPr>
          <p:cNvPr id="66" name="txt-313"/>
          <p:cNvSpPr txBox="1"/>
          <p:nvPr/>
        </p:nvSpPr>
        <p:spPr>
          <a:xfrm>
            <a:off x="8839048" y="4224528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chemeClr val="bg1"/>
                </a:solidFill>
              </a:rPr>
              <a:t>10</a:t>
            </a:r>
            <a:endParaRPr lang="en-US" sz="900" dirty="0"/>
          </a:p>
        </p:txBody>
      </p:sp>
      <p:sp>
        <p:nvSpPr>
          <p:cNvPr id="67" name="txt-314"/>
          <p:cNvSpPr txBox="1"/>
          <p:nvPr/>
        </p:nvSpPr>
        <p:spPr>
          <a:xfrm>
            <a:off x="9204808" y="4187952"/>
            <a:ext cx="2392528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chemeClr val="tx2"/>
                </a:solidFill>
              </a:rPr>
              <a:t>충남도청 · 내포  </a:t>
            </a:r>
            <a:pPr indent="0" marL="0">
              <a:buNone/>
            </a:pPr>
            <a:r>
              <a:rPr lang="en-US" sz="1300" dirty="0">
                <a:solidFill>
                  <a:schemeClr val="accent6"/>
                </a:solidFill>
              </a:rPr>
              <a:t>약 16km</a:t>
            </a:r>
            <a:endParaRPr lang="en-US" sz="1300" dirty="0"/>
          </a:p>
        </p:txBody>
      </p:sp>
      <p:sp>
        <p:nvSpPr>
          <p:cNvPr id="68" name="lg-315"/>
          <p:cNvSpPr/>
          <p:nvPr/>
        </p:nvSpPr>
        <p:spPr>
          <a:xfrm>
            <a:off x="6035040" y="4553712"/>
            <a:ext cx="274320" cy="274320"/>
          </a:xfrm>
          <a:prstGeom prst="ellipse">
            <a:avLst/>
          </a:prstGeom>
          <a:solidFill>
            <a:srgbClr val="1E8C82"/>
          </a:solidFill>
          <a:ln w="12700">
            <a:solidFill>
              <a:srgbClr val="1E8C82"/>
            </a:solidFill>
            <a:prstDash val="solid"/>
          </a:ln>
        </p:spPr>
      </p:sp>
      <p:sp>
        <p:nvSpPr>
          <p:cNvPr id="69" name="txt-316"/>
          <p:cNvSpPr txBox="1"/>
          <p:nvPr/>
        </p:nvSpPr>
        <p:spPr>
          <a:xfrm>
            <a:off x="6035040" y="4553712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chemeClr val="bg1"/>
                </a:solidFill>
              </a:rPr>
              <a:t>11</a:t>
            </a:r>
            <a:endParaRPr lang="en-US" sz="900" dirty="0"/>
          </a:p>
        </p:txBody>
      </p:sp>
      <p:sp>
        <p:nvSpPr>
          <p:cNvPr id="70" name="txt-317"/>
          <p:cNvSpPr txBox="1"/>
          <p:nvPr/>
        </p:nvSpPr>
        <p:spPr>
          <a:xfrm>
            <a:off x="6400800" y="4517136"/>
            <a:ext cx="2392528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chemeClr val="tx2"/>
                </a:solidFill>
              </a:rPr>
              <a:t>덕산온천 · 충의사  </a:t>
            </a:r>
            <a:pPr indent="0" marL="0">
              <a:buNone/>
            </a:pPr>
            <a:r>
              <a:rPr lang="en-US" sz="1300" dirty="0">
                <a:solidFill>
                  <a:schemeClr val="accent6"/>
                </a:solidFill>
              </a:rPr>
              <a:t>약 16km</a:t>
            </a:r>
            <a:endParaRPr lang="en-US" sz="1300" dirty="0"/>
          </a:p>
        </p:txBody>
      </p:sp>
      <p:sp>
        <p:nvSpPr>
          <p:cNvPr id="71" name="lg-318"/>
          <p:cNvSpPr/>
          <p:nvPr/>
        </p:nvSpPr>
        <p:spPr>
          <a:xfrm>
            <a:off x="8839048" y="4553712"/>
            <a:ext cx="274320" cy="274320"/>
          </a:xfrm>
          <a:prstGeom prst="ellipse">
            <a:avLst/>
          </a:prstGeom>
          <a:solidFill>
            <a:srgbClr val="1E8C82"/>
          </a:solidFill>
          <a:ln w="12700">
            <a:solidFill>
              <a:srgbClr val="1E8C82"/>
            </a:solidFill>
            <a:prstDash val="solid"/>
          </a:ln>
        </p:spPr>
      </p:sp>
      <p:sp>
        <p:nvSpPr>
          <p:cNvPr id="72" name="txt-319"/>
          <p:cNvSpPr txBox="1"/>
          <p:nvPr/>
        </p:nvSpPr>
        <p:spPr>
          <a:xfrm>
            <a:off x="8839048" y="4553712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chemeClr val="bg1"/>
                </a:solidFill>
              </a:rPr>
              <a:t>12</a:t>
            </a:r>
            <a:endParaRPr lang="en-US" sz="900" dirty="0"/>
          </a:p>
        </p:txBody>
      </p:sp>
      <p:sp>
        <p:nvSpPr>
          <p:cNvPr id="73" name="txt-320"/>
          <p:cNvSpPr txBox="1"/>
          <p:nvPr/>
        </p:nvSpPr>
        <p:spPr>
          <a:xfrm>
            <a:off x="9204808" y="4517136"/>
            <a:ext cx="2392528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chemeClr val="tx2"/>
                </a:solidFill>
              </a:rPr>
              <a:t>수덕사  </a:t>
            </a:r>
            <a:pPr indent="0" marL="0">
              <a:buNone/>
            </a:pPr>
            <a:r>
              <a:rPr lang="en-US" sz="1300" dirty="0">
                <a:solidFill>
                  <a:schemeClr val="accent6"/>
                </a:solidFill>
              </a:rPr>
              <a:t>약 20km</a:t>
            </a:r>
            <a:endParaRPr lang="en-US" sz="1300" dirty="0"/>
          </a:p>
        </p:txBody>
      </p:sp>
      <p:sp>
        <p:nvSpPr>
          <p:cNvPr id="74" name="box-321"/>
          <p:cNvSpPr/>
          <p:nvPr/>
        </p:nvSpPr>
        <p:spPr>
          <a:xfrm>
            <a:off x="6035040" y="5138928"/>
            <a:ext cx="5608015" cy="777240"/>
          </a:xfrm>
          <a:prstGeom prst="roundRect">
            <a:avLst>
              <a:gd name="adj" fmla="val 16471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75" name="txt-322"/>
          <p:cNvSpPr txBox="1"/>
          <p:nvPr/>
        </p:nvSpPr>
        <p:spPr>
          <a:xfrm>
            <a:off x="6263640" y="5138928"/>
            <a:ext cx="5150815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chemeClr val="tx2"/>
                </a:solidFill>
              </a:rPr>
              <a:t>사람들은 병원 이름보다 ‘터미널 근처 병원’, ‘예당호 근처 응급실’처럼 아는 장소로 병원을 찾습니다.</a:t>
            </a:r>
            <a:endParaRPr lang="en-US" sz="1400" dirty="0"/>
          </a:p>
        </p:txBody>
      </p:sp>
      <p:sp>
        <p:nvSpPr>
          <p:cNvPr id="76" name="txt-323"/>
          <p:cNvSpPr txBox="1"/>
          <p:nvPr/>
        </p:nvSpPr>
        <p:spPr>
          <a:xfrm>
            <a:off x="548640" y="6053328"/>
            <a:ext cx="11094415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dirty="0">
                <a:solidFill>
                  <a:schemeClr val="accent6"/>
                </a:solidFill>
              </a:rPr>
              <a:t>거리: OpenStreetMap 좌표 기준 병원에서의 직선거리(2026.10). 그림은 거리 비율이 아닌 권역 구분용 개념도입니다.</a:t>
            </a:r>
            <a:endParaRPr lang="en-US" sz="10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94415" y="6419088"/>
            <a:ext cx="548640" cy="256032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6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12</a:t>
            </a:fld>
            <a:endParaRPr lang="en-US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body" hasCustomPrompt="1"/>
          </p:nvPr>
        </p:nvSpPr>
        <p:spPr>
          <a:xfrm>
            <a:off x="548640" y="320040"/>
            <a:ext cx="7315200" cy="320040"/>
          </a:xfrm>
          <a:prstGeom prst="rect">
            <a:avLst/>
          </a:prstGeom>
          <a:noFill/>
          <a:ln/>
        </p:spPr>
        <p:txBody>
          <a:bodyPr wrap="square" lIns="0" tIns="0" rIns="0" bIns="0" rtlCol="0"/>
          <a:lstStyle/>
          <a:p>
            <a:pPr algn="l" indent="0" marL="0">
              <a:buNone/>
            </a:pPr>
            <a:r>
              <a:rPr lang="en-US" sz="1200" b="1" dirty="0">
                <a:solidFill>
                  <a:schemeClr val="accent1"/>
                </a:solidFill>
              </a:rPr>
              <a:t>03  확장 제안 · 랜드마크 앵커</a:t>
            </a:r>
            <a:endParaRPr lang="en-US" sz="1200" dirty="0"/>
          </a:p>
        </p:txBody>
      </p:sp>
      <p:sp>
        <p:nvSpPr>
          <p:cNvPr id="3" name="Text 0"/>
          <p:cNvSpPr/>
          <p:nvPr>
            <p:ph idx="101" type="title" hasCustomPrompt="1"/>
          </p:nvPr>
        </p:nvSpPr>
        <p:spPr>
          <a:xfrm>
            <a:off x="548640" y="640080"/>
            <a:ext cx="11094415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chemeClr val="tx2"/>
                </a:solidFill>
              </a:rPr>
              <a:t>랜드마크 이름을 지도 · 검색 · 길거리 · 안내카드에 넣습니다</a:t>
            </a:r>
            <a:endParaRPr lang="en-US" sz="2800" dirty="0"/>
          </a:p>
        </p:txBody>
      </p:sp>
      <p:sp>
        <p:nvSpPr>
          <p:cNvPr id="4" name="box-324"/>
          <p:cNvSpPr/>
          <p:nvPr/>
        </p:nvSpPr>
        <p:spPr>
          <a:xfrm>
            <a:off x="548640" y="1554480"/>
            <a:ext cx="6675120" cy="932688"/>
          </a:xfrm>
          <a:prstGeom prst="roundRect">
            <a:avLst>
              <a:gd name="adj" fmla="val 13725"/>
            </a:avLst>
          </a:prstGeom>
          <a:solidFill>
            <a:schemeClr val="bg1"/>
          </a:solidFill>
          <a:ln w="12700">
            <a:solidFill>
              <a:schemeClr val="bg1"/>
            </a:solidFill>
            <a:prstDash val="solid"/>
          </a:ln>
          <a:effectLst>
            <a:outerShdw sx="100000" sy="100000" kx="0" ky="0" algn="bl" rotWithShape="0" blurRad="101600" dist="25400" dir="5400000">
              <a:srgbClr val="0F3B40">
                <a:alpha val="12000"/>
              </a:srgbClr>
            </a:outerShdw>
          </a:effectLst>
        </p:spPr>
      </p:sp>
      <p:sp>
        <p:nvSpPr>
          <p:cNvPr id="5" name="ic-bg-325"/>
          <p:cNvSpPr/>
          <p:nvPr/>
        </p:nvSpPr>
        <p:spPr>
          <a:xfrm>
            <a:off x="749808" y="1700784"/>
            <a:ext cx="640080" cy="640080"/>
          </a:xfrm>
          <a:prstGeom prst="ellipse">
            <a:avLst/>
          </a:prstGeom>
          <a:solidFill>
            <a:srgbClr val="1E8C82"/>
          </a:solidFill>
          <a:ln w="12700">
            <a:solidFill>
              <a:srgbClr val="1E8C82"/>
            </a:solidFill>
            <a:prstDash val="solid"/>
          </a:ln>
        </p:spPr>
      </p:sp>
      <p:pic>
        <p:nvPicPr>
          <p:cNvPr id="6" name="ic-326" descr="FaMapMarkerAlt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09828" y="1860804"/>
            <a:ext cx="320040" cy="320040"/>
          </a:xfrm>
          <a:prstGeom prst="rect">
            <a:avLst/>
          </a:prstGeom>
        </p:spPr>
      </p:pic>
      <p:sp>
        <p:nvSpPr>
          <p:cNvPr id="7" name="txt-327"/>
          <p:cNvSpPr txBox="1"/>
          <p:nvPr/>
        </p:nvSpPr>
        <p:spPr>
          <a:xfrm>
            <a:off x="1572768" y="1645920"/>
            <a:ext cx="32918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b="1" dirty="0">
                <a:solidFill>
                  <a:schemeClr val="tx2"/>
                </a:solidFill>
              </a:rPr>
              <a:t>지도 ‘찾아오는 길’</a:t>
            </a:r>
            <a:endParaRPr lang="en-US" sz="1600" dirty="0"/>
          </a:p>
        </p:txBody>
      </p:sp>
      <p:sp>
        <p:nvSpPr>
          <p:cNvPr id="8" name="txt-328"/>
          <p:cNvSpPr txBox="1"/>
          <p:nvPr/>
        </p:nvSpPr>
        <p:spPr>
          <a:xfrm>
            <a:off x="1572768" y="2011680"/>
            <a:ext cx="54864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chemeClr val="tx1"/>
                </a:solidFill>
              </a:rPr>
              <a:t>“예산종합터미널에서 약 2km, 예산전자공고 옆”</a:t>
            </a:r>
            <a:endParaRPr lang="en-US" sz="1300" dirty="0"/>
          </a:p>
        </p:txBody>
      </p:sp>
      <p:sp>
        <p:nvSpPr>
          <p:cNvPr id="9" name="tag-329"/>
          <p:cNvSpPr/>
          <p:nvPr/>
        </p:nvSpPr>
        <p:spPr>
          <a:xfrm>
            <a:off x="5349240" y="1664208"/>
            <a:ext cx="1691640" cy="310896"/>
          </a:xfrm>
          <a:prstGeom prst="roundRect">
            <a:avLst>
              <a:gd name="adj" fmla="val 50000"/>
            </a:avLst>
          </a:prstGeom>
          <a:solidFill>
            <a:srgbClr val="1E8C82">
              <a:alpha val="15000"/>
            </a:srgbClr>
          </a:solidFill>
          <a:ln w="12700">
            <a:solidFill>
              <a:srgbClr val="1E8C82"/>
            </a:solidFill>
            <a:prstDash val="solid"/>
          </a:ln>
        </p:spPr>
      </p:sp>
      <p:sp>
        <p:nvSpPr>
          <p:cNvPr id="10" name="txt-330"/>
          <p:cNvSpPr txBox="1"/>
          <p:nvPr/>
        </p:nvSpPr>
        <p:spPr>
          <a:xfrm>
            <a:off x="5349240" y="1664208"/>
            <a:ext cx="16916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chemeClr val="accent1"/>
                </a:solidFill>
              </a:rPr>
              <a:t>기본 · 무료</a:t>
            </a:r>
            <a:endParaRPr lang="en-US" sz="1100" dirty="0"/>
          </a:p>
        </p:txBody>
      </p:sp>
      <p:sp>
        <p:nvSpPr>
          <p:cNvPr id="11" name="box-331"/>
          <p:cNvSpPr/>
          <p:nvPr/>
        </p:nvSpPr>
        <p:spPr>
          <a:xfrm>
            <a:off x="548640" y="2633472"/>
            <a:ext cx="6675120" cy="932688"/>
          </a:xfrm>
          <a:prstGeom prst="roundRect">
            <a:avLst>
              <a:gd name="adj" fmla="val 13725"/>
            </a:avLst>
          </a:prstGeom>
          <a:solidFill>
            <a:schemeClr val="bg1"/>
          </a:solidFill>
          <a:ln w="12700">
            <a:solidFill>
              <a:schemeClr val="bg1"/>
            </a:solidFill>
            <a:prstDash val="solid"/>
          </a:ln>
          <a:effectLst>
            <a:outerShdw sx="100000" sy="100000" kx="0" ky="0" algn="bl" rotWithShape="0" blurRad="101600" dist="25400" dir="5400000">
              <a:srgbClr val="0F3B40">
                <a:alpha val="12000"/>
              </a:srgbClr>
            </a:outerShdw>
          </a:effectLst>
        </p:spPr>
      </p:sp>
      <p:sp>
        <p:nvSpPr>
          <p:cNvPr id="12" name="ic-bg-332"/>
          <p:cNvSpPr/>
          <p:nvPr/>
        </p:nvSpPr>
        <p:spPr>
          <a:xfrm>
            <a:off x="749808" y="2779776"/>
            <a:ext cx="640080" cy="640080"/>
          </a:xfrm>
          <a:prstGeom prst="ellipse">
            <a:avLst/>
          </a:prstGeom>
          <a:solidFill>
            <a:srgbClr val="1E8C82"/>
          </a:solidFill>
          <a:ln w="12700">
            <a:solidFill>
              <a:srgbClr val="1E8C82"/>
            </a:solidFill>
            <a:prstDash val="solid"/>
          </a:ln>
        </p:spPr>
      </p:sp>
      <p:pic>
        <p:nvPicPr>
          <p:cNvPr id="13" name="ic-333" descr="FaStar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09828" y="2939796"/>
            <a:ext cx="320040" cy="320040"/>
          </a:xfrm>
          <a:prstGeom prst="rect">
            <a:avLst/>
          </a:prstGeom>
        </p:spPr>
      </p:pic>
      <p:sp>
        <p:nvSpPr>
          <p:cNvPr id="14" name="txt-334"/>
          <p:cNvSpPr txBox="1"/>
          <p:nvPr/>
        </p:nvSpPr>
        <p:spPr>
          <a:xfrm>
            <a:off x="1572768" y="2724912"/>
            <a:ext cx="32918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b="1" dirty="0">
                <a:solidFill>
                  <a:schemeClr val="tx2"/>
                </a:solidFill>
              </a:rPr>
              <a:t>플레이스 키워드 · 소식</a:t>
            </a:r>
            <a:endParaRPr lang="en-US" sz="1600" dirty="0"/>
          </a:p>
        </p:txBody>
      </p:sp>
      <p:sp>
        <p:nvSpPr>
          <p:cNvPr id="15" name="txt-335"/>
          <p:cNvSpPr txBox="1"/>
          <p:nvPr/>
        </p:nvSpPr>
        <p:spPr>
          <a:xfrm>
            <a:off x="1572768" y="3090672"/>
            <a:ext cx="54864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chemeClr val="tx1"/>
                </a:solidFill>
              </a:rPr>
              <a:t>터미널 근처 병원 · 관작농공단지 검진 · 예당호 근처 응급실</a:t>
            </a:r>
            <a:endParaRPr lang="en-US" sz="1300" dirty="0"/>
          </a:p>
        </p:txBody>
      </p:sp>
      <p:sp>
        <p:nvSpPr>
          <p:cNvPr id="16" name="tag-336"/>
          <p:cNvSpPr/>
          <p:nvPr/>
        </p:nvSpPr>
        <p:spPr>
          <a:xfrm>
            <a:off x="5349240" y="2743200"/>
            <a:ext cx="1691640" cy="310896"/>
          </a:xfrm>
          <a:prstGeom prst="roundRect">
            <a:avLst>
              <a:gd name="adj" fmla="val 50000"/>
            </a:avLst>
          </a:prstGeom>
          <a:solidFill>
            <a:srgbClr val="1E8C82">
              <a:alpha val="15000"/>
            </a:srgbClr>
          </a:solidFill>
          <a:ln w="12700">
            <a:solidFill>
              <a:srgbClr val="1E8C82"/>
            </a:solidFill>
            <a:prstDash val="solid"/>
          </a:ln>
        </p:spPr>
      </p:sp>
      <p:sp>
        <p:nvSpPr>
          <p:cNvPr id="17" name="txt-337"/>
          <p:cNvSpPr txBox="1"/>
          <p:nvPr/>
        </p:nvSpPr>
        <p:spPr>
          <a:xfrm>
            <a:off x="5349240" y="2743200"/>
            <a:ext cx="16916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chemeClr val="accent1"/>
                </a:solidFill>
              </a:rPr>
              <a:t>기본 · 무료</a:t>
            </a:r>
            <a:endParaRPr lang="en-US" sz="1100" dirty="0"/>
          </a:p>
        </p:txBody>
      </p:sp>
      <p:sp>
        <p:nvSpPr>
          <p:cNvPr id="18" name="box-338"/>
          <p:cNvSpPr/>
          <p:nvPr/>
        </p:nvSpPr>
        <p:spPr>
          <a:xfrm>
            <a:off x="548640" y="3712464"/>
            <a:ext cx="6675120" cy="932688"/>
          </a:xfrm>
          <a:prstGeom prst="roundRect">
            <a:avLst>
              <a:gd name="adj" fmla="val 13725"/>
            </a:avLst>
          </a:prstGeom>
          <a:solidFill>
            <a:schemeClr val="bg1"/>
          </a:solidFill>
          <a:ln w="12700">
            <a:solidFill>
              <a:schemeClr val="bg1"/>
            </a:solidFill>
            <a:prstDash val="solid"/>
          </a:ln>
          <a:effectLst>
            <a:outerShdw sx="100000" sy="100000" kx="0" ky="0" algn="bl" rotWithShape="0" blurRad="101600" dist="25400" dir="5400000">
              <a:srgbClr val="0F3B40">
                <a:alpha val="12000"/>
              </a:srgbClr>
            </a:outerShdw>
          </a:effectLst>
        </p:spPr>
      </p:sp>
      <p:sp>
        <p:nvSpPr>
          <p:cNvPr id="19" name="ic-bg-339"/>
          <p:cNvSpPr/>
          <p:nvPr/>
        </p:nvSpPr>
        <p:spPr>
          <a:xfrm>
            <a:off x="749808" y="3858768"/>
            <a:ext cx="640080" cy="640080"/>
          </a:xfrm>
          <a:prstGeom prst="ellipse">
            <a:avLst/>
          </a:prstGeom>
          <a:solidFill>
            <a:srgbClr val="E2563B"/>
          </a:solidFill>
          <a:ln w="12700">
            <a:solidFill>
              <a:srgbClr val="E2563B"/>
            </a:solidFill>
            <a:prstDash val="solid"/>
          </a:ln>
        </p:spPr>
      </p:sp>
      <p:pic>
        <p:nvPicPr>
          <p:cNvPr id="20" name="ic-340" descr="FaMapSigns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09828" y="4018788"/>
            <a:ext cx="320040" cy="320040"/>
          </a:xfrm>
          <a:prstGeom prst="rect">
            <a:avLst/>
          </a:prstGeom>
        </p:spPr>
      </p:pic>
      <p:sp>
        <p:nvSpPr>
          <p:cNvPr id="21" name="txt-341"/>
          <p:cNvSpPr txBox="1"/>
          <p:nvPr/>
        </p:nvSpPr>
        <p:spPr>
          <a:xfrm>
            <a:off x="1572768" y="3803904"/>
            <a:ext cx="32918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b="1" dirty="0">
                <a:solidFill>
                  <a:schemeClr val="tx2"/>
                </a:solidFill>
              </a:rPr>
              <a:t>외부 부착물</a:t>
            </a:r>
            <a:endParaRPr lang="en-US" sz="1600" dirty="0"/>
          </a:p>
        </p:txBody>
      </p:sp>
      <p:sp>
        <p:nvSpPr>
          <p:cNvPr id="22" name="txt-342"/>
          <p:cNvSpPr txBox="1"/>
          <p:nvPr/>
        </p:nvSpPr>
        <p:spPr>
          <a:xfrm>
            <a:off x="1572768" y="4169664"/>
            <a:ext cx="54864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chemeClr val="tx1"/>
                </a:solidFill>
              </a:rPr>
              <a:t>신례원역 · 터미널 · 정류장 · 농공단지 출입구에 거리 안내 + QR</a:t>
            </a:r>
            <a:endParaRPr lang="en-US" sz="1300" dirty="0"/>
          </a:p>
        </p:txBody>
      </p:sp>
      <p:sp>
        <p:nvSpPr>
          <p:cNvPr id="23" name="tag-343"/>
          <p:cNvSpPr/>
          <p:nvPr/>
        </p:nvSpPr>
        <p:spPr>
          <a:xfrm>
            <a:off x="5349240" y="3822192"/>
            <a:ext cx="1691640" cy="310896"/>
          </a:xfrm>
          <a:prstGeom prst="roundRect">
            <a:avLst>
              <a:gd name="adj" fmla="val 50000"/>
            </a:avLst>
          </a:prstGeom>
          <a:solidFill>
            <a:srgbClr val="E2563B">
              <a:alpha val="15000"/>
            </a:srgbClr>
          </a:solidFill>
          <a:ln w="12700">
            <a:solidFill>
              <a:srgbClr val="E2563B"/>
            </a:solidFill>
            <a:prstDash val="solid"/>
          </a:ln>
        </p:spPr>
      </p:sp>
      <p:sp>
        <p:nvSpPr>
          <p:cNvPr id="24" name="txt-344"/>
          <p:cNvSpPr txBox="1"/>
          <p:nvPr/>
        </p:nvSpPr>
        <p:spPr>
          <a:xfrm>
            <a:off x="5349240" y="3822192"/>
            <a:ext cx="16916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chemeClr val="accent2"/>
                </a:solidFill>
              </a:rPr>
              <a:t>확장 · 실사 후 견적</a:t>
            </a:r>
            <a:endParaRPr lang="en-US" sz="1100" dirty="0"/>
          </a:p>
        </p:txBody>
      </p:sp>
      <p:sp>
        <p:nvSpPr>
          <p:cNvPr id="25" name="box-345"/>
          <p:cNvSpPr/>
          <p:nvPr/>
        </p:nvSpPr>
        <p:spPr>
          <a:xfrm>
            <a:off x="548640" y="4791456"/>
            <a:ext cx="6675120" cy="932688"/>
          </a:xfrm>
          <a:prstGeom prst="roundRect">
            <a:avLst>
              <a:gd name="adj" fmla="val 13725"/>
            </a:avLst>
          </a:prstGeom>
          <a:solidFill>
            <a:schemeClr val="bg1"/>
          </a:solidFill>
          <a:ln w="12700">
            <a:solidFill>
              <a:schemeClr val="bg1"/>
            </a:solidFill>
            <a:prstDash val="solid"/>
          </a:ln>
          <a:effectLst>
            <a:outerShdw sx="100000" sy="100000" kx="0" ky="0" algn="bl" rotWithShape="0" blurRad="101600" dist="25400" dir="5400000">
              <a:srgbClr val="0F3B40">
                <a:alpha val="12000"/>
              </a:srgbClr>
            </a:outerShdw>
          </a:effectLst>
        </p:spPr>
      </p:sp>
      <p:sp>
        <p:nvSpPr>
          <p:cNvPr id="26" name="ic-bg-346"/>
          <p:cNvSpPr/>
          <p:nvPr/>
        </p:nvSpPr>
        <p:spPr>
          <a:xfrm>
            <a:off x="749808" y="4937760"/>
            <a:ext cx="640080" cy="640080"/>
          </a:xfrm>
          <a:prstGeom prst="ellipse">
            <a:avLst/>
          </a:prstGeom>
          <a:solidFill>
            <a:srgbClr val="E2563B"/>
          </a:solidFill>
          <a:ln w="12700">
            <a:solidFill>
              <a:srgbClr val="E2563B"/>
            </a:solidFill>
            <a:prstDash val="solid"/>
          </a:ln>
        </p:spPr>
      </p:sp>
      <p:pic>
        <p:nvPicPr>
          <p:cNvPr id="27" name="ic-347" descr="FaFileAlt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09828" y="5097780"/>
            <a:ext cx="320040" cy="320040"/>
          </a:xfrm>
          <a:prstGeom prst="rect">
            <a:avLst/>
          </a:prstGeom>
        </p:spPr>
      </p:pic>
      <p:sp>
        <p:nvSpPr>
          <p:cNvPr id="28" name="txt-348"/>
          <p:cNvSpPr txBox="1"/>
          <p:nvPr/>
        </p:nvSpPr>
        <p:spPr>
          <a:xfrm>
            <a:off x="1572768" y="4882896"/>
            <a:ext cx="32918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b="1" dirty="0">
                <a:solidFill>
                  <a:schemeClr val="tx2"/>
                </a:solidFill>
              </a:rPr>
              <a:t>거점 안내카드</a:t>
            </a:r>
            <a:endParaRPr lang="en-US" sz="1600" dirty="0"/>
          </a:p>
        </p:txBody>
      </p:sp>
      <p:sp>
        <p:nvSpPr>
          <p:cNvPr id="29" name="txt-349"/>
          <p:cNvSpPr txBox="1"/>
          <p:nvPr/>
        </p:nvSpPr>
        <p:spPr>
          <a:xfrm>
            <a:off x="1572768" y="5248656"/>
            <a:ext cx="54864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chemeClr val="tx1"/>
                </a:solidFill>
              </a:rPr>
              <a:t>예당호 · 덕산온천 · 수덕사 관광안내소에 ‘가까운 24시간 응급 진료’ 카드</a:t>
            </a:r>
            <a:endParaRPr lang="en-US" sz="1300" dirty="0"/>
          </a:p>
        </p:txBody>
      </p:sp>
      <p:sp>
        <p:nvSpPr>
          <p:cNvPr id="30" name="tag-350"/>
          <p:cNvSpPr/>
          <p:nvPr/>
        </p:nvSpPr>
        <p:spPr>
          <a:xfrm>
            <a:off x="5349240" y="4901184"/>
            <a:ext cx="1691640" cy="310896"/>
          </a:xfrm>
          <a:prstGeom prst="roundRect">
            <a:avLst>
              <a:gd name="adj" fmla="val 50000"/>
            </a:avLst>
          </a:prstGeom>
          <a:solidFill>
            <a:srgbClr val="E2563B">
              <a:alpha val="15000"/>
            </a:srgbClr>
          </a:solidFill>
          <a:ln w="12700">
            <a:solidFill>
              <a:srgbClr val="E2563B"/>
            </a:solidFill>
            <a:prstDash val="solid"/>
          </a:ln>
        </p:spPr>
      </p:sp>
      <p:sp>
        <p:nvSpPr>
          <p:cNvPr id="31" name="txt-351"/>
          <p:cNvSpPr txBox="1"/>
          <p:nvPr/>
        </p:nvSpPr>
        <p:spPr>
          <a:xfrm>
            <a:off x="5349240" y="4901184"/>
            <a:ext cx="16916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chemeClr val="accent2"/>
                </a:solidFill>
              </a:rPr>
              <a:t>확장 · 실사 후 견적</a:t>
            </a:r>
            <a:endParaRPr lang="en-US" sz="1100" dirty="0"/>
          </a:p>
        </p:txBody>
      </p:sp>
      <p:sp>
        <p:nvSpPr>
          <p:cNvPr id="32" name="txt-352"/>
          <p:cNvSpPr txBox="1"/>
          <p:nvPr/>
        </p:nvSpPr>
        <p:spPr>
          <a:xfrm>
            <a:off x="7726680" y="1554480"/>
            <a:ext cx="3916375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b="1" dirty="0">
                <a:solidFill>
                  <a:schemeClr val="accent6"/>
                </a:solidFill>
              </a:rPr>
              <a:t>부착물 예시 (신례원역)</a:t>
            </a:r>
            <a:endParaRPr lang="en-US" sz="1300" dirty="0"/>
          </a:p>
        </p:txBody>
      </p:sp>
      <p:sp>
        <p:nvSpPr>
          <p:cNvPr id="33" name="sign-353"/>
          <p:cNvSpPr/>
          <p:nvPr/>
        </p:nvSpPr>
        <p:spPr>
          <a:xfrm>
            <a:off x="7726680" y="1965960"/>
            <a:ext cx="3916375" cy="3886200"/>
          </a:xfrm>
          <a:prstGeom prst="roundRect">
            <a:avLst>
              <a:gd name="adj" fmla="val 2824"/>
            </a:avLst>
          </a:prstGeom>
          <a:solidFill>
            <a:schemeClr val="tx2"/>
          </a:solidFill>
          <a:ln w="12700">
            <a:solidFill>
              <a:schemeClr val="tx2"/>
            </a:solidFill>
            <a:prstDash val="solid"/>
          </a:ln>
          <a:effectLst>
            <a:outerShdw sx="100000" sy="100000" kx="0" ky="0" algn="bl" rotWithShape="0" blurRad="127000" dist="38100" dir="5400000">
              <a:srgbClr val="0F3B40">
                <a:alpha val="25000"/>
              </a:srgbClr>
            </a:outerShdw>
          </a:effectLst>
        </p:spPr>
      </p:sp>
      <p:sp>
        <p:nvSpPr>
          <p:cNvPr id="34" name="txt-354"/>
          <p:cNvSpPr txBox="1"/>
          <p:nvPr/>
        </p:nvSpPr>
        <p:spPr>
          <a:xfrm>
            <a:off x="8046720" y="2240280"/>
            <a:ext cx="3276295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b="1" dirty="0">
                <a:solidFill>
                  <a:schemeClr val="accent4"/>
                </a:solidFill>
              </a:rPr>
              <a:t>여기서 약 2km</a:t>
            </a:r>
            <a:endParaRPr lang="en-US" sz="1600" dirty="0"/>
          </a:p>
        </p:txBody>
      </p:sp>
      <p:sp>
        <p:nvSpPr>
          <p:cNvPr id="35" name="txt-355"/>
          <p:cNvSpPr txBox="1"/>
          <p:nvPr/>
        </p:nvSpPr>
        <p:spPr>
          <a:xfrm>
            <a:off x="8046720" y="2697480"/>
            <a:ext cx="3276295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000" b="1" dirty="0">
                <a:solidFill>
                  <a:schemeClr val="bg1"/>
                </a:solidFill>
              </a:rPr>
              <a:t>예산명지병원</a:t>
            </a:r>
            <a:endParaRPr lang="en-US" sz="3000" dirty="0"/>
          </a:p>
        </p:txBody>
      </p:sp>
      <p:sp>
        <p:nvSpPr>
          <p:cNvPr id="36" name="txt-356"/>
          <p:cNvSpPr txBox="1"/>
          <p:nvPr/>
        </p:nvSpPr>
        <p:spPr>
          <a:xfrm>
            <a:off x="8046720" y="3337560"/>
            <a:ext cx="3276295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bg2"/>
                </a:solidFill>
              </a:rPr>
              <a:t>24시간 응급 진료 · 직업환경의학과</a:t>
            </a:r>
            <a:endParaRPr lang="en-US" sz="1400" dirty="0"/>
          </a:p>
        </p:txBody>
      </p:sp>
      <p:sp>
        <p:nvSpPr>
          <p:cNvPr id="37" name="div-357"/>
          <p:cNvSpPr/>
          <p:nvPr/>
        </p:nvSpPr>
        <p:spPr>
          <a:xfrm>
            <a:off x="8046720" y="3931920"/>
            <a:ext cx="3276295" cy="0"/>
          </a:xfrm>
          <a:prstGeom prst="line">
            <a:avLst/>
          </a:prstGeom>
          <a:noFill/>
          <a:ln w="12700">
            <a:solidFill>
              <a:schemeClr val="accent6"/>
            </a:solidFill>
            <a:prstDash val="solid"/>
          </a:ln>
        </p:spPr>
      </p:sp>
      <p:sp>
        <p:nvSpPr>
          <p:cNvPr id="38" name="qrbg-358"/>
          <p:cNvSpPr/>
          <p:nvPr/>
        </p:nvSpPr>
        <p:spPr>
          <a:xfrm>
            <a:off x="8046720" y="4160520"/>
            <a:ext cx="1097280" cy="1097280"/>
          </a:xfrm>
          <a:prstGeom prst="rect">
            <a:avLst/>
          </a:prstGeom>
          <a:solidFill>
            <a:schemeClr val="bg1"/>
          </a:solidFill>
          <a:ln w="12700">
            <a:solidFill>
              <a:schemeClr val="bg1"/>
            </a:solidFill>
            <a:prstDash val="solid"/>
          </a:ln>
        </p:spPr>
      </p:sp>
      <p:pic>
        <p:nvPicPr>
          <p:cNvPr id="39" name="qr-359" descr="QR 코드 자리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138160" y="4251960"/>
            <a:ext cx="914400" cy="914400"/>
          </a:xfrm>
          <a:prstGeom prst="rect">
            <a:avLst/>
          </a:prstGeom>
        </p:spPr>
      </p:pic>
      <p:sp>
        <p:nvSpPr>
          <p:cNvPr id="40" name="txt-360"/>
          <p:cNvSpPr txBox="1"/>
          <p:nvPr/>
        </p:nvSpPr>
        <p:spPr>
          <a:xfrm>
            <a:off x="9326880" y="4160520"/>
            <a:ext cx="1996135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chemeClr val="bg1"/>
                </a:solidFill>
              </a:rPr>
              <a:t>네이버 · 티맵에서</a:t>
            </a:r>
            <a:endParaRPr lang="en-US" sz="1400" dirty="0"/>
          </a:p>
          <a:p>
            <a:pPr indent="0" marL="0">
              <a:buNone/>
            </a:pPr>
            <a:r>
              <a:rPr lang="en-US" sz="1400" b="1" dirty="0">
                <a:solidFill>
                  <a:schemeClr val="bg1"/>
                </a:solidFill>
              </a:rPr>
              <a:t>‘예산명지병원’ 검색</a:t>
            </a:r>
            <a:endParaRPr lang="en-US" sz="1400" dirty="0"/>
          </a:p>
        </p:txBody>
      </p:sp>
      <p:sp>
        <p:nvSpPr>
          <p:cNvPr id="41" name="chip-361"/>
          <p:cNvSpPr/>
          <p:nvPr/>
        </p:nvSpPr>
        <p:spPr>
          <a:xfrm>
            <a:off x="9326880" y="4937760"/>
            <a:ext cx="384048" cy="384048"/>
          </a:xfrm>
          <a:prstGeom prst="ellipse">
            <a:avLst/>
          </a:prstGeom>
          <a:solidFill>
            <a:srgbClr val="03C75A"/>
          </a:solidFill>
          <a:ln w="12700">
            <a:solidFill>
              <a:srgbClr val="03C75A"/>
            </a:solidFill>
            <a:prstDash val="solid"/>
          </a:ln>
        </p:spPr>
      </p:sp>
      <p:sp>
        <p:nvSpPr>
          <p:cNvPr id="42" name="txt-362"/>
          <p:cNvSpPr txBox="1"/>
          <p:nvPr/>
        </p:nvSpPr>
        <p:spPr>
          <a:xfrm>
            <a:off x="9326880" y="4937760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chemeClr val="bg1"/>
                </a:solidFill>
              </a:rPr>
              <a:t>N</a:t>
            </a:r>
            <a:endParaRPr lang="en-US" sz="1100" dirty="0"/>
          </a:p>
        </p:txBody>
      </p:sp>
      <p:sp>
        <p:nvSpPr>
          <p:cNvPr id="43" name="chip-363"/>
          <p:cNvSpPr/>
          <p:nvPr/>
        </p:nvSpPr>
        <p:spPr>
          <a:xfrm>
            <a:off x="9829800" y="4937760"/>
            <a:ext cx="384048" cy="384048"/>
          </a:xfrm>
          <a:prstGeom prst="ellipse">
            <a:avLst/>
          </a:prstGeom>
          <a:solidFill>
            <a:srgbClr val="3B6EF0"/>
          </a:solidFill>
          <a:ln w="12700">
            <a:solidFill>
              <a:srgbClr val="3B6EF0"/>
            </a:solidFill>
            <a:prstDash val="solid"/>
          </a:ln>
        </p:spPr>
      </p:sp>
      <p:sp>
        <p:nvSpPr>
          <p:cNvPr id="44" name="txt-364"/>
          <p:cNvSpPr txBox="1"/>
          <p:nvPr/>
        </p:nvSpPr>
        <p:spPr>
          <a:xfrm>
            <a:off x="9829800" y="4937760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chemeClr val="bg1"/>
                </a:solidFill>
              </a:rPr>
              <a:t>T</a:t>
            </a:r>
            <a:endParaRPr lang="en-US" sz="1100" dirty="0"/>
          </a:p>
        </p:txBody>
      </p:sp>
      <p:sp>
        <p:nvSpPr>
          <p:cNvPr id="45" name="txt-365"/>
          <p:cNvSpPr txBox="1"/>
          <p:nvPr/>
        </p:nvSpPr>
        <p:spPr>
          <a:xfrm>
            <a:off x="548640" y="6053328"/>
            <a:ext cx="11094415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dirty="0">
                <a:solidFill>
                  <a:schemeClr val="accent6"/>
                </a:solidFill>
              </a:rPr>
              <a:t>부착물 · 안내카드는 의료광고 사전심의와 옥외광고물법상 허가 · 신고를 거쳐 설치합니다. 시안은 이해를 돕기 위한 예시입니다.</a:t>
            </a:r>
            <a:endParaRPr lang="en-US" sz="10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94415" y="6419088"/>
            <a:ext cx="548640" cy="256032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6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13</a:t>
            </a:fld>
            <a:endParaRPr lang="en-US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body" hasCustomPrompt="1"/>
          </p:nvPr>
        </p:nvSpPr>
        <p:spPr>
          <a:xfrm>
            <a:off x="548640" y="320040"/>
            <a:ext cx="7315200" cy="320040"/>
          </a:xfrm>
          <a:prstGeom prst="rect">
            <a:avLst/>
          </a:prstGeom>
          <a:noFill/>
          <a:ln/>
        </p:spPr>
        <p:txBody>
          <a:bodyPr wrap="square" lIns="0" tIns="0" rIns="0" bIns="0" rtlCol="0"/>
          <a:lstStyle/>
          <a:p>
            <a:pPr algn="l" indent="0" marL="0">
              <a:buNone/>
            </a:pPr>
            <a:r>
              <a:rPr lang="en-US" sz="1200" b="1" dirty="0">
                <a:solidFill>
                  <a:schemeClr val="accent1"/>
                </a:solidFill>
              </a:rPr>
              <a:t>03  규정 준수</a:t>
            </a:r>
            <a:endParaRPr lang="en-US" sz="1200" dirty="0"/>
          </a:p>
        </p:txBody>
      </p:sp>
      <p:sp>
        <p:nvSpPr>
          <p:cNvPr id="3" name="Text 0"/>
          <p:cNvSpPr/>
          <p:nvPr>
            <p:ph idx="101" type="title" hasCustomPrompt="1"/>
          </p:nvPr>
        </p:nvSpPr>
        <p:spPr>
          <a:xfrm>
            <a:off x="548640" y="640080"/>
            <a:ext cx="11094415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chemeClr val="tx2"/>
                </a:solidFill>
              </a:rPr>
              <a:t>의료광고 규정 안에서 바로 시작할 수 있습니다</a:t>
            </a:r>
            <a:endParaRPr lang="en-US" sz="2800" dirty="0"/>
          </a:p>
        </p:txBody>
      </p:sp>
      <p:sp>
        <p:nvSpPr>
          <p:cNvPr id="4" name="box-366"/>
          <p:cNvSpPr/>
          <p:nvPr/>
        </p:nvSpPr>
        <p:spPr>
          <a:xfrm>
            <a:off x="548640" y="1600200"/>
            <a:ext cx="5318608" cy="4023360"/>
          </a:xfrm>
          <a:prstGeom prst="roundRect">
            <a:avLst>
              <a:gd name="adj" fmla="val 3182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5" name="ic-bg-367"/>
          <p:cNvSpPr/>
          <p:nvPr/>
        </p:nvSpPr>
        <p:spPr>
          <a:xfrm>
            <a:off x="914400" y="1874520"/>
            <a:ext cx="731520" cy="731520"/>
          </a:xfrm>
          <a:prstGeom prst="ellipse">
            <a:avLst/>
          </a:prstGeom>
          <a:solidFill>
            <a:srgbClr val="1E8C82"/>
          </a:solidFill>
          <a:ln w="12700">
            <a:solidFill>
              <a:srgbClr val="1E8C82"/>
            </a:solidFill>
            <a:prstDash val="solid"/>
          </a:ln>
        </p:spPr>
      </p:sp>
      <p:pic>
        <p:nvPicPr>
          <p:cNvPr id="6" name="ic-368" descr="FaCheck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97280" y="2057400"/>
            <a:ext cx="365760" cy="365760"/>
          </a:xfrm>
          <a:prstGeom prst="rect">
            <a:avLst/>
          </a:prstGeom>
        </p:spPr>
      </p:pic>
      <p:sp>
        <p:nvSpPr>
          <p:cNvPr id="7" name="txt-369"/>
          <p:cNvSpPr txBox="1"/>
          <p:nvPr/>
        </p:nvSpPr>
        <p:spPr>
          <a:xfrm>
            <a:off x="1874520" y="1874520"/>
            <a:ext cx="3672688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100" b="1" dirty="0">
                <a:solidFill>
                  <a:schemeClr val="tx2"/>
                </a:solidFill>
              </a:rPr>
              <a:t>심의 없이 게시 가능</a:t>
            </a:r>
            <a:endParaRPr lang="en-US" sz="2100" dirty="0"/>
          </a:p>
        </p:txBody>
      </p:sp>
      <p:sp>
        <p:nvSpPr>
          <p:cNvPr id="8" name="list-370"/>
          <p:cNvSpPr txBox="1"/>
          <p:nvPr/>
        </p:nvSpPr>
        <p:spPr>
          <a:xfrm>
            <a:off x="960120" y="2880360"/>
            <a:ext cx="4495648" cy="1645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600" dirty="0">
                <a:solidFill>
                  <a:schemeClr val="tx1"/>
                </a:solidFill>
              </a:rPr>
              <a:t>병원명 · 주소 · 전화번호</a:t>
            </a:r>
            <a:endParaRPr lang="en-US" sz="160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600" dirty="0">
                <a:solidFill>
                  <a:schemeClr val="tx1"/>
                </a:solidFill>
              </a:rPr>
              <a:t>진료과목 · 진료시간</a:t>
            </a:r>
            <a:endParaRPr lang="en-US" sz="160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600" dirty="0">
                <a:solidFill>
                  <a:schemeClr val="tx1"/>
                </a:solidFill>
              </a:rPr>
              <a:t>의료진 성명 · 면허 종류</a:t>
            </a:r>
            <a:endParaRPr lang="en-US" sz="1600" dirty="0"/>
          </a:p>
        </p:txBody>
      </p:sp>
      <p:sp>
        <p:nvSpPr>
          <p:cNvPr id="9" name="txt-371"/>
          <p:cNvSpPr txBox="1"/>
          <p:nvPr/>
        </p:nvSpPr>
        <p:spPr>
          <a:xfrm>
            <a:off x="960120" y="4800600"/>
            <a:ext cx="449564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b="1" dirty="0">
                <a:solidFill>
                  <a:schemeClr val="accent1"/>
                </a:solidFill>
              </a:rPr>
              <a:t>→ 지도 정보 세팅은 대부분 이 범위</a:t>
            </a:r>
            <a:endParaRPr lang="en-US" sz="1600" dirty="0"/>
          </a:p>
        </p:txBody>
      </p:sp>
      <p:sp>
        <p:nvSpPr>
          <p:cNvPr id="10" name="box-372"/>
          <p:cNvSpPr/>
          <p:nvPr/>
        </p:nvSpPr>
        <p:spPr>
          <a:xfrm>
            <a:off x="6324448" y="1600200"/>
            <a:ext cx="5318608" cy="4023360"/>
          </a:xfrm>
          <a:prstGeom prst="roundRect">
            <a:avLst>
              <a:gd name="adj" fmla="val 3182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11" name="ic-bg-373"/>
          <p:cNvSpPr/>
          <p:nvPr/>
        </p:nvSpPr>
        <p:spPr>
          <a:xfrm>
            <a:off x="6690208" y="1874520"/>
            <a:ext cx="731520" cy="731520"/>
          </a:xfrm>
          <a:prstGeom prst="ellipse">
            <a:avLst/>
          </a:prstGeom>
          <a:solidFill>
            <a:srgbClr val="E2563B"/>
          </a:solidFill>
          <a:ln w="12700">
            <a:solidFill>
              <a:srgbClr val="E2563B"/>
            </a:solidFill>
            <a:prstDash val="solid"/>
          </a:ln>
        </p:spPr>
      </p:sp>
      <p:pic>
        <p:nvPicPr>
          <p:cNvPr id="12" name="ic-374" descr="FaShieldAlt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873088" y="2057400"/>
            <a:ext cx="365760" cy="365760"/>
          </a:xfrm>
          <a:prstGeom prst="rect">
            <a:avLst/>
          </a:prstGeom>
        </p:spPr>
      </p:pic>
      <p:sp>
        <p:nvSpPr>
          <p:cNvPr id="13" name="txt-375"/>
          <p:cNvSpPr txBox="1"/>
          <p:nvPr/>
        </p:nvSpPr>
        <p:spPr>
          <a:xfrm>
            <a:off x="7650328" y="1874520"/>
            <a:ext cx="3672688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100" b="1" dirty="0">
                <a:solidFill>
                  <a:schemeClr val="tx2"/>
                </a:solidFill>
              </a:rPr>
              <a:t>사전심의 후 게시</a:t>
            </a:r>
            <a:endParaRPr lang="en-US" sz="2100" dirty="0"/>
          </a:p>
        </p:txBody>
      </p:sp>
      <p:sp>
        <p:nvSpPr>
          <p:cNvPr id="14" name="list-376"/>
          <p:cNvSpPr txBox="1"/>
          <p:nvPr/>
        </p:nvSpPr>
        <p:spPr>
          <a:xfrm>
            <a:off x="6735928" y="2880360"/>
            <a:ext cx="4495648" cy="1645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600" dirty="0">
                <a:solidFill>
                  <a:schemeClr val="tx1"/>
                </a:solidFill>
              </a:rPr>
              <a:t>홍보 문구가 들어간 소식 · 이벤트</a:t>
            </a:r>
            <a:endParaRPr lang="en-US" sz="160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600" dirty="0">
                <a:solidFill>
                  <a:schemeClr val="tx1"/>
                </a:solidFill>
              </a:rPr>
              <a:t>검색 광고 문안과 연결 페이지</a:t>
            </a:r>
            <a:endParaRPr lang="en-US" sz="160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600" dirty="0">
                <a:solidFill>
                  <a:schemeClr val="tx1"/>
                </a:solidFill>
              </a:rPr>
              <a:t>효과 · 순위를 내세우는 표현</a:t>
            </a:r>
            <a:endParaRPr lang="en-US" sz="1600" dirty="0"/>
          </a:p>
        </p:txBody>
      </p:sp>
      <p:sp>
        <p:nvSpPr>
          <p:cNvPr id="15" name="txt-377"/>
          <p:cNvSpPr txBox="1"/>
          <p:nvPr/>
        </p:nvSpPr>
        <p:spPr>
          <a:xfrm>
            <a:off x="6735928" y="4800600"/>
            <a:ext cx="449564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b="1" dirty="0">
                <a:solidFill>
                  <a:schemeClr val="accent2"/>
                </a:solidFill>
              </a:rPr>
              <a:t>→ 병원 명의 계정으로 심의 신청</a:t>
            </a:r>
            <a:endParaRPr lang="en-US" sz="1600" dirty="0"/>
          </a:p>
        </p:txBody>
      </p:sp>
      <p:sp>
        <p:nvSpPr>
          <p:cNvPr id="16" name="txt-378"/>
          <p:cNvSpPr txBox="1"/>
          <p:nvPr/>
        </p:nvSpPr>
        <p:spPr>
          <a:xfrm>
            <a:off x="548640" y="6053328"/>
            <a:ext cx="11094415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dirty="0">
                <a:solidFill>
                  <a:schemeClr val="accent6"/>
                </a:solidFill>
              </a:rPr>
              <a:t>근거: 의료법 제56 · 57조, 대한의사협회 의료광고심의위원회 안내</a:t>
            </a:r>
            <a:endParaRPr lang="en-US" sz="10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94415" y="6419088"/>
            <a:ext cx="548640" cy="256032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6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14</a:t>
            </a:fld>
            <a:endParaRPr lang="en-US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body" hasCustomPrompt="1"/>
          </p:nvPr>
        </p:nvSpPr>
        <p:spPr>
          <a:xfrm>
            <a:off x="548640" y="320040"/>
            <a:ext cx="7315200" cy="320040"/>
          </a:xfrm>
          <a:prstGeom prst="rect">
            <a:avLst/>
          </a:prstGeom>
          <a:noFill/>
          <a:ln/>
        </p:spPr>
        <p:txBody>
          <a:bodyPr wrap="square" lIns="0" tIns="0" rIns="0" bIns="0" rtlCol="0"/>
          <a:lstStyle/>
          <a:p>
            <a:pPr algn="l" indent="0" marL="0">
              <a:buNone/>
            </a:pPr>
            <a:r>
              <a:rPr lang="en-US" sz="1200" b="1" dirty="0">
                <a:solidFill>
                  <a:schemeClr val="accent1"/>
                </a:solidFill>
              </a:rPr>
              <a:t>04  진행 일정</a:t>
            </a:r>
            <a:endParaRPr lang="en-US" sz="1200" dirty="0"/>
          </a:p>
        </p:txBody>
      </p:sp>
      <p:sp>
        <p:nvSpPr>
          <p:cNvPr id="3" name="Text 0"/>
          <p:cNvSpPr/>
          <p:nvPr>
            <p:ph idx="101" type="title" hasCustomPrompt="1"/>
          </p:nvPr>
        </p:nvSpPr>
        <p:spPr>
          <a:xfrm>
            <a:off x="548640" y="640080"/>
            <a:ext cx="11094415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chemeClr val="tx2"/>
                </a:solidFill>
              </a:rPr>
              <a:t>4주 안에 세팅을 마치고 2개월차부터 월간 관리로 전환합니다</a:t>
            </a:r>
            <a:endParaRPr lang="en-US" sz="2800" dirty="0"/>
          </a:p>
        </p:txBody>
      </p:sp>
      <p:sp>
        <p:nvSpPr>
          <p:cNvPr id="4" name="line-379"/>
          <p:cNvSpPr/>
          <p:nvPr/>
        </p:nvSpPr>
        <p:spPr>
          <a:xfrm>
            <a:off x="1935442" y="2514600"/>
            <a:ext cx="8320811" cy="0"/>
          </a:xfrm>
          <a:prstGeom prst="line">
            <a:avLst/>
          </a:prstGeom>
          <a:noFill/>
          <a:ln w="25400">
            <a:solidFill>
              <a:schemeClr val="accent6"/>
            </a:solidFill>
            <a:prstDash val="dash"/>
          </a:ln>
        </p:spPr>
      </p:sp>
      <p:sp>
        <p:nvSpPr>
          <p:cNvPr id="5" name="node-380"/>
          <p:cNvSpPr/>
          <p:nvPr/>
        </p:nvSpPr>
        <p:spPr>
          <a:xfrm>
            <a:off x="1642834" y="2221992"/>
            <a:ext cx="585216" cy="585216"/>
          </a:xfrm>
          <a:prstGeom prst="ellipse">
            <a:avLst/>
          </a:prstGeom>
          <a:solidFill>
            <a:schemeClr val="accent1"/>
          </a:solidFill>
          <a:ln w="38100">
            <a:solidFill>
              <a:schemeClr val="bg1"/>
            </a:solidFill>
            <a:prstDash val="solid"/>
          </a:ln>
        </p:spPr>
      </p:sp>
      <p:sp>
        <p:nvSpPr>
          <p:cNvPr id="6" name="txt-381"/>
          <p:cNvSpPr txBox="1"/>
          <p:nvPr/>
        </p:nvSpPr>
        <p:spPr>
          <a:xfrm>
            <a:off x="1642834" y="2221992"/>
            <a:ext cx="585216" cy="5852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chemeClr val="bg1"/>
                </a:solidFill>
              </a:rPr>
              <a:t>1</a:t>
            </a:r>
            <a:endParaRPr lang="en-US" sz="1600" dirty="0"/>
          </a:p>
        </p:txBody>
      </p:sp>
      <p:sp>
        <p:nvSpPr>
          <p:cNvPr id="7" name="txt-382"/>
          <p:cNvSpPr txBox="1"/>
          <p:nvPr/>
        </p:nvSpPr>
        <p:spPr>
          <a:xfrm>
            <a:off x="655282" y="1600200"/>
            <a:ext cx="25603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800" b="1" dirty="0">
                <a:solidFill>
                  <a:schemeClr val="accent1"/>
                </a:solidFill>
              </a:rPr>
              <a:t>1주차</a:t>
            </a:r>
            <a:endParaRPr lang="en-US" sz="1800" dirty="0"/>
          </a:p>
        </p:txBody>
      </p:sp>
      <p:sp>
        <p:nvSpPr>
          <p:cNvPr id="8" name="box-383"/>
          <p:cNvSpPr/>
          <p:nvPr/>
        </p:nvSpPr>
        <p:spPr>
          <a:xfrm>
            <a:off x="701002" y="3063240"/>
            <a:ext cx="2468880" cy="2011680"/>
          </a:xfrm>
          <a:prstGeom prst="roundRect">
            <a:avLst>
              <a:gd name="adj" fmla="val 6364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9" name="txt-384"/>
          <p:cNvSpPr txBox="1"/>
          <p:nvPr/>
        </p:nvSpPr>
        <p:spPr>
          <a:xfrm>
            <a:off x="883882" y="3246120"/>
            <a:ext cx="21031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b="1" dirty="0">
                <a:solidFill>
                  <a:schemeClr val="tx2"/>
                </a:solidFill>
              </a:rPr>
              <a:t>현황 진단</a:t>
            </a:r>
            <a:endParaRPr lang="en-US" sz="1800" dirty="0"/>
          </a:p>
        </p:txBody>
      </p:sp>
      <p:sp>
        <p:nvSpPr>
          <p:cNvPr id="10" name="txt-385"/>
          <p:cNvSpPr txBox="1"/>
          <p:nvPr/>
        </p:nvSpPr>
        <p:spPr>
          <a:xfrm>
            <a:off x="883882" y="3749040"/>
            <a:ext cx="210312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3대 지도의 현재 정보 · 순위 · 리뷰 점검표</a:t>
            </a:r>
            <a:endParaRPr lang="en-US" sz="1400" dirty="0"/>
          </a:p>
        </p:txBody>
      </p:sp>
      <p:sp>
        <p:nvSpPr>
          <p:cNvPr id="11" name="node-386"/>
          <p:cNvSpPr/>
          <p:nvPr/>
        </p:nvSpPr>
        <p:spPr>
          <a:xfrm>
            <a:off x="4416438" y="2221992"/>
            <a:ext cx="585216" cy="585216"/>
          </a:xfrm>
          <a:prstGeom prst="ellipse">
            <a:avLst/>
          </a:prstGeom>
          <a:solidFill>
            <a:schemeClr val="accent1"/>
          </a:solidFill>
          <a:ln w="38100">
            <a:solidFill>
              <a:schemeClr val="bg1"/>
            </a:solidFill>
            <a:prstDash val="solid"/>
          </a:ln>
        </p:spPr>
      </p:sp>
      <p:sp>
        <p:nvSpPr>
          <p:cNvPr id="12" name="txt-387"/>
          <p:cNvSpPr txBox="1"/>
          <p:nvPr/>
        </p:nvSpPr>
        <p:spPr>
          <a:xfrm>
            <a:off x="4416438" y="2221992"/>
            <a:ext cx="585216" cy="5852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chemeClr val="bg1"/>
                </a:solidFill>
              </a:rPr>
              <a:t>2</a:t>
            </a:r>
            <a:endParaRPr lang="en-US" sz="1600" dirty="0"/>
          </a:p>
        </p:txBody>
      </p:sp>
      <p:sp>
        <p:nvSpPr>
          <p:cNvPr id="13" name="txt-388"/>
          <p:cNvSpPr txBox="1"/>
          <p:nvPr/>
        </p:nvSpPr>
        <p:spPr>
          <a:xfrm>
            <a:off x="3428886" y="1600200"/>
            <a:ext cx="25603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800" b="1" dirty="0">
                <a:solidFill>
                  <a:schemeClr val="accent1"/>
                </a:solidFill>
              </a:rPr>
              <a:t>2주차</a:t>
            </a:r>
            <a:endParaRPr lang="en-US" sz="1800" dirty="0"/>
          </a:p>
        </p:txBody>
      </p:sp>
      <p:sp>
        <p:nvSpPr>
          <p:cNvPr id="14" name="box-389"/>
          <p:cNvSpPr/>
          <p:nvPr/>
        </p:nvSpPr>
        <p:spPr>
          <a:xfrm>
            <a:off x="3474606" y="3063240"/>
            <a:ext cx="2468880" cy="2011680"/>
          </a:xfrm>
          <a:prstGeom prst="roundRect">
            <a:avLst>
              <a:gd name="adj" fmla="val 6364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15" name="txt-390"/>
          <p:cNvSpPr txBox="1"/>
          <p:nvPr/>
        </p:nvSpPr>
        <p:spPr>
          <a:xfrm>
            <a:off x="3657486" y="3246120"/>
            <a:ext cx="21031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b="1" dirty="0">
                <a:solidFill>
                  <a:schemeClr val="tx2"/>
                </a:solidFill>
              </a:rPr>
              <a:t>권한 확보</a:t>
            </a:r>
            <a:endParaRPr lang="en-US" sz="1800" dirty="0"/>
          </a:p>
        </p:txBody>
      </p:sp>
      <p:sp>
        <p:nvSpPr>
          <p:cNvPr id="16" name="txt-391"/>
          <p:cNvSpPr txBox="1"/>
          <p:nvPr/>
        </p:nvSpPr>
        <p:spPr>
          <a:xfrm>
            <a:off x="3657486" y="3749040"/>
            <a:ext cx="210312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병원 명의 관리 권한 등록, 기준 정보표 확정</a:t>
            </a:r>
            <a:endParaRPr lang="en-US" sz="1400" dirty="0"/>
          </a:p>
        </p:txBody>
      </p:sp>
      <p:sp>
        <p:nvSpPr>
          <p:cNvPr id="17" name="node-392"/>
          <p:cNvSpPr/>
          <p:nvPr/>
        </p:nvSpPr>
        <p:spPr>
          <a:xfrm>
            <a:off x="7190042" y="2221992"/>
            <a:ext cx="585216" cy="585216"/>
          </a:xfrm>
          <a:prstGeom prst="ellipse">
            <a:avLst/>
          </a:prstGeom>
          <a:solidFill>
            <a:schemeClr val="accent1"/>
          </a:solidFill>
          <a:ln w="38100">
            <a:solidFill>
              <a:schemeClr val="bg1"/>
            </a:solidFill>
            <a:prstDash val="solid"/>
          </a:ln>
        </p:spPr>
      </p:sp>
      <p:sp>
        <p:nvSpPr>
          <p:cNvPr id="18" name="txt-393"/>
          <p:cNvSpPr txBox="1"/>
          <p:nvPr/>
        </p:nvSpPr>
        <p:spPr>
          <a:xfrm>
            <a:off x="7190042" y="2221992"/>
            <a:ext cx="585216" cy="5852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chemeClr val="bg1"/>
                </a:solidFill>
              </a:rPr>
              <a:t>3</a:t>
            </a:r>
            <a:endParaRPr lang="en-US" sz="1600" dirty="0"/>
          </a:p>
        </p:txBody>
      </p:sp>
      <p:sp>
        <p:nvSpPr>
          <p:cNvPr id="19" name="txt-394"/>
          <p:cNvSpPr txBox="1"/>
          <p:nvPr/>
        </p:nvSpPr>
        <p:spPr>
          <a:xfrm>
            <a:off x="6202490" y="1600200"/>
            <a:ext cx="25603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800" b="1" dirty="0">
                <a:solidFill>
                  <a:schemeClr val="accent1"/>
                </a:solidFill>
              </a:rPr>
              <a:t>3–4주차</a:t>
            </a:r>
            <a:endParaRPr lang="en-US" sz="1800" dirty="0"/>
          </a:p>
        </p:txBody>
      </p:sp>
      <p:sp>
        <p:nvSpPr>
          <p:cNvPr id="20" name="box-395"/>
          <p:cNvSpPr/>
          <p:nvPr/>
        </p:nvSpPr>
        <p:spPr>
          <a:xfrm>
            <a:off x="6248210" y="3063240"/>
            <a:ext cx="2468880" cy="2011680"/>
          </a:xfrm>
          <a:prstGeom prst="roundRect">
            <a:avLst>
              <a:gd name="adj" fmla="val 6364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21" name="txt-396"/>
          <p:cNvSpPr txBox="1"/>
          <p:nvPr/>
        </p:nvSpPr>
        <p:spPr>
          <a:xfrm>
            <a:off x="6431090" y="3246120"/>
            <a:ext cx="21031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b="1" dirty="0">
                <a:solidFill>
                  <a:schemeClr val="tx2"/>
                </a:solidFill>
              </a:rPr>
              <a:t>세팅 완료</a:t>
            </a:r>
            <a:endParaRPr lang="en-US" sz="1800" dirty="0"/>
          </a:p>
        </p:txBody>
      </p:sp>
      <p:sp>
        <p:nvSpPr>
          <p:cNvPr id="22" name="txt-397"/>
          <p:cNvSpPr txBox="1"/>
          <p:nvPr/>
        </p:nvSpPr>
        <p:spPr>
          <a:xfrm>
            <a:off x="6431090" y="3749040"/>
            <a:ext cx="210312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정보 · 사진 · 연결 정비, 오류 정보 수정</a:t>
            </a:r>
            <a:endParaRPr lang="en-US" sz="1400" dirty="0"/>
          </a:p>
        </p:txBody>
      </p:sp>
      <p:sp>
        <p:nvSpPr>
          <p:cNvPr id="23" name="node-398"/>
          <p:cNvSpPr/>
          <p:nvPr/>
        </p:nvSpPr>
        <p:spPr>
          <a:xfrm>
            <a:off x="9963645" y="2221992"/>
            <a:ext cx="585216" cy="585216"/>
          </a:xfrm>
          <a:prstGeom prst="ellipse">
            <a:avLst/>
          </a:prstGeom>
          <a:solidFill>
            <a:schemeClr val="accent2"/>
          </a:solidFill>
          <a:ln w="38100">
            <a:solidFill>
              <a:schemeClr val="bg1"/>
            </a:solidFill>
            <a:prstDash val="solid"/>
          </a:ln>
        </p:spPr>
      </p:sp>
      <p:sp>
        <p:nvSpPr>
          <p:cNvPr id="24" name="txt-399"/>
          <p:cNvSpPr txBox="1"/>
          <p:nvPr/>
        </p:nvSpPr>
        <p:spPr>
          <a:xfrm>
            <a:off x="9963645" y="2221992"/>
            <a:ext cx="585216" cy="5852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chemeClr val="bg1"/>
                </a:solidFill>
              </a:rPr>
              <a:t>4</a:t>
            </a:r>
            <a:endParaRPr lang="en-US" sz="1600" dirty="0"/>
          </a:p>
        </p:txBody>
      </p:sp>
      <p:sp>
        <p:nvSpPr>
          <p:cNvPr id="25" name="txt-400"/>
          <p:cNvSpPr txBox="1"/>
          <p:nvPr/>
        </p:nvSpPr>
        <p:spPr>
          <a:xfrm>
            <a:off x="8976093" y="1600200"/>
            <a:ext cx="25603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800" b="1" dirty="0">
                <a:solidFill>
                  <a:schemeClr val="accent2"/>
                </a:solidFill>
              </a:rPr>
              <a:t>2개월차~</a:t>
            </a:r>
            <a:endParaRPr lang="en-US" sz="1800" dirty="0"/>
          </a:p>
        </p:txBody>
      </p:sp>
      <p:sp>
        <p:nvSpPr>
          <p:cNvPr id="26" name="box-401"/>
          <p:cNvSpPr/>
          <p:nvPr/>
        </p:nvSpPr>
        <p:spPr>
          <a:xfrm>
            <a:off x="9021813" y="3063240"/>
            <a:ext cx="2468880" cy="2011680"/>
          </a:xfrm>
          <a:prstGeom prst="roundRect">
            <a:avLst>
              <a:gd name="adj" fmla="val 6364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27" name="txt-402"/>
          <p:cNvSpPr txBox="1"/>
          <p:nvPr/>
        </p:nvSpPr>
        <p:spPr>
          <a:xfrm>
            <a:off x="9204693" y="3246120"/>
            <a:ext cx="21031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b="1" dirty="0">
                <a:solidFill>
                  <a:schemeClr val="tx2"/>
                </a:solidFill>
              </a:rPr>
              <a:t>월간 관리</a:t>
            </a:r>
            <a:endParaRPr lang="en-US" sz="1800" dirty="0"/>
          </a:p>
        </p:txBody>
      </p:sp>
      <p:sp>
        <p:nvSpPr>
          <p:cNvPr id="28" name="txt-403"/>
          <p:cNvSpPr txBox="1"/>
          <p:nvPr/>
        </p:nvSpPr>
        <p:spPr>
          <a:xfrm>
            <a:off x="9204693" y="3749040"/>
            <a:ext cx="210312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소식 · 리뷰 답글 · 정보 갱신, 월간 리포트</a:t>
            </a:r>
            <a:endParaRPr lang="en-US" sz="1400" dirty="0"/>
          </a:p>
        </p:txBody>
      </p:sp>
      <p:sp>
        <p:nvSpPr>
          <p:cNvPr id="29" name="txt-404"/>
          <p:cNvSpPr txBox="1"/>
          <p:nvPr/>
        </p:nvSpPr>
        <p:spPr>
          <a:xfrm>
            <a:off x="548640" y="5349240"/>
            <a:ext cx="11094415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b="1" dirty="0">
                <a:solidFill>
                  <a:schemeClr val="tx2"/>
                </a:solidFill>
              </a:rPr>
              <a:t>선택 옵션(영수증 리뷰)은 세팅이 끝나는 3주차부터 함께 시작할 수 있습니다.</a:t>
            </a:r>
            <a:endParaRPr lang="en-US" sz="15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94415" y="6419088"/>
            <a:ext cx="548640" cy="256032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6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15</a:t>
            </a:fld>
            <a:endParaRPr lang="en-US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body" hasCustomPrompt="1"/>
          </p:nvPr>
        </p:nvSpPr>
        <p:spPr>
          <a:xfrm>
            <a:off x="548640" y="320040"/>
            <a:ext cx="7315200" cy="320040"/>
          </a:xfrm>
          <a:prstGeom prst="rect">
            <a:avLst/>
          </a:prstGeom>
          <a:noFill/>
          <a:ln/>
        </p:spPr>
        <p:txBody>
          <a:bodyPr wrap="square" lIns="0" tIns="0" rIns="0" bIns="0" rtlCol="0"/>
          <a:lstStyle/>
          <a:p>
            <a:pPr algn="l" indent="0" marL="0">
              <a:buNone/>
            </a:pPr>
            <a:r>
              <a:rPr lang="en-US" sz="1200" b="1" dirty="0">
                <a:solidFill>
                  <a:schemeClr val="accent1"/>
                </a:solidFill>
              </a:rPr>
              <a:t>04  비용 안내</a:t>
            </a:r>
            <a:endParaRPr lang="en-US" sz="1200" dirty="0"/>
          </a:p>
        </p:txBody>
      </p:sp>
      <p:sp>
        <p:nvSpPr>
          <p:cNvPr id="3" name="Text 0"/>
          <p:cNvSpPr/>
          <p:nvPr>
            <p:ph idx="101" type="title" hasCustomPrompt="1"/>
          </p:nvPr>
        </p:nvSpPr>
        <p:spPr>
          <a:xfrm>
            <a:off x="548640" y="640080"/>
            <a:ext cx="11094415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chemeClr val="tx2"/>
                </a:solidFill>
              </a:rPr>
              <a:t>3대 지도 세팅과 월간 관리는 무료로 제공합니다</a:t>
            </a:r>
            <a:endParaRPr lang="en-US" sz="2800" dirty="0"/>
          </a:p>
        </p:txBody>
      </p:sp>
      <p:graphicFrame>
        <p:nvGraphicFramePr>
          <p:cNvPr id="17" name="table-405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1600200"/>
          <a:ext cx="11094415" cy="914400"/>
        </p:xfrm>
        <a:graphic>
          <a:graphicData uri="http://schemas.openxmlformats.org/drawingml/2006/table">
            <a:tbl>
              <a:tblPr/>
              <a:tblGrid>
                <a:gridCol w="1188720"/>
                <a:gridCol w="3291840"/>
                <a:gridCol w="4873752"/>
                <a:gridCol w="1737360"/>
              </a:tblGrid>
              <a:tr h="530352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500" b="1" dirty="0">
                          <a:solidFill>
                            <a:schemeClr val="bg1"/>
                          </a:solidFill>
                        </a:rPr>
                        <a:t>구분</a:t>
                      </a:r>
                      <a:endParaRPr lang="en-US" sz="1500" dirty="0"/>
                    </a:p>
                  </a:txBody>
                  <a:tcPr marL="128016" marR="128016" marT="128016" marB="128016" anchor="ctr">
                    <a:lnL w="12700" cap="flat" cmpd="sng" algn="ctr">
                      <a:solidFill>
                        <a:srgbClr val="EDF3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DF3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DF3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DF3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500" b="1" dirty="0">
                          <a:solidFill>
                            <a:schemeClr val="bg1"/>
                          </a:solidFill>
                        </a:rPr>
                        <a:t>항목</a:t>
                      </a:r>
                      <a:endParaRPr lang="en-US" sz="1500" dirty="0"/>
                    </a:p>
                  </a:txBody>
                  <a:tcPr marL="128016" marR="128016" marT="128016" marB="128016" anchor="ctr">
                    <a:lnL w="12700" cap="flat" cmpd="sng" algn="ctr">
                      <a:solidFill>
                        <a:srgbClr val="EDF3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DF3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DF3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DF3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500" b="1" dirty="0">
                          <a:solidFill>
                            <a:schemeClr val="bg1"/>
                          </a:solidFill>
                        </a:rPr>
                        <a:t>내용</a:t>
                      </a:r>
                      <a:endParaRPr lang="en-US" sz="1500" dirty="0"/>
                    </a:p>
                  </a:txBody>
                  <a:tcPr marL="128016" marR="128016" marT="128016" marB="128016" anchor="ctr">
                    <a:lnL w="12700" cap="flat" cmpd="sng" algn="ctr">
                      <a:solidFill>
                        <a:srgbClr val="EDF3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DF3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DF3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DF3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500" b="1" dirty="0">
                          <a:solidFill>
                            <a:schemeClr val="bg1"/>
                          </a:solidFill>
                        </a:rPr>
                        <a:t>비용</a:t>
                      </a:r>
                      <a:endParaRPr lang="en-US" sz="1500" dirty="0"/>
                    </a:p>
                  </a:txBody>
                  <a:tcPr marL="128016" marR="128016" marT="128016" marB="128016" anchor="ctr">
                    <a:lnL w="12700" cap="flat" cmpd="sng" algn="ctr">
                      <a:solidFill>
                        <a:srgbClr val="EDF3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DF3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DF3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DF3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/>
                    </a:solidFill>
                  </a:tcPr>
                </a:tc>
              </a:tr>
              <a:tr h="53035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dirty="0">
                          <a:solidFill>
                            <a:schemeClr val="tx1"/>
                          </a:solidFill>
                        </a:rPr>
                        <a:t>기본</a:t>
                      </a:r>
                      <a:endParaRPr lang="en-US" sz="1500" dirty="0"/>
                    </a:p>
                  </a:txBody>
                  <a:tcPr marL="128016" marR="128016" marT="128016" marB="128016" anchor="ctr">
                    <a:lnL w="12700" cap="flat" cmpd="sng" algn="ctr">
                      <a:solidFill>
                        <a:srgbClr val="EDF3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DF3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DF3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DF3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dirty="0">
                          <a:solidFill>
                            <a:schemeClr val="tx1"/>
                          </a:solidFill>
                        </a:rPr>
                        <a:t>네이버 플레이스 세팅 · 관리</a:t>
                      </a:r>
                      <a:endParaRPr lang="en-US" sz="1500" dirty="0"/>
                    </a:p>
                  </a:txBody>
                  <a:tcPr marL="128016" marR="128016" marT="128016" marB="128016" anchor="ctr">
                    <a:lnL w="12700" cap="flat" cmpd="sng" algn="ctr">
                      <a:solidFill>
                        <a:srgbClr val="EDF3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DF3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DF3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DF3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dirty="0">
                          <a:solidFill>
                            <a:schemeClr val="tx1"/>
                          </a:solidFill>
                        </a:rPr>
                        <a:t>정보 · 사진 · 예약/톡톡 · 소식 · 리뷰 답글</a:t>
                      </a:r>
                      <a:endParaRPr lang="en-US" sz="1500" dirty="0"/>
                    </a:p>
                  </a:txBody>
                  <a:tcPr marL="128016" marR="128016" marT="128016" marB="128016" anchor="ctr">
                    <a:lnL w="12700" cap="flat" cmpd="sng" algn="ctr">
                      <a:solidFill>
                        <a:srgbClr val="EDF3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DF3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DF3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DF3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600" b="1" dirty="0">
                          <a:solidFill>
                            <a:schemeClr val="accent2"/>
                          </a:solidFill>
                        </a:rPr>
                        <a:t>무료</a:t>
                      </a:r>
                      <a:endParaRPr lang="en-US" sz="1600" dirty="0"/>
                    </a:p>
                  </a:txBody>
                  <a:tcPr marL="128016" marR="128016" marT="128016" marB="128016" anchor="ctr">
                    <a:lnL w="12700" cap="flat" cmpd="sng" algn="ctr">
                      <a:solidFill>
                        <a:srgbClr val="EDF3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DF3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DF3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DF3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</a:tr>
              <a:tr h="53035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dirty="0">
                          <a:solidFill>
                            <a:schemeClr val="tx1"/>
                          </a:solidFill>
                        </a:rPr>
                        <a:t>기본</a:t>
                      </a:r>
                      <a:endParaRPr lang="en-US" sz="1500" dirty="0"/>
                    </a:p>
                  </a:txBody>
                  <a:tcPr marL="128016" marR="128016" marT="128016" marB="128016" anchor="ctr">
                    <a:lnL w="12700" cap="flat" cmpd="sng" algn="ctr">
                      <a:solidFill>
                        <a:srgbClr val="EDF3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DF3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DF3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DF3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dirty="0">
                          <a:solidFill>
                            <a:schemeClr val="tx1"/>
                          </a:solidFill>
                        </a:rPr>
                        <a:t>카카오맵 세팅 · 관리</a:t>
                      </a:r>
                      <a:endParaRPr lang="en-US" sz="1500" dirty="0"/>
                    </a:p>
                  </a:txBody>
                  <a:tcPr marL="128016" marR="128016" marT="128016" marB="128016" anchor="ctr">
                    <a:lnL w="12700" cap="flat" cmpd="sng" algn="ctr">
                      <a:solidFill>
                        <a:srgbClr val="EDF3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DF3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DF3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DF3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dirty="0">
                          <a:solidFill>
                            <a:schemeClr val="tx1"/>
                          </a:solidFill>
                        </a:rPr>
                        <a:t>소유권 등록 · 정보 정비 · 카카오톡 채널 연결</a:t>
                      </a:r>
                      <a:endParaRPr lang="en-US" sz="1500" dirty="0"/>
                    </a:p>
                  </a:txBody>
                  <a:tcPr marL="128016" marR="128016" marT="128016" marB="128016" anchor="ctr">
                    <a:lnL w="12700" cap="flat" cmpd="sng" algn="ctr">
                      <a:solidFill>
                        <a:srgbClr val="EDF3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DF3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DF3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DF3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600" b="1" dirty="0">
                          <a:solidFill>
                            <a:schemeClr val="accent2"/>
                          </a:solidFill>
                        </a:rPr>
                        <a:t>무료</a:t>
                      </a:r>
                      <a:endParaRPr lang="en-US" sz="1600" dirty="0"/>
                    </a:p>
                  </a:txBody>
                  <a:tcPr marL="128016" marR="128016" marT="128016" marB="128016" anchor="ctr">
                    <a:lnL w="12700" cap="flat" cmpd="sng" algn="ctr">
                      <a:solidFill>
                        <a:srgbClr val="EDF3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DF3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DF3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DF3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</a:tr>
              <a:tr h="53035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dirty="0">
                          <a:solidFill>
                            <a:schemeClr val="tx1"/>
                          </a:solidFill>
                        </a:rPr>
                        <a:t>기본</a:t>
                      </a:r>
                      <a:endParaRPr lang="en-US" sz="1500" dirty="0"/>
                    </a:p>
                  </a:txBody>
                  <a:tcPr marL="128016" marR="128016" marT="128016" marB="128016" anchor="ctr">
                    <a:lnL w="12700" cap="flat" cmpd="sng" algn="ctr">
                      <a:solidFill>
                        <a:srgbClr val="EDF3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DF3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DF3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DF3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dirty="0">
                          <a:solidFill>
                            <a:schemeClr val="tx1"/>
                          </a:solidFill>
                        </a:rPr>
                        <a:t>티맵 세팅 · 관리</a:t>
                      </a:r>
                      <a:endParaRPr lang="en-US" sz="1500" dirty="0"/>
                    </a:p>
                  </a:txBody>
                  <a:tcPr marL="128016" marR="128016" marT="128016" marB="128016" anchor="ctr">
                    <a:lnL w="12700" cap="flat" cmpd="sng" algn="ctr">
                      <a:solidFill>
                        <a:srgbClr val="EDF3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DF3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DF3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DF3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dirty="0">
                          <a:solidFill>
                            <a:schemeClr val="tx1"/>
                          </a:solidFill>
                        </a:rPr>
                        <a:t>장소 정보 · 응급실 입구 좌표 · 정보 통일</a:t>
                      </a:r>
                      <a:endParaRPr lang="en-US" sz="1500" dirty="0"/>
                    </a:p>
                  </a:txBody>
                  <a:tcPr marL="128016" marR="128016" marT="128016" marB="128016" anchor="ctr">
                    <a:lnL w="12700" cap="flat" cmpd="sng" algn="ctr">
                      <a:solidFill>
                        <a:srgbClr val="EDF3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DF3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DF3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DF3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600" b="1" dirty="0">
                          <a:solidFill>
                            <a:schemeClr val="accent2"/>
                          </a:solidFill>
                        </a:rPr>
                        <a:t>무료</a:t>
                      </a:r>
                      <a:endParaRPr lang="en-US" sz="1600" dirty="0"/>
                    </a:p>
                  </a:txBody>
                  <a:tcPr marL="128016" marR="128016" marT="128016" marB="128016" anchor="ctr">
                    <a:lnL w="12700" cap="flat" cmpd="sng" algn="ctr">
                      <a:solidFill>
                        <a:srgbClr val="EDF3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DF3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DF3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DF3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</a:tr>
              <a:tr h="53035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dirty="0">
                          <a:solidFill>
                            <a:schemeClr val="tx1"/>
                          </a:solidFill>
                        </a:rPr>
                        <a:t>기본</a:t>
                      </a:r>
                      <a:endParaRPr lang="en-US" sz="1500" dirty="0"/>
                    </a:p>
                  </a:txBody>
                  <a:tcPr marL="128016" marR="128016" marT="128016" marB="128016" anchor="ctr">
                    <a:lnL w="12700" cap="flat" cmpd="sng" algn="ctr">
                      <a:solidFill>
                        <a:srgbClr val="EDF3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DF3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DF3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DF3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dirty="0">
                          <a:solidFill>
                            <a:schemeClr val="tx1"/>
                          </a:solidFill>
                        </a:rPr>
                        <a:t>월간 리포트</a:t>
                      </a:r>
                      <a:endParaRPr lang="en-US" sz="1500" dirty="0"/>
                    </a:p>
                  </a:txBody>
                  <a:tcPr marL="128016" marR="128016" marT="128016" marB="128016" anchor="ctr">
                    <a:lnL w="12700" cap="flat" cmpd="sng" algn="ctr">
                      <a:solidFill>
                        <a:srgbClr val="EDF3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DF3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DF3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DF3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dirty="0">
                          <a:solidFill>
                            <a:schemeClr val="tx1"/>
                          </a:solidFill>
                        </a:rPr>
                        <a:t>노출 순위 · 전화 · 길찾기 · 리뷰 현황</a:t>
                      </a:r>
                      <a:endParaRPr lang="en-US" sz="1500" dirty="0"/>
                    </a:p>
                  </a:txBody>
                  <a:tcPr marL="128016" marR="128016" marT="128016" marB="128016" anchor="ctr">
                    <a:lnL w="12700" cap="flat" cmpd="sng" algn="ctr">
                      <a:solidFill>
                        <a:srgbClr val="EDF3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DF3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DF3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DF3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600" b="1" dirty="0">
                          <a:solidFill>
                            <a:schemeClr val="accent2"/>
                          </a:solidFill>
                        </a:rPr>
                        <a:t>무료</a:t>
                      </a:r>
                      <a:endParaRPr lang="en-US" sz="1600" dirty="0"/>
                    </a:p>
                  </a:txBody>
                  <a:tcPr marL="128016" marR="128016" marT="128016" marB="128016" anchor="ctr">
                    <a:lnL w="12700" cap="flat" cmpd="sng" algn="ctr">
                      <a:solidFill>
                        <a:srgbClr val="EDF3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DF3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DF3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DF3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</a:tr>
              <a:tr h="53035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b="1" dirty="0">
                          <a:solidFill>
                            <a:schemeClr val="accent1"/>
                          </a:solidFill>
                        </a:rPr>
                        <a:t>옵션</a:t>
                      </a:r>
                      <a:endParaRPr lang="en-US" sz="1500" dirty="0"/>
                    </a:p>
                  </a:txBody>
                  <a:tcPr marL="128016" marR="128016" marT="128016" marB="128016" anchor="ctr">
                    <a:lnL w="12700" cap="flat" cmpd="sng" algn="ctr">
                      <a:solidFill>
                        <a:srgbClr val="EDF3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DF3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DF3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DF3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dirty="0">
                          <a:solidFill>
                            <a:schemeClr val="tx1"/>
                          </a:solidFill>
                        </a:rPr>
                        <a:t>네이버 플레이스 영수증 리뷰</a:t>
                      </a:r>
                      <a:endParaRPr lang="en-US" sz="1500" dirty="0"/>
                    </a:p>
                  </a:txBody>
                  <a:tcPr marL="128016" marR="128016" marT="128016" marB="128016" anchor="ctr">
                    <a:lnL w="12700" cap="flat" cmpd="sng" algn="ctr">
                      <a:solidFill>
                        <a:srgbClr val="EDF3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DF3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DF3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DF3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dirty="0">
                          <a:solidFill>
                            <a:schemeClr val="tx1"/>
                          </a:solidFill>
                        </a:rPr>
                        <a:t>실제 내원 고객 리뷰 참여 활성화(QR · 안내물)</a:t>
                      </a:r>
                      <a:endParaRPr lang="en-US" sz="1500" dirty="0"/>
                    </a:p>
                  </a:txBody>
                  <a:tcPr marL="128016" marR="128016" marT="128016" marB="128016" anchor="ctr">
                    <a:lnL w="12700" cap="flat" cmpd="sng" algn="ctr">
                      <a:solidFill>
                        <a:srgbClr val="EDF3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DF3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DF3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DF3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500" b="1" dirty="0">
                          <a:solidFill>
                            <a:schemeClr val="tx1"/>
                          </a:solidFill>
                        </a:rPr>
                        <a:t>별도 협의</a:t>
                      </a:r>
                      <a:endParaRPr lang="en-US" sz="1500" dirty="0"/>
                    </a:p>
                  </a:txBody>
                  <a:tcPr marL="128016" marR="128016" marT="128016" marB="128016" anchor="ctr">
                    <a:lnL w="12700" cap="flat" cmpd="sng" algn="ctr">
                      <a:solidFill>
                        <a:srgbClr val="EDF3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DF3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DF3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DF3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</a:tr>
              <a:tr h="53035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b="1" dirty="0">
                          <a:solidFill>
                            <a:schemeClr val="accent2"/>
                          </a:solidFill>
                        </a:rPr>
                        <a:t>확장</a:t>
                      </a:r>
                      <a:endParaRPr lang="en-US" sz="1500" dirty="0"/>
                    </a:p>
                  </a:txBody>
                  <a:tcPr marL="128016" marR="128016" marT="128016" marB="128016" anchor="ctr">
                    <a:lnL w="12700" cap="flat" cmpd="sng" algn="ctr">
                      <a:solidFill>
                        <a:srgbClr val="EDF3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DF3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DF3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DF3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dirty="0">
                          <a:solidFill>
                            <a:schemeClr val="tx1"/>
                          </a:solidFill>
                        </a:rPr>
                        <a:t>외부 부착물</a:t>
                      </a:r>
                      <a:endParaRPr lang="en-US" sz="1500" dirty="0"/>
                    </a:p>
                  </a:txBody>
                  <a:tcPr marL="128016" marR="128016" marT="128016" marB="128016" anchor="ctr">
                    <a:lnL w="12700" cap="flat" cmpd="sng" algn="ctr">
                      <a:solidFill>
                        <a:srgbClr val="EDF3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DF3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DF3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DF3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dirty="0">
                          <a:solidFill>
                            <a:schemeClr val="tx1"/>
                          </a:solidFill>
                        </a:rPr>
                        <a:t>랜드마크 앵커 부착물 · 거점 안내카드</a:t>
                      </a:r>
                      <a:endParaRPr lang="en-US" sz="1500" dirty="0"/>
                    </a:p>
                  </a:txBody>
                  <a:tcPr marL="128016" marR="128016" marT="128016" marB="128016" anchor="ctr">
                    <a:lnL w="12700" cap="flat" cmpd="sng" algn="ctr">
                      <a:solidFill>
                        <a:srgbClr val="EDF3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DF3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DF3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DF3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500" b="1" dirty="0">
                          <a:solidFill>
                            <a:schemeClr val="tx1"/>
                          </a:solidFill>
                        </a:rPr>
                        <a:t>실사 후 견적</a:t>
                      </a:r>
                      <a:endParaRPr lang="en-US" sz="1500" dirty="0"/>
                    </a:p>
                  </a:txBody>
                  <a:tcPr marL="128016" marR="128016" marT="128016" marB="128016" anchor="ctr">
                    <a:lnL w="12700" cap="flat" cmpd="sng" algn="ctr">
                      <a:solidFill>
                        <a:srgbClr val="EDF3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DF3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DF3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DF3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</a:tr>
            </a:tbl>
          </a:graphicData>
        </a:graphic>
      </p:graphicFrame>
      <p:sp>
        <p:nvSpPr>
          <p:cNvPr id="5" name="box-406"/>
          <p:cNvSpPr/>
          <p:nvPr/>
        </p:nvSpPr>
        <p:spPr>
          <a:xfrm>
            <a:off x="548640" y="5486400"/>
            <a:ext cx="11094415" cy="548640"/>
          </a:xfrm>
          <a:prstGeom prst="roundRect">
            <a:avLst>
              <a:gd name="adj" fmla="val 23333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6" name="txt-407"/>
          <p:cNvSpPr txBox="1"/>
          <p:nvPr/>
        </p:nvSpPr>
        <p:spPr>
          <a:xfrm>
            <a:off x="822960" y="5486400"/>
            <a:ext cx="10545775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chemeClr val="tx2"/>
                </a:solidFill>
              </a:rPr>
              <a:t>지도 정보 등록 자체도 각 플랫폼에서 무료입니다. 병원 부담 비용은 선택 옵션 · 확장 제안을 진행하실 때만 발생합니다.</a:t>
            </a:r>
            <a:endParaRPr lang="en-US" sz="15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94415" y="6419088"/>
            <a:ext cx="548640" cy="256032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6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16</a:t>
            </a:fld>
            <a:endParaRPr lang="en-US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body" hasCustomPrompt="1"/>
          </p:nvPr>
        </p:nvSpPr>
        <p:spPr>
          <a:xfrm>
            <a:off x="548640" y="320040"/>
            <a:ext cx="7315200" cy="320040"/>
          </a:xfrm>
          <a:prstGeom prst="rect">
            <a:avLst/>
          </a:prstGeom>
          <a:noFill/>
          <a:ln/>
        </p:spPr>
        <p:txBody>
          <a:bodyPr wrap="square" lIns="0" tIns="0" rIns="0" bIns="0" rtlCol="0"/>
          <a:lstStyle/>
          <a:p>
            <a:pPr algn="l" indent="0" marL="0">
              <a:buNone/>
            </a:pPr>
            <a:r>
              <a:rPr lang="en-US" sz="1200" b="1" dirty="0">
                <a:solidFill>
                  <a:schemeClr val="accent1"/>
                </a:solidFill>
              </a:rPr>
              <a:t>04  성과 관리</a:t>
            </a:r>
            <a:endParaRPr lang="en-US" sz="1200" dirty="0"/>
          </a:p>
        </p:txBody>
      </p:sp>
      <p:sp>
        <p:nvSpPr>
          <p:cNvPr id="3" name="Text 0"/>
          <p:cNvSpPr/>
          <p:nvPr>
            <p:ph idx="101" type="title" hasCustomPrompt="1"/>
          </p:nvPr>
        </p:nvSpPr>
        <p:spPr>
          <a:xfrm>
            <a:off x="548640" y="640080"/>
            <a:ext cx="11094415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chemeClr val="tx2"/>
                </a:solidFill>
              </a:rPr>
              <a:t>성과는 지도에서 일어나는 행동으로 매월 확인합니다</a:t>
            </a:r>
            <a:endParaRPr lang="en-US" sz="2800" dirty="0"/>
          </a:p>
        </p:txBody>
      </p:sp>
      <p:sp>
        <p:nvSpPr>
          <p:cNvPr id="4" name="box-408"/>
          <p:cNvSpPr/>
          <p:nvPr/>
        </p:nvSpPr>
        <p:spPr>
          <a:xfrm>
            <a:off x="548640" y="1645920"/>
            <a:ext cx="5364328" cy="1645920"/>
          </a:xfrm>
          <a:prstGeom prst="roundRect">
            <a:avLst>
              <a:gd name="adj" fmla="val 7778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5" name="ic-bg-409"/>
          <p:cNvSpPr/>
          <p:nvPr/>
        </p:nvSpPr>
        <p:spPr>
          <a:xfrm>
            <a:off x="868680" y="2057400"/>
            <a:ext cx="822960" cy="822960"/>
          </a:xfrm>
          <a:prstGeom prst="ellipse">
            <a:avLst/>
          </a:prstGeom>
          <a:solidFill>
            <a:srgbClr val="1E8C82"/>
          </a:solidFill>
          <a:ln w="12700">
            <a:solidFill>
              <a:srgbClr val="1E8C82"/>
            </a:solidFill>
            <a:prstDash val="solid"/>
          </a:ln>
        </p:spPr>
      </p:sp>
      <p:pic>
        <p:nvPicPr>
          <p:cNvPr id="6" name="ic-410" descr="FaMapMarkerAlt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74420" y="2263140"/>
            <a:ext cx="411480" cy="411480"/>
          </a:xfrm>
          <a:prstGeom prst="rect">
            <a:avLst/>
          </a:prstGeom>
        </p:spPr>
      </p:pic>
      <p:sp>
        <p:nvSpPr>
          <p:cNvPr id="7" name="txt-411"/>
          <p:cNvSpPr txBox="1"/>
          <p:nvPr/>
        </p:nvSpPr>
        <p:spPr>
          <a:xfrm>
            <a:off x="1965960" y="1965960"/>
            <a:ext cx="362696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000" b="1" dirty="0">
                <a:solidFill>
                  <a:schemeClr val="tx2"/>
                </a:solidFill>
              </a:rPr>
              <a:t>노출 순위</a:t>
            </a:r>
            <a:endParaRPr lang="en-US" sz="2000" dirty="0"/>
          </a:p>
        </p:txBody>
      </p:sp>
      <p:sp>
        <p:nvSpPr>
          <p:cNvPr id="8" name="txt-412"/>
          <p:cNvSpPr txBox="1"/>
          <p:nvPr/>
        </p:nvSpPr>
        <p:spPr>
          <a:xfrm>
            <a:off x="1965960" y="2468880"/>
            <a:ext cx="3626968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dirty="0">
                <a:solidFill>
                  <a:schemeClr val="tx1"/>
                </a:solidFill>
              </a:rPr>
              <a:t>‘예산 병원’, ‘예산 응급실’, ‘예산 검진’ 지도 순위</a:t>
            </a:r>
            <a:endParaRPr lang="en-US" sz="1500" dirty="0"/>
          </a:p>
        </p:txBody>
      </p:sp>
      <p:sp>
        <p:nvSpPr>
          <p:cNvPr id="9" name="box-413"/>
          <p:cNvSpPr/>
          <p:nvPr/>
        </p:nvSpPr>
        <p:spPr>
          <a:xfrm>
            <a:off x="6278728" y="1645920"/>
            <a:ext cx="5364328" cy="1645920"/>
          </a:xfrm>
          <a:prstGeom prst="roundRect">
            <a:avLst>
              <a:gd name="adj" fmla="val 7778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10" name="ic-bg-414"/>
          <p:cNvSpPr/>
          <p:nvPr/>
        </p:nvSpPr>
        <p:spPr>
          <a:xfrm>
            <a:off x="6598768" y="2057400"/>
            <a:ext cx="822960" cy="822960"/>
          </a:xfrm>
          <a:prstGeom prst="ellipse">
            <a:avLst/>
          </a:prstGeom>
          <a:solidFill>
            <a:srgbClr val="1E8C82"/>
          </a:solidFill>
          <a:ln w="12700">
            <a:solidFill>
              <a:srgbClr val="1E8C82"/>
            </a:solidFill>
            <a:prstDash val="solid"/>
          </a:ln>
        </p:spPr>
      </p:sp>
      <p:pic>
        <p:nvPicPr>
          <p:cNvPr id="11" name="ic-415" descr="FaRoute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804508" y="2263140"/>
            <a:ext cx="411480" cy="411480"/>
          </a:xfrm>
          <a:prstGeom prst="rect">
            <a:avLst/>
          </a:prstGeom>
        </p:spPr>
      </p:pic>
      <p:sp>
        <p:nvSpPr>
          <p:cNvPr id="12" name="txt-416"/>
          <p:cNvSpPr txBox="1"/>
          <p:nvPr/>
        </p:nvSpPr>
        <p:spPr>
          <a:xfrm>
            <a:off x="7696048" y="1965960"/>
            <a:ext cx="362696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000" b="1" dirty="0">
                <a:solidFill>
                  <a:schemeClr val="tx2"/>
                </a:solidFill>
              </a:rPr>
              <a:t>전화 · 길찾기</a:t>
            </a:r>
            <a:endParaRPr lang="en-US" sz="2000" dirty="0"/>
          </a:p>
        </p:txBody>
      </p:sp>
      <p:sp>
        <p:nvSpPr>
          <p:cNvPr id="13" name="txt-417"/>
          <p:cNvSpPr txBox="1"/>
          <p:nvPr/>
        </p:nvSpPr>
        <p:spPr>
          <a:xfrm>
            <a:off x="7696048" y="2468880"/>
            <a:ext cx="3626968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dirty="0">
                <a:solidFill>
                  <a:schemeClr val="tx1"/>
                </a:solidFill>
              </a:rPr>
              <a:t>지도에서 바로 전화 · 길찾기를 누른 횟수</a:t>
            </a:r>
            <a:endParaRPr lang="en-US" sz="1500" dirty="0"/>
          </a:p>
        </p:txBody>
      </p:sp>
      <p:sp>
        <p:nvSpPr>
          <p:cNvPr id="14" name="box-418"/>
          <p:cNvSpPr/>
          <p:nvPr/>
        </p:nvSpPr>
        <p:spPr>
          <a:xfrm>
            <a:off x="548640" y="3566160"/>
            <a:ext cx="5364328" cy="1645920"/>
          </a:xfrm>
          <a:prstGeom prst="roundRect">
            <a:avLst>
              <a:gd name="adj" fmla="val 7778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15" name="ic-bg-419"/>
          <p:cNvSpPr/>
          <p:nvPr/>
        </p:nvSpPr>
        <p:spPr>
          <a:xfrm>
            <a:off x="868680" y="3977640"/>
            <a:ext cx="822960" cy="822960"/>
          </a:xfrm>
          <a:prstGeom prst="ellipse">
            <a:avLst/>
          </a:prstGeom>
          <a:solidFill>
            <a:srgbClr val="E2563B"/>
          </a:solidFill>
          <a:ln w="12700">
            <a:solidFill>
              <a:srgbClr val="E2563B"/>
            </a:solidFill>
            <a:prstDash val="solid"/>
          </a:ln>
        </p:spPr>
      </p:sp>
      <p:pic>
        <p:nvPicPr>
          <p:cNvPr id="16" name="ic-420" descr="FaStar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74420" y="4183380"/>
            <a:ext cx="411480" cy="411480"/>
          </a:xfrm>
          <a:prstGeom prst="rect">
            <a:avLst/>
          </a:prstGeom>
        </p:spPr>
      </p:pic>
      <p:sp>
        <p:nvSpPr>
          <p:cNvPr id="17" name="txt-421"/>
          <p:cNvSpPr txBox="1"/>
          <p:nvPr/>
        </p:nvSpPr>
        <p:spPr>
          <a:xfrm>
            <a:off x="1965960" y="3886200"/>
            <a:ext cx="362696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000" b="1" dirty="0">
                <a:solidFill>
                  <a:schemeClr val="tx2"/>
                </a:solidFill>
              </a:rPr>
              <a:t>리뷰 수 · 내용</a:t>
            </a:r>
            <a:endParaRPr lang="en-US" sz="2000" dirty="0"/>
          </a:p>
        </p:txBody>
      </p:sp>
      <p:sp>
        <p:nvSpPr>
          <p:cNvPr id="18" name="txt-422"/>
          <p:cNvSpPr txBox="1"/>
          <p:nvPr/>
        </p:nvSpPr>
        <p:spPr>
          <a:xfrm>
            <a:off x="1965960" y="4389120"/>
            <a:ext cx="3626968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dirty="0">
                <a:solidFill>
                  <a:schemeClr val="tx1"/>
                </a:solidFill>
              </a:rPr>
              <a:t>검진 · 응급 · 수술 경험이 담긴 리뷰 증가</a:t>
            </a:r>
            <a:endParaRPr lang="en-US" sz="1500" dirty="0"/>
          </a:p>
        </p:txBody>
      </p:sp>
      <p:sp>
        <p:nvSpPr>
          <p:cNvPr id="19" name="box-423"/>
          <p:cNvSpPr/>
          <p:nvPr/>
        </p:nvSpPr>
        <p:spPr>
          <a:xfrm>
            <a:off x="6278728" y="3566160"/>
            <a:ext cx="5364328" cy="1645920"/>
          </a:xfrm>
          <a:prstGeom prst="roundRect">
            <a:avLst>
              <a:gd name="adj" fmla="val 7778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20" name="ic-bg-424"/>
          <p:cNvSpPr/>
          <p:nvPr/>
        </p:nvSpPr>
        <p:spPr>
          <a:xfrm>
            <a:off x="6598768" y="3977640"/>
            <a:ext cx="822960" cy="822960"/>
          </a:xfrm>
          <a:prstGeom prst="ellipse">
            <a:avLst/>
          </a:prstGeom>
          <a:solidFill>
            <a:srgbClr val="1E8C82"/>
          </a:solidFill>
          <a:ln w="12700">
            <a:solidFill>
              <a:srgbClr val="1E8C82"/>
            </a:solidFill>
            <a:prstDash val="solid"/>
          </a:ln>
        </p:spPr>
      </p:sp>
      <p:pic>
        <p:nvPicPr>
          <p:cNvPr id="21" name="ic-425" descr="FaUsers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804508" y="4183380"/>
            <a:ext cx="411480" cy="411480"/>
          </a:xfrm>
          <a:prstGeom prst="rect">
            <a:avLst/>
          </a:prstGeom>
        </p:spPr>
      </p:pic>
      <p:sp>
        <p:nvSpPr>
          <p:cNvPr id="22" name="txt-426"/>
          <p:cNvSpPr txBox="1"/>
          <p:nvPr/>
        </p:nvSpPr>
        <p:spPr>
          <a:xfrm>
            <a:off x="7696048" y="3886200"/>
            <a:ext cx="362696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000" b="1" dirty="0">
                <a:solidFill>
                  <a:schemeClr val="tx2"/>
                </a:solidFill>
              </a:rPr>
              <a:t>내원 경로</a:t>
            </a:r>
            <a:endParaRPr lang="en-US" sz="2000" dirty="0"/>
          </a:p>
        </p:txBody>
      </p:sp>
      <p:sp>
        <p:nvSpPr>
          <p:cNvPr id="23" name="txt-427"/>
          <p:cNvSpPr txBox="1"/>
          <p:nvPr/>
        </p:nvSpPr>
        <p:spPr>
          <a:xfrm>
            <a:off x="7696048" y="4389120"/>
            <a:ext cx="3626968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dirty="0">
                <a:solidFill>
                  <a:schemeClr val="tx1"/>
                </a:solidFill>
              </a:rPr>
              <a:t>‘어떻게 알고 오셨나요’ 중 지도 · 검색 비중</a:t>
            </a:r>
            <a:endParaRPr lang="en-US" sz="1500" dirty="0"/>
          </a:p>
        </p:txBody>
      </p:sp>
      <p:sp>
        <p:nvSpPr>
          <p:cNvPr id="24" name="txt-428"/>
          <p:cNvSpPr txBox="1"/>
          <p:nvPr/>
        </p:nvSpPr>
        <p:spPr>
          <a:xfrm>
            <a:off x="548640" y="5532120"/>
            <a:ext cx="11094415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b="1" dirty="0">
                <a:solidFill>
                  <a:schemeClr val="tx2"/>
                </a:solidFill>
              </a:rPr>
              <a:t>첫 리포트에서 세팅 전 기준값을 함께 드려, 이후 변화를 같은 기준으로 비교합니다.</a:t>
            </a:r>
            <a:endParaRPr lang="en-US" sz="15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94415" y="6419088"/>
            <a:ext cx="548640" cy="256032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6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17</a:t>
            </a:fld>
            <a:endParaRPr lang="en-US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body" hasCustomPrompt="1"/>
          </p:nvPr>
        </p:nvSpPr>
        <p:spPr>
          <a:xfrm>
            <a:off x="548640" y="320040"/>
            <a:ext cx="7315200" cy="320040"/>
          </a:xfrm>
          <a:prstGeom prst="rect">
            <a:avLst/>
          </a:prstGeom>
          <a:noFill/>
          <a:ln/>
        </p:spPr>
        <p:txBody>
          <a:bodyPr wrap="square" lIns="0" tIns="0" rIns="0" bIns="0" rtlCol="0"/>
          <a:lstStyle/>
          <a:p>
            <a:pPr algn="l" indent="0" marL="0">
              <a:buNone/>
            </a:pPr>
            <a:r>
              <a:rPr lang="en-US" sz="1200" b="1" dirty="0">
                <a:solidFill>
                  <a:schemeClr val="accent1"/>
                </a:solidFill>
              </a:rPr>
              <a:t>05  준비 사항</a:t>
            </a:r>
            <a:endParaRPr lang="en-US" sz="1200" dirty="0"/>
          </a:p>
        </p:txBody>
      </p:sp>
      <p:sp>
        <p:nvSpPr>
          <p:cNvPr id="3" name="Text 0"/>
          <p:cNvSpPr/>
          <p:nvPr>
            <p:ph idx="101" type="title" hasCustomPrompt="1"/>
          </p:nvPr>
        </p:nvSpPr>
        <p:spPr>
          <a:xfrm>
            <a:off x="548640" y="640080"/>
            <a:ext cx="11094415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chemeClr val="tx2"/>
                </a:solidFill>
              </a:rPr>
              <a:t>시작을 위해 병원에서 준비해 주실 것</a:t>
            </a:r>
            <a:endParaRPr lang="en-US" sz="2800" dirty="0"/>
          </a:p>
        </p:txBody>
      </p:sp>
      <p:sp>
        <p:nvSpPr>
          <p:cNvPr id="4" name="box-429"/>
          <p:cNvSpPr/>
          <p:nvPr/>
        </p:nvSpPr>
        <p:spPr>
          <a:xfrm>
            <a:off x="548640" y="1645920"/>
            <a:ext cx="5364328" cy="1645920"/>
          </a:xfrm>
          <a:prstGeom prst="roundRect">
            <a:avLst>
              <a:gd name="adj" fmla="val 7778"/>
            </a:avLst>
          </a:prstGeom>
          <a:solidFill>
            <a:schemeClr val="bg1"/>
          </a:solidFill>
          <a:ln w="12700">
            <a:solidFill>
              <a:schemeClr val="bg1"/>
            </a:solidFill>
            <a:prstDash val="solid"/>
          </a:ln>
          <a:effectLst>
            <a:outerShdw sx="100000" sy="100000" kx="0" ky="0" algn="bl" rotWithShape="0" blurRad="101600" dist="25400" dir="5400000">
              <a:srgbClr val="0F3B40">
                <a:alpha val="12000"/>
              </a:srgbClr>
            </a:outerShdw>
          </a:effectLst>
        </p:spPr>
      </p:sp>
      <p:sp>
        <p:nvSpPr>
          <p:cNvPr id="5" name="ic-bg-430"/>
          <p:cNvSpPr/>
          <p:nvPr/>
        </p:nvSpPr>
        <p:spPr>
          <a:xfrm>
            <a:off x="868680" y="2057400"/>
            <a:ext cx="822960" cy="822960"/>
          </a:xfrm>
          <a:prstGeom prst="ellipse">
            <a:avLst/>
          </a:prstGeom>
          <a:solidFill>
            <a:srgbClr val="1E8C82"/>
          </a:solidFill>
          <a:ln w="12700">
            <a:solidFill>
              <a:srgbClr val="1E8C82"/>
            </a:solidFill>
            <a:prstDash val="solid"/>
          </a:ln>
        </p:spPr>
      </p:sp>
      <p:pic>
        <p:nvPicPr>
          <p:cNvPr id="6" name="ic-431" descr="FaFileAlt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74420" y="2263140"/>
            <a:ext cx="411480" cy="411480"/>
          </a:xfrm>
          <a:prstGeom prst="rect">
            <a:avLst/>
          </a:prstGeom>
        </p:spPr>
      </p:pic>
      <p:sp>
        <p:nvSpPr>
          <p:cNvPr id="7" name="txt-432"/>
          <p:cNvSpPr txBox="1"/>
          <p:nvPr/>
        </p:nvSpPr>
        <p:spPr>
          <a:xfrm>
            <a:off x="1965960" y="1965960"/>
            <a:ext cx="362696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b="1" dirty="0">
                <a:solidFill>
                  <a:schemeClr val="tx2"/>
                </a:solidFill>
              </a:rPr>
              <a:t>사업자등록증 · 개설허가증 사본</a:t>
            </a:r>
            <a:endParaRPr lang="en-US" sz="1800" dirty="0"/>
          </a:p>
        </p:txBody>
      </p:sp>
      <p:sp>
        <p:nvSpPr>
          <p:cNvPr id="8" name="txt-433"/>
          <p:cNvSpPr txBox="1"/>
          <p:nvPr/>
        </p:nvSpPr>
        <p:spPr>
          <a:xfrm>
            <a:off x="1965960" y="2468880"/>
            <a:ext cx="3626968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dirty="0">
                <a:solidFill>
                  <a:schemeClr val="tx1"/>
                </a:solidFill>
              </a:rPr>
              <a:t>카카오맵 등 지도 소유권 등록 심사용</a:t>
            </a:r>
            <a:endParaRPr lang="en-US" sz="1500" dirty="0"/>
          </a:p>
        </p:txBody>
      </p:sp>
      <p:sp>
        <p:nvSpPr>
          <p:cNvPr id="9" name="box-434"/>
          <p:cNvSpPr/>
          <p:nvPr/>
        </p:nvSpPr>
        <p:spPr>
          <a:xfrm>
            <a:off x="6278728" y="1645920"/>
            <a:ext cx="5364328" cy="1645920"/>
          </a:xfrm>
          <a:prstGeom prst="roundRect">
            <a:avLst>
              <a:gd name="adj" fmla="val 7778"/>
            </a:avLst>
          </a:prstGeom>
          <a:solidFill>
            <a:schemeClr val="bg1"/>
          </a:solidFill>
          <a:ln w="12700">
            <a:solidFill>
              <a:schemeClr val="bg1"/>
            </a:solidFill>
            <a:prstDash val="solid"/>
          </a:ln>
          <a:effectLst>
            <a:outerShdw sx="100000" sy="100000" kx="0" ky="0" algn="bl" rotWithShape="0" blurRad="101600" dist="25400" dir="5400000">
              <a:srgbClr val="0F3B40">
                <a:alpha val="12000"/>
              </a:srgbClr>
            </a:outerShdw>
          </a:effectLst>
        </p:spPr>
      </p:sp>
      <p:sp>
        <p:nvSpPr>
          <p:cNvPr id="10" name="ic-bg-435"/>
          <p:cNvSpPr/>
          <p:nvPr/>
        </p:nvSpPr>
        <p:spPr>
          <a:xfrm>
            <a:off x="6598768" y="2057400"/>
            <a:ext cx="822960" cy="822960"/>
          </a:xfrm>
          <a:prstGeom prst="ellipse">
            <a:avLst/>
          </a:prstGeom>
          <a:solidFill>
            <a:srgbClr val="1E8C82"/>
          </a:solidFill>
          <a:ln w="12700">
            <a:solidFill>
              <a:srgbClr val="1E8C82"/>
            </a:solidFill>
            <a:prstDash val="solid"/>
          </a:ln>
        </p:spPr>
      </p:sp>
      <p:pic>
        <p:nvPicPr>
          <p:cNvPr id="11" name="ic-436" descr="FaMapMarkerAlt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804508" y="2263140"/>
            <a:ext cx="411480" cy="411480"/>
          </a:xfrm>
          <a:prstGeom prst="rect">
            <a:avLst/>
          </a:prstGeom>
        </p:spPr>
      </p:pic>
      <p:sp>
        <p:nvSpPr>
          <p:cNvPr id="12" name="txt-437"/>
          <p:cNvSpPr txBox="1"/>
          <p:nvPr/>
        </p:nvSpPr>
        <p:spPr>
          <a:xfrm>
            <a:off x="7696048" y="1965960"/>
            <a:ext cx="362696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b="1" dirty="0">
                <a:solidFill>
                  <a:schemeClr val="tx2"/>
                </a:solidFill>
              </a:rPr>
              <a:t>지도 관리 권한 공유</a:t>
            </a:r>
            <a:endParaRPr lang="en-US" sz="1800" dirty="0"/>
          </a:p>
        </p:txBody>
      </p:sp>
      <p:sp>
        <p:nvSpPr>
          <p:cNvPr id="13" name="txt-438"/>
          <p:cNvSpPr txBox="1"/>
          <p:nvPr/>
        </p:nvSpPr>
        <p:spPr>
          <a:xfrm>
            <a:off x="7696048" y="2468880"/>
            <a:ext cx="3626968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dirty="0">
                <a:solidFill>
                  <a:schemeClr val="tx1"/>
                </a:solidFill>
              </a:rPr>
              <a:t>네이버 스마트플레이스 · 카카오비즈니스 · 티맵 장소 관리</a:t>
            </a:r>
            <a:endParaRPr lang="en-US" sz="1500" dirty="0"/>
          </a:p>
        </p:txBody>
      </p:sp>
      <p:sp>
        <p:nvSpPr>
          <p:cNvPr id="14" name="box-439"/>
          <p:cNvSpPr/>
          <p:nvPr/>
        </p:nvSpPr>
        <p:spPr>
          <a:xfrm>
            <a:off x="548640" y="3566160"/>
            <a:ext cx="5364328" cy="1645920"/>
          </a:xfrm>
          <a:prstGeom prst="roundRect">
            <a:avLst>
              <a:gd name="adj" fmla="val 7778"/>
            </a:avLst>
          </a:prstGeom>
          <a:solidFill>
            <a:schemeClr val="bg1"/>
          </a:solidFill>
          <a:ln w="12700">
            <a:solidFill>
              <a:schemeClr val="bg1"/>
            </a:solidFill>
            <a:prstDash val="solid"/>
          </a:ln>
          <a:effectLst>
            <a:outerShdw sx="100000" sy="100000" kx="0" ky="0" algn="bl" rotWithShape="0" blurRad="101600" dist="25400" dir="5400000">
              <a:srgbClr val="0F3B40">
                <a:alpha val="12000"/>
              </a:srgbClr>
            </a:outerShdw>
          </a:effectLst>
        </p:spPr>
      </p:sp>
      <p:sp>
        <p:nvSpPr>
          <p:cNvPr id="15" name="ic-bg-440"/>
          <p:cNvSpPr/>
          <p:nvPr/>
        </p:nvSpPr>
        <p:spPr>
          <a:xfrm>
            <a:off x="868680" y="3977640"/>
            <a:ext cx="822960" cy="822960"/>
          </a:xfrm>
          <a:prstGeom prst="ellipse">
            <a:avLst/>
          </a:prstGeom>
          <a:solidFill>
            <a:srgbClr val="1E8C82"/>
          </a:solidFill>
          <a:ln w="12700">
            <a:solidFill>
              <a:srgbClr val="1E8C82"/>
            </a:solidFill>
            <a:prstDash val="solid"/>
          </a:ln>
        </p:spPr>
      </p:sp>
      <p:pic>
        <p:nvPicPr>
          <p:cNvPr id="16" name="ic-441" descr="FaShieldAlt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74420" y="4183380"/>
            <a:ext cx="411480" cy="411480"/>
          </a:xfrm>
          <a:prstGeom prst="rect">
            <a:avLst/>
          </a:prstGeom>
        </p:spPr>
      </p:pic>
      <p:sp>
        <p:nvSpPr>
          <p:cNvPr id="17" name="txt-442"/>
          <p:cNvSpPr txBox="1"/>
          <p:nvPr/>
        </p:nvSpPr>
        <p:spPr>
          <a:xfrm>
            <a:off x="1965960" y="3886200"/>
            <a:ext cx="362696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b="1" dirty="0">
                <a:solidFill>
                  <a:schemeClr val="tx2"/>
                </a:solidFill>
              </a:rPr>
              <a:t>의료광고 심의 신청 계정</a:t>
            </a:r>
            <a:endParaRPr lang="en-US" sz="1800" dirty="0"/>
          </a:p>
        </p:txBody>
      </p:sp>
      <p:sp>
        <p:nvSpPr>
          <p:cNvPr id="18" name="txt-443"/>
          <p:cNvSpPr txBox="1"/>
          <p:nvPr/>
        </p:nvSpPr>
        <p:spPr>
          <a:xfrm>
            <a:off x="1965960" y="4389120"/>
            <a:ext cx="3626968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dirty="0">
                <a:solidFill>
                  <a:schemeClr val="tx1"/>
                </a:solidFill>
              </a:rPr>
              <a:t>홍보 문구가 들어간 소식의 사전심의용</a:t>
            </a:r>
            <a:endParaRPr lang="en-US" sz="1500" dirty="0"/>
          </a:p>
        </p:txBody>
      </p:sp>
      <p:sp>
        <p:nvSpPr>
          <p:cNvPr id="19" name="box-444"/>
          <p:cNvSpPr/>
          <p:nvPr/>
        </p:nvSpPr>
        <p:spPr>
          <a:xfrm>
            <a:off x="6278728" y="3566160"/>
            <a:ext cx="5364328" cy="1645920"/>
          </a:xfrm>
          <a:prstGeom prst="roundRect">
            <a:avLst>
              <a:gd name="adj" fmla="val 7778"/>
            </a:avLst>
          </a:prstGeom>
          <a:solidFill>
            <a:schemeClr val="bg1"/>
          </a:solidFill>
          <a:ln w="12700">
            <a:solidFill>
              <a:schemeClr val="bg1"/>
            </a:solidFill>
            <a:prstDash val="solid"/>
          </a:ln>
          <a:effectLst>
            <a:outerShdw sx="100000" sy="100000" kx="0" ky="0" algn="bl" rotWithShape="0" blurRad="101600" dist="25400" dir="5400000">
              <a:srgbClr val="0F3B40">
                <a:alpha val="12000"/>
              </a:srgbClr>
            </a:outerShdw>
          </a:effectLst>
        </p:spPr>
      </p:sp>
      <p:sp>
        <p:nvSpPr>
          <p:cNvPr id="20" name="ic-bg-445"/>
          <p:cNvSpPr/>
          <p:nvPr/>
        </p:nvSpPr>
        <p:spPr>
          <a:xfrm>
            <a:off x="6598768" y="3977640"/>
            <a:ext cx="822960" cy="822960"/>
          </a:xfrm>
          <a:prstGeom prst="ellipse">
            <a:avLst/>
          </a:prstGeom>
          <a:solidFill>
            <a:srgbClr val="1E8C82"/>
          </a:solidFill>
          <a:ln w="12700">
            <a:solidFill>
              <a:srgbClr val="1E8C82"/>
            </a:solidFill>
            <a:prstDash val="solid"/>
          </a:ln>
        </p:spPr>
      </p:sp>
      <p:pic>
        <p:nvPicPr>
          <p:cNvPr id="21" name="ic-446" descr="FaCalendarCheck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804508" y="4183380"/>
            <a:ext cx="411480" cy="411480"/>
          </a:xfrm>
          <a:prstGeom prst="rect">
            <a:avLst/>
          </a:prstGeom>
        </p:spPr>
      </p:pic>
      <p:sp>
        <p:nvSpPr>
          <p:cNvPr id="22" name="txt-447"/>
          <p:cNvSpPr txBox="1"/>
          <p:nvPr/>
        </p:nvSpPr>
        <p:spPr>
          <a:xfrm>
            <a:off x="7696048" y="3886200"/>
            <a:ext cx="362696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b="1" dirty="0">
                <a:solidFill>
                  <a:schemeClr val="tx2"/>
                </a:solidFill>
              </a:rPr>
              <a:t>기준 정보 확인</a:t>
            </a:r>
            <a:endParaRPr lang="en-US" sz="1800" dirty="0"/>
          </a:p>
        </p:txBody>
      </p:sp>
      <p:sp>
        <p:nvSpPr>
          <p:cNvPr id="23" name="txt-448"/>
          <p:cNvSpPr txBox="1"/>
          <p:nvPr/>
        </p:nvSpPr>
        <p:spPr>
          <a:xfrm>
            <a:off x="7696048" y="4389120"/>
            <a:ext cx="3626968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dirty="0">
                <a:solidFill>
                  <a:schemeClr val="tx1"/>
                </a:solidFill>
              </a:rPr>
              <a:t>진료시간, 응급실 운영, 검진 항목 · 문의처, 의료진 정보</a:t>
            </a:r>
            <a:endParaRPr lang="en-US" sz="15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94415" y="6419088"/>
            <a:ext cx="548640" cy="256032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6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18</a:t>
            </a:fld>
            <a:endParaRPr lang="en-US"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1737360"/>
            <a:ext cx="6949440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algn="l" indent="0" marL="0">
              <a:buNone/>
            </a:pPr>
            <a:r>
              <a:rPr lang="en-US" sz="4000" b="1" dirty="0">
                <a:solidFill>
                  <a:schemeClr val="bg1"/>
                </a:solidFill>
              </a:rPr>
              <a:t>감사합니다</a:t>
            </a:r>
            <a:endParaRPr lang="en-US" sz="4000" dirty="0"/>
          </a:p>
        </p:txBody>
      </p:sp>
      <p:sp>
        <p:nvSpPr>
          <p:cNvPr id="3" name="Text 0"/>
          <p:cNvSpPr/>
          <p:nvPr>
            <p:ph idx="101" type="body" hasCustomPrompt="1"/>
          </p:nvPr>
        </p:nvSpPr>
        <p:spPr>
          <a:xfrm>
            <a:off x="548640" y="3931920"/>
            <a:ext cx="694944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800" dirty="0">
                <a:solidFill>
                  <a:schemeClr val="bg2"/>
                </a:solidFill>
              </a:rPr>
              <a:t>범위와 일정을 확정하는 대로 바로 현황 진단을 시작하겠습니다.</a:t>
            </a:r>
            <a:endParaRPr lang="en-US" sz="1800" dirty="0"/>
          </a:p>
        </p:txBody>
      </p:sp>
      <p:sp>
        <p:nvSpPr>
          <p:cNvPr id="4" name="step-449"/>
          <p:cNvSpPr/>
          <p:nvPr/>
        </p:nvSpPr>
        <p:spPr>
          <a:xfrm>
            <a:off x="548640" y="4983480"/>
            <a:ext cx="2468880" cy="548640"/>
          </a:xfrm>
          <a:prstGeom prst="roundRect">
            <a:avLst>
              <a:gd name="adj" fmla="val 50000"/>
            </a:avLst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sp>
        <p:nvSpPr>
          <p:cNvPr id="5" name="txt-450"/>
          <p:cNvSpPr txBox="1"/>
          <p:nvPr/>
        </p:nvSpPr>
        <p:spPr>
          <a:xfrm>
            <a:off x="548640" y="4983480"/>
            <a:ext cx="24688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chemeClr val="bg1"/>
                </a:solidFill>
              </a:rPr>
              <a:t>1  범위 확정</a:t>
            </a:r>
            <a:endParaRPr lang="en-US" sz="1400" dirty="0"/>
          </a:p>
        </p:txBody>
      </p:sp>
      <p:sp>
        <p:nvSpPr>
          <p:cNvPr id="6" name="step-451"/>
          <p:cNvSpPr/>
          <p:nvPr/>
        </p:nvSpPr>
        <p:spPr>
          <a:xfrm>
            <a:off x="3246120" y="4983480"/>
            <a:ext cx="2468880" cy="548640"/>
          </a:xfrm>
          <a:prstGeom prst="roundRect">
            <a:avLst>
              <a:gd name="adj" fmla="val 50000"/>
            </a:avLst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sp>
        <p:nvSpPr>
          <p:cNvPr id="7" name="txt-452"/>
          <p:cNvSpPr txBox="1"/>
          <p:nvPr/>
        </p:nvSpPr>
        <p:spPr>
          <a:xfrm>
            <a:off x="3246120" y="4983480"/>
            <a:ext cx="24688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chemeClr val="bg1"/>
                </a:solidFill>
              </a:rPr>
              <a:t>2  권한 · 서류 전달</a:t>
            </a:r>
            <a:endParaRPr lang="en-US" sz="1400" dirty="0"/>
          </a:p>
        </p:txBody>
      </p:sp>
      <p:sp>
        <p:nvSpPr>
          <p:cNvPr id="8" name="step-453"/>
          <p:cNvSpPr/>
          <p:nvPr/>
        </p:nvSpPr>
        <p:spPr>
          <a:xfrm>
            <a:off x="5943600" y="4983480"/>
            <a:ext cx="2468880" cy="548640"/>
          </a:xfrm>
          <a:prstGeom prst="roundRect">
            <a:avLst>
              <a:gd name="adj" fmla="val 50000"/>
            </a:avLst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sp>
        <p:nvSpPr>
          <p:cNvPr id="9" name="txt-454"/>
          <p:cNvSpPr txBox="1"/>
          <p:nvPr/>
        </p:nvSpPr>
        <p:spPr>
          <a:xfrm>
            <a:off x="5943600" y="4983480"/>
            <a:ext cx="24688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chemeClr val="bg1"/>
                </a:solidFill>
              </a:rPr>
              <a:t>3  1주차 현황 진단 시작</a:t>
            </a:r>
            <a:endParaRPr lang="en-US" sz="1400" dirty="0"/>
          </a:p>
        </p:txBody>
      </p:sp>
      <p:sp>
        <p:nvSpPr>
          <p:cNvPr id="10" name="txt-455"/>
          <p:cNvSpPr txBox="1"/>
          <p:nvPr/>
        </p:nvSpPr>
        <p:spPr>
          <a:xfrm>
            <a:off x="548640" y="5943600"/>
            <a:ext cx="5486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bg2"/>
                </a:solidFill>
              </a:rPr>
              <a:t>리드유컴퍼니</a:t>
            </a:r>
            <a:endParaRPr lang="en-US" sz="1400" dirty="0"/>
          </a:p>
        </p:txBody>
      </p:sp>
      <p:pic>
        <p:nvPicPr>
          <p:cNvPr id="11" name="pin-456" descr="지도 핀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281160" y="2103120"/>
            <a:ext cx="1097280" cy="1463040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Yesan Map Proposal v2">
  <a:themeElements>
    <a:clrScheme name="Yesan Map Proposal v2">
      <a:dk1>
        <a:srgbClr val="1C2629"/>
      </a:dk1>
      <a:lt1>
        <a:srgbClr val="FFFFFF"/>
      </a:lt1>
      <a:dk2>
        <a:srgbClr val="0F3B40"/>
      </a:dk2>
      <a:lt2>
        <a:srgbClr val="EDF3F2"/>
      </a:lt2>
      <a:accent1>
        <a:srgbClr val="1E8C82"/>
      </a:accent1>
      <a:accent2>
        <a:srgbClr val="E2563B"/>
      </a:accent2>
      <a:accent3>
        <a:srgbClr val="03C75A"/>
      </a:accent3>
      <a:accent4>
        <a:srgbClr val="F5C400"/>
      </a:accent4>
      <a:accent5>
        <a:srgbClr val="3B6EF0"/>
      </a:accent5>
      <a:accent6>
        <a:srgbClr val="7C8C90"/>
      </a:accent6>
      <a:hlink>
        <a:srgbClr val="1E8C82"/>
      </a:hlink>
      <a:folHlink>
        <a:srgbClr val="0F3B40"/>
      </a:folHlink>
    </a:clrScheme>
    <a:fontScheme name="Yesan Map Proposal v2">
      <a:majorFont>
        <a:latin typeface="Malgun Gothic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Malgun Gothic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19</Slides>
  <Notes>19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19</vt:i4>
      </vt:variant>
    </vt:vector>
  </HeadingPairs>
  <TitlesOfParts>
    <vt:vector size="22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  <vt:lpstr>Slide 18</vt:lpstr>
      <vt:lpstr>Slide 19</vt:lpstr>
    </vt:vector>
  </TitlesOfParts>
  <Company>리드유컴퍼니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예산명지병원 지도 기반 로컬 마케팅 제안서</dc:title>
  <dc:subject>PptxGenJS Presentation</dc:subject>
  <dc:creator>리드유컴퍼니</dc:creator>
  <cp:lastModifiedBy>리드유컴퍼니</cp:lastModifiedBy>
  <cp:revision>1</cp:revision>
  <dcterms:created xsi:type="dcterms:W3CDTF">2026-10-14T05:35:34Z</dcterms:created>
  <dcterms:modified xsi:type="dcterms:W3CDTF">2026-10-14T05:35:34Z</dcterms:modified>
</cp:coreProperties>
</file>