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325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400" kern="0" dirty="0">
                <a:solidFill>
                  <a:srgbClr val="8A6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EYE SERF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0" y="2011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세르프 아이 런칭 기념 이벤트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0" y="24871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 안내 이미지 디자인 의뢰서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0" y="3246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4:5 카드뉴스  |  1080 × 1350px  |  총 1장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전 꼭 읽어주세요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2B9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규격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4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4:5 카드뉴스 1장  /  1080 × 1350px  /  RGB, JPG·PNG 납품 (PSD 원본 포함)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4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추후 용도에 따라 리사이징 요청 가능 → 텍스트·가격은 레이어 분리 유지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2B9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방향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4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10월 이벤트(HYPER TITANIUM / READY TO SHINE / PROMISE IN AUTUMN) 톤 그대로 유지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4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- 펄 그레이·실버 배경 / 모브 브라운 세리프 영문 타이틀 / 다크브라운 가격 숫자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2D6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단, ‘아이세르프’ 페이지임이 한눈에 보이도록 차별화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4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- 눈가 비주얼 + 은은한 핑크 모브 레이어 + ‘EYE’ 강조 + NEW 런칭 뱃지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2B9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표기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4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정상가 취소선 + 이벤트가 강조  /  이벤트 기간 ~10월 31일(토)까지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E4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하단 LUPIEL CLINIC 로고  /  부작용 고지 문구 (하단 소형)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3A2B2C"/>
          </a:solidFill>
          <a:ln w="12700">
            <a:solidFill>
              <a:srgbClr val="3A2B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" y="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BD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C: 루피엘의원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레퍼런스  &gt;  10월 이벤트 톤 &amp; 차별화 포인트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457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10월 이벤트 레퍼런스 (톤 유지 기준)</a:t>
            </a:r>
            <a:endParaRPr lang="en-US" sz="1200" dirty="0"/>
          </a:p>
        </p:txBody>
      </p:sp>
      <p:pic>
        <p:nvPicPr>
          <p:cNvPr id="7" name="Image 0" descr="/tmp/claude-0/-home-user-regen-briefing/bdf8a0b6-0792-50c3-8ed0-d08f579beefe/scratchpad/img/ref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68680"/>
            <a:ext cx="1600200" cy="20002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868680"/>
            <a:ext cx="1600200" cy="2000250"/>
          </a:xfrm>
          <a:prstGeom prst="rect">
            <a:avLst/>
          </a:prstGeom>
          <a:ln w="9525">
            <a:solidFill>
              <a:srgbClr val="CFC8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" y="292379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HYPER TITANIUM</a:t>
            </a:r>
            <a:endParaRPr lang="en-US" sz="800" dirty="0"/>
          </a:p>
        </p:txBody>
      </p:sp>
      <p:pic>
        <p:nvPicPr>
          <p:cNvPr id="10" name="Image 1" descr="/tmp/claude-0/-home-user-regen-briefing/bdf8a0b6-0792-50c3-8ed0-d08f579beefe/scratchpad/img/ref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868680"/>
            <a:ext cx="1600200" cy="20002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03120" y="868680"/>
            <a:ext cx="1600200" cy="2000250"/>
          </a:xfrm>
          <a:prstGeom prst="rect">
            <a:avLst/>
          </a:prstGeom>
          <a:ln w="9525">
            <a:solidFill>
              <a:srgbClr val="CFC8C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103120" y="292379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READY TO SHINE</a:t>
            </a:r>
            <a:endParaRPr lang="en-US" sz="800" dirty="0"/>
          </a:p>
        </p:txBody>
      </p:sp>
      <p:pic>
        <p:nvPicPr>
          <p:cNvPr id="13" name="Image 2" descr="/tmp/claude-0/-home-user-regen-briefing/bdf8a0b6-0792-50c3-8ed0-d08f579beefe/scratchpad/img/ref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868680"/>
            <a:ext cx="1600200" cy="200025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886200" y="868680"/>
            <a:ext cx="1600200" cy="2000250"/>
          </a:xfrm>
          <a:prstGeom prst="rect">
            <a:avLst/>
          </a:prstGeom>
          <a:ln w="9525">
            <a:solidFill>
              <a:srgbClr val="CFC8C7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3886200" y="292379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PROMISE IN AUTUMN</a:t>
            </a:r>
            <a:endParaRPr lang="en-US" sz="800" dirty="0"/>
          </a:p>
        </p:txBody>
      </p:sp>
      <p:sp>
        <p:nvSpPr>
          <p:cNvPr id="16" name="Text 11"/>
          <p:cNvSpPr txBox="1"/>
          <p:nvPr/>
        </p:nvSpPr>
        <p:spPr>
          <a:xfrm>
            <a:off x="320040" y="3310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컬러 톤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20040" y="3584448"/>
            <a:ext cx="868680" cy="457200"/>
          </a:xfrm>
          <a:prstGeom prst="rect">
            <a:avLst/>
          </a:prstGeom>
          <a:solidFill>
            <a:srgbClr val="E4E1E0"/>
          </a:solidFill>
          <a:ln w="6350">
            <a:solidFill>
              <a:srgbClr val="CFC8C7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74320" y="40873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#E4E1E0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펄 그레이 배경</a:t>
            </a:r>
            <a:endParaRPr lang="en-US" sz="700" dirty="0"/>
          </a:p>
        </p:txBody>
      </p:sp>
      <p:sp>
        <p:nvSpPr>
          <p:cNvPr id="19" name="Shape 14"/>
          <p:cNvSpPr/>
          <p:nvPr/>
        </p:nvSpPr>
        <p:spPr>
          <a:xfrm>
            <a:off x="1344168" y="3584448"/>
            <a:ext cx="868680" cy="457200"/>
          </a:xfrm>
          <a:prstGeom prst="rect">
            <a:avLst/>
          </a:prstGeom>
          <a:solidFill>
            <a:srgbClr val="8A6A6C"/>
          </a:solidFill>
          <a:ln w="6350">
            <a:solidFill>
              <a:srgbClr val="CFC8C7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298448" y="40873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#8A6A6C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영문 타이틀 모브</a:t>
            </a:r>
            <a:endParaRPr lang="en-US" sz="700" dirty="0"/>
          </a:p>
        </p:txBody>
      </p:sp>
      <p:sp>
        <p:nvSpPr>
          <p:cNvPr id="21" name="Shape 16"/>
          <p:cNvSpPr/>
          <p:nvPr/>
        </p:nvSpPr>
        <p:spPr>
          <a:xfrm>
            <a:off x="2368296" y="3584448"/>
            <a:ext cx="868680" cy="457200"/>
          </a:xfrm>
          <a:prstGeom prst="rect">
            <a:avLst/>
          </a:prstGeom>
          <a:solidFill>
            <a:srgbClr val="6B1A1A"/>
          </a:solidFill>
          <a:ln w="6350">
            <a:solidFill>
              <a:srgbClr val="CFC8C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2322576" y="40873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#6B1A1A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버건디 포인트</a:t>
            </a:r>
            <a:endParaRPr lang="en-US" sz="700" dirty="0"/>
          </a:p>
        </p:txBody>
      </p:sp>
      <p:sp>
        <p:nvSpPr>
          <p:cNvPr id="23" name="Shape 18"/>
          <p:cNvSpPr/>
          <p:nvPr/>
        </p:nvSpPr>
        <p:spPr>
          <a:xfrm>
            <a:off x="3392424" y="3584448"/>
            <a:ext cx="868680" cy="457200"/>
          </a:xfrm>
          <a:prstGeom prst="rect">
            <a:avLst/>
          </a:prstGeom>
          <a:solidFill>
            <a:srgbClr val="4A2A26"/>
          </a:solidFill>
          <a:ln w="6350">
            <a:solidFill>
              <a:srgbClr val="CFC8C7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3346704" y="40873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#4A2A26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가격·뱃지 브라운</a:t>
            </a:r>
            <a:endParaRPr lang="en-US" sz="700" dirty="0"/>
          </a:p>
        </p:txBody>
      </p:sp>
      <p:sp>
        <p:nvSpPr>
          <p:cNvPr id="25" name="Shape 20"/>
          <p:cNvSpPr/>
          <p:nvPr/>
        </p:nvSpPr>
        <p:spPr>
          <a:xfrm>
            <a:off x="4416552" y="3584448"/>
            <a:ext cx="868680" cy="457200"/>
          </a:xfrm>
          <a:prstGeom prst="rect">
            <a:avLst/>
          </a:prstGeom>
          <a:solidFill>
            <a:srgbClr val="EADADB"/>
          </a:solidFill>
          <a:ln w="15875">
            <a:solidFill>
              <a:srgbClr val="6B1A1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370832" y="40873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#EADADB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6B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아이세르프 핑크 모브</a:t>
            </a:r>
            <a:endParaRPr lang="en-US" sz="700" dirty="0"/>
          </a:p>
        </p:txBody>
      </p:sp>
      <p:sp>
        <p:nvSpPr>
          <p:cNvPr id="27" name="Text 22"/>
          <p:cNvSpPr txBox="1"/>
          <p:nvPr/>
        </p:nvSpPr>
        <p:spPr>
          <a:xfrm>
            <a:off x="320040" y="45537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#EADADB = 아이세르프 차별화용 추가 컬러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5715000" y="502920"/>
            <a:ext cx="3154680" cy="4343400"/>
          </a:xfrm>
          <a:prstGeom prst="rect">
            <a:avLst/>
          </a:prstGeom>
          <a:solidFill>
            <a:srgbClr val="F5F1F1"/>
          </a:solidFill>
          <a:ln w="12700">
            <a:solidFill>
              <a:srgbClr val="F5F1F1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897880" y="640080"/>
            <a:ext cx="2834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6B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아이세르프 차별화 포인트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유지할 것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펄 그레이 배경 / 세리프 영문 타이틀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반투명 화이트 가격 박스 + 취소선 정상가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하단 LUPIEL CLINIC 로고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달리할 것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메인 비주얼을 장비 대신 ‘눈가’ 중심으로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(눈가 클로즈업 / 아이 핸드피스 시술컷)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배경 하단에 핑크 모브 그라데이션 레이어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타이틀 ‘EYE’만 버건디로 강조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NEW 런칭 실버 원형 뱃지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(HYPER TITANIUM ‘신규 런칭’ 뱃지 활용)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i="1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10월 이벤트 시리즈로 보이되,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i="1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‘눈가 전용 신규 런칭’이 첫눈에 인지되도록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3A2B2C"/>
          </a:solidFill>
          <a:ln w="12700">
            <a:solidFill>
              <a:srgbClr val="3A2B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" y="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BD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C: 루피엘의원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 이미지  &gt;  전체 레이아웃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73168" y="320040"/>
            <a:ext cx="54864" cy="4823460"/>
          </a:xfrm>
          <a:prstGeom prst="rect">
            <a:avLst/>
          </a:prstGeom>
          <a:solidFill>
            <a:srgbClr val="D6D2D1"/>
          </a:solidFill>
          <a:ln w="12700">
            <a:solidFill>
              <a:srgbClr val="D6D2D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2880" y="3840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Description ]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3840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Example ]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228600" y="658368"/>
            <a:ext cx="43891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세르프 아이 런칭 이벤트  (1080 × 1350)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6B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상단 타이틀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 LAUNCHING  /  EYE SERF  /  세르프 아이 런칭 기념 이벤트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i="1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HYPER TITANIUM과 같은 세리프 영문, ‘EYE’만 버건디 강조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6B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메인 비주얼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눈가 클로즈업 또는 아이 핸드피스 시술컷 + NEW 런칭 뱃지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i="1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하단으로 갈수록 핑크 모브 톤이 은은하게 깔리도록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6B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이벤트 옵션 박스 2개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READY TO SHINE 가격 박스 스타일 (반투명 화이트)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i="1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정상가 취소선 회색 / 이벤트가 다크브라운 크게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6B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이벤트 기간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~ 10월 31일(토)까지 — 가격 박스 아래 한 줄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6B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로고 + 고지 문구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LUPIEL CLINIC 화이트 로고 + 부작용 고지 (소형)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57800" y="658368"/>
            <a:ext cx="3474720" cy="4343400"/>
          </a:xfrm>
          <a:prstGeom prst="rect">
            <a:avLst/>
          </a:prstGeom>
          <a:solidFill>
            <a:srgbClr val="E4E1E0"/>
          </a:solidFill>
          <a:ln w="9525">
            <a:solidFill>
              <a:srgbClr val="CFC8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57800" y="3047238"/>
            <a:ext cx="3474720" cy="1954530"/>
          </a:xfrm>
          <a:prstGeom prst="rect">
            <a:avLst/>
          </a:prstGeom>
          <a:solidFill>
            <a:srgbClr val="EADADB">
              <a:alpha val="6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57800" y="853821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6B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 LAUNCHING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1027557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spc="200" kern="0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EYE </a:t>
            </a:r>
            <a:pPr algn="ctr" indent="0" marL="0">
              <a:buNone/>
            </a:pPr>
            <a:r>
              <a:rPr lang="en-US" sz="3000" spc="200" kern="0" dirty="0">
                <a:solidFill>
                  <a:srgbClr val="8A6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SERF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1505331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세르프 아이 </a:t>
            </a:r>
            <a:pPr algn="ctr" indent="0" marL="0">
              <a:buNone/>
            </a:pPr>
            <a:r>
              <a:rPr lang="en-US" sz="1050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런칭 기념 이벤트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74766" y="1831086"/>
            <a:ext cx="2640787" cy="1172718"/>
          </a:xfrm>
          <a:prstGeom prst="roundRect">
            <a:avLst>
              <a:gd name="adj" fmla="val 6238"/>
            </a:avLst>
          </a:prstGeom>
          <a:solidFill>
            <a:srgbClr val="D9D3D2"/>
          </a:solidFill>
          <a:ln w="9525">
            <a:solidFill>
              <a:srgbClr val="BDB3B2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5674766" y="1831086"/>
            <a:ext cx="2640787" cy="1172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눈가 클로즈업 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 핸드피스 시술컷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565038" y="2619756"/>
            <a:ext cx="530352" cy="530352"/>
          </a:xfrm>
          <a:prstGeom prst="ellipse">
            <a:avLst/>
          </a:prstGeom>
          <a:solidFill>
            <a:srgbClr val="F4F4F4"/>
          </a:solidFill>
          <a:ln w="19050">
            <a:solidFill>
              <a:srgbClr val="A9A9A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65038" y="26197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런칭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466283" y="3155823"/>
            <a:ext cx="3057754" cy="542925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57723" y="3155823"/>
            <a:ext cx="1681764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아이세르프 400샷</a:t>
            </a: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아이리쥬란 1cc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750540" y="3155823"/>
            <a:ext cx="1712342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trike="sngStrike" dirty="0">
                <a:solidFill>
                  <a:srgbClr val="A39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정상가 154만원  </a:t>
            </a:r>
            <a:pPr algn="r" indent="0" marL="0">
              <a:buNone/>
            </a:pPr>
            <a:r>
              <a:rPr lang="en-US" sz="1500" b="1" dirty="0">
                <a:solidFill>
                  <a:srgbClr val="4A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119</a:t>
            </a:r>
            <a:pPr algn="r" indent="0" marL="0">
              <a:buNone/>
            </a:pPr>
            <a:r>
              <a:rPr lang="en-US" sz="750" b="1" dirty="0">
                <a:solidFill>
                  <a:srgbClr val="4A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만원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466283" y="3763899"/>
            <a:ext cx="3057754" cy="542925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57723" y="3763899"/>
            <a:ext cx="1681764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아이세르프 400샷</a:t>
            </a: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리투오파인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750540" y="3763899"/>
            <a:ext cx="1712342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trike="sngStrike" dirty="0">
                <a:solidFill>
                  <a:srgbClr val="A39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정상가 184만원  </a:t>
            </a:r>
            <a:pPr algn="r" indent="0" marL="0">
              <a:buNone/>
            </a:pPr>
            <a:r>
              <a:rPr lang="en-US" sz="1500" b="1" dirty="0">
                <a:solidFill>
                  <a:srgbClr val="4A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139</a:t>
            </a:r>
            <a:pPr algn="r" indent="0" marL="0">
              <a:buNone/>
            </a:pPr>
            <a:r>
              <a:rPr lang="en-US" sz="750" b="1" dirty="0">
                <a:solidFill>
                  <a:srgbClr val="4A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만원</a:t>
            </a:r>
            <a:endParaRPr lang="en-US" sz="650" dirty="0"/>
          </a:p>
        </p:txBody>
      </p:sp>
      <p:sp>
        <p:nvSpPr>
          <p:cNvPr id="25" name="Text 23"/>
          <p:cNvSpPr txBox="1"/>
          <p:nvPr/>
        </p:nvSpPr>
        <p:spPr>
          <a:xfrm>
            <a:off x="5257800" y="4371975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EVENT  </a:t>
            </a:r>
            <a:pPr algn="ctr" indent="0" marL="0">
              <a:buNone/>
            </a:pPr>
            <a:r>
              <a:rPr lang="en-US" sz="800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~ 10월 31일(토)까지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4589145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LUPIEL  CLINIC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4806315"/>
            <a:ext cx="3474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개인에 따라 붓기, 멍 등 부작용이 발생할 수 있습니다.</a:t>
            </a:r>
            <a:endParaRPr lang="en-US" sz="450" dirty="0"/>
          </a:p>
        </p:txBody>
      </p:sp>
      <p:sp>
        <p:nvSpPr>
          <p:cNvPr id="28" name="Shape 26"/>
          <p:cNvSpPr/>
          <p:nvPr/>
        </p:nvSpPr>
        <p:spPr>
          <a:xfrm>
            <a:off x="8805672" y="1131570"/>
            <a:ext cx="182880" cy="182880"/>
          </a:xfrm>
          <a:prstGeom prst="ellipse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805672" y="113157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805672" y="2326005"/>
            <a:ext cx="182880" cy="182880"/>
          </a:xfrm>
          <a:prstGeom prst="ellipse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05672" y="232600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8805672" y="3607308"/>
            <a:ext cx="182880" cy="182880"/>
          </a:xfrm>
          <a:prstGeom prst="ellipse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805672" y="36073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805672" y="4389120"/>
            <a:ext cx="182880" cy="182880"/>
          </a:xfrm>
          <a:prstGeom prst="ellipse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805672" y="43891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8805672" y="4649724"/>
            <a:ext cx="182880" cy="182880"/>
          </a:xfrm>
          <a:prstGeom prst="ellipse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805672" y="46497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3A2B2C"/>
          </a:solidFill>
          <a:ln w="12700">
            <a:solidFill>
              <a:srgbClr val="3A2B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" y="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BD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C: 루피엘의원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 이미지  &gt;  영역별 카피 · 가격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4572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영역별 확정 카피  (아래 문구 그대로 사용)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41248"/>
          <a:ext cx="85039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188720"/>
                <a:gridCol w="3931920"/>
                <a:gridCol w="27432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영역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카피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B2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상단 라벨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NEW LAUNCHING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영문 소형, 자간 넓게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메인 타이틀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EYE SERF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세리프 / ‘EYE’ 버건디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서브 타이틀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세르프 아이 런칭 기념 이벤트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‘세르프 아이’ 볼드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뱃지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신규 런칭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실버 원형 뱃지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옵션 1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아이세르프 400샷 + 아이리쥬란 1cc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A2A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정상가 154만원 → 119만원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옵션 2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아이세르프 400샷 + 리투오파인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A2A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정상가 184만원 → 139만원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이벤트 기간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 10월 31일(토)까지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 박스 하단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로고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LUPIEL CLINIC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기존 로고 파일 사용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고지 문구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개인에 따라 붓기, 멍 등 부작용이 발생할 수 있습니다.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하단 소형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320040" y="427939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가격은 ‘정상가(취소선, 회색 소형) → 이벤트가(다크브라운, 크게)’ 순서로 배치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450799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64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장비·시술 이미지는 원내 보유 이미지 사용, 없을 경우 눈가 클로즈업 스톡 이미지로 대체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세르프 아이 런칭 이벤트 안내 이미지 디자인 의뢰서</dc:title>
  <dc:subject>PptxGenJS Presentation</dc:subject>
  <dc:creator>PptxGenJS</dc:creator>
  <cp:lastModifiedBy>PptxGenJS</cp:lastModifiedBy>
  <cp:revision>1</cp:revision>
  <dcterms:created xsi:type="dcterms:W3CDTF">2026-10-13T04:56:57Z</dcterms:created>
  <dcterms:modified xsi:type="dcterms:W3CDTF">2026-10-13T04:56:57Z</dcterms:modified>
</cp:coreProperties>
</file>